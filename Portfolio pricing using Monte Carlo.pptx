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Abel" panose="02000506030000020004" pitchFamily="2" charset="0"/>
      <p:regular r:id="rId32"/>
    </p:embeddedFont>
    <p:embeddedFont>
      <p:font typeface="Barlow Semi Condensed" panose="00000506000000000000" pitchFamily="2" charset="0"/>
      <p:regular r:id="rId33"/>
      <p:bold r:id="rId34"/>
      <p:italic r:id="rId35"/>
      <p:boldItalic r:id="rId36"/>
    </p:embeddedFont>
    <p:embeddedFont>
      <p:font typeface="Barlow Semi Condensed Medium" panose="00000606000000000000" pitchFamily="2" charset="0"/>
      <p:regular r:id="rId37"/>
      <p:bold r:id="rId38"/>
      <p:italic r:id="rId39"/>
      <p:boldItalic r:id="rId40"/>
    </p:embeddedFont>
    <p:embeddedFont>
      <p:font typeface="Fjalla One" panose="02000506040000020004" pitchFamily="2"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p:cNvGrpSpPr/>
        <p:nvPr/>
      </p:nvGrpSpPr>
      <p:grpSpPr>
        <a:xfrm>
          <a:off x="0" y="0"/>
          <a:ext cx="0" cy="0"/>
          <a:chOff x="0" y="0"/>
          <a:chExt cx="0" cy="0"/>
        </a:xfrm>
      </p:grpSpPr>
      <p:sp>
        <p:nvSpPr>
          <p:cNvPr id="1683" name="Google Shape;16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4" name="Google Shape;16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8714a43093_3_9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6" name="Google Shape;1886;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g804e9800b4_0_1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2" name="Google Shape;1892;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1"/>
        <p:cNvGrpSpPr/>
        <p:nvPr/>
      </p:nvGrpSpPr>
      <p:grpSpPr>
        <a:xfrm>
          <a:off x="0" y="0"/>
          <a:ext cx="0" cy="0"/>
          <a:chOff x="0" y="0"/>
          <a:chExt cx="0" cy="0"/>
        </a:xfrm>
      </p:grpSpPr>
      <p:sp>
        <p:nvSpPr>
          <p:cNvPr id="1912" name="Google Shape;1912;g2853df83080_1_1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3" name="Google Shape;1913;g2853df83080_1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g2853df83080_1_10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4" name="Google Shape;1924;g2853df83080_1_10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0"/>
        <p:cNvGrpSpPr/>
        <p:nvPr/>
      </p:nvGrpSpPr>
      <p:grpSpPr>
        <a:xfrm>
          <a:off x="0" y="0"/>
          <a:ext cx="0" cy="0"/>
          <a:chOff x="0" y="0"/>
          <a:chExt cx="0" cy="0"/>
        </a:xfrm>
      </p:grpSpPr>
      <p:sp>
        <p:nvSpPr>
          <p:cNvPr id="1931" name="Google Shape;1931;g2f7b4e84b17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2" name="Google Shape;1932;g2f7b4e84b1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6"/>
        <p:cNvGrpSpPr/>
        <p:nvPr/>
      </p:nvGrpSpPr>
      <p:grpSpPr>
        <a:xfrm>
          <a:off x="0" y="0"/>
          <a:ext cx="0" cy="0"/>
          <a:chOff x="0" y="0"/>
          <a:chExt cx="0" cy="0"/>
        </a:xfrm>
      </p:grpSpPr>
      <p:sp>
        <p:nvSpPr>
          <p:cNvPr id="1937" name="Google Shape;1937;g2853df83080_1_5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8" name="Google Shape;1938;g2853df83080_1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1"/>
        <p:cNvGrpSpPr/>
        <p:nvPr/>
      </p:nvGrpSpPr>
      <p:grpSpPr>
        <a:xfrm>
          <a:off x="0" y="0"/>
          <a:ext cx="0" cy="0"/>
          <a:chOff x="0" y="0"/>
          <a:chExt cx="0" cy="0"/>
        </a:xfrm>
      </p:grpSpPr>
      <p:sp>
        <p:nvSpPr>
          <p:cNvPr id="2182" name="Google Shape;2182;g31430f0c81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3" name="Google Shape;2183;g31430f0c81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9"/>
        <p:cNvGrpSpPr/>
        <p:nvPr/>
      </p:nvGrpSpPr>
      <p:grpSpPr>
        <a:xfrm>
          <a:off x="0" y="0"/>
          <a:ext cx="0" cy="0"/>
          <a:chOff x="0" y="0"/>
          <a:chExt cx="0" cy="0"/>
        </a:xfrm>
      </p:grpSpPr>
      <p:sp>
        <p:nvSpPr>
          <p:cNvPr id="2190" name="Google Shape;2190;g31430f0c81e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1" name="Google Shape;2191;g31430f0c81e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8714a43093_3_1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8714a43093_3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8"/>
        <p:cNvGrpSpPr/>
        <p:nvPr/>
      </p:nvGrpSpPr>
      <p:grpSpPr>
        <a:xfrm>
          <a:off x="0" y="0"/>
          <a:ext cx="0" cy="0"/>
          <a:chOff x="0" y="0"/>
          <a:chExt cx="0" cy="0"/>
        </a:xfrm>
      </p:grpSpPr>
      <p:sp>
        <p:nvSpPr>
          <p:cNvPr id="2289" name="Google Shape;2289;g804e9800b4_0_8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0" name="Google Shape;2290;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6"/>
        <p:cNvGrpSpPr/>
        <p:nvPr/>
      </p:nvGrpSpPr>
      <p:grpSpPr>
        <a:xfrm>
          <a:off x="0" y="0"/>
          <a:ext cx="0" cy="0"/>
          <a:chOff x="0" y="0"/>
          <a:chExt cx="0" cy="0"/>
        </a:xfrm>
      </p:grpSpPr>
      <p:sp>
        <p:nvSpPr>
          <p:cNvPr id="2537" name="Google Shape;2537;g2f7b4e84b17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8" name="Google Shape;2538;g2f7b4e84b1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2"/>
        <p:cNvGrpSpPr/>
        <p:nvPr/>
      </p:nvGrpSpPr>
      <p:grpSpPr>
        <a:xfrm>
          <a:off x="0" y="0"/>
          <a:ext cx="0" cy="0"/>
          <a:chOff x="0" y="0"/>
          <a:chExt cx="0" cy="0"/>
        </a:xfrm>
      </p:grpSpPr>
      <p:sp>
        <p:nvSpPr>
          <p:cNvPr id="2543" name="Google Shape;2543;g804e9800b4_0_1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4" name="Google Shape;2544;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8"/>
        <p:cNvGrpSpPr/>
        <p:nvPr/>
      </p:nvGrpSpPr>
      <p:grpSpPr>
        <a:xfrm>
          <a:off x="0" y="0"/>
          <a:ext cx="0" cy="0"/>
          <a:chOff x="0" y="0"/>
          <a:chExt cx="0" cy="0"/>
        </a:xfrm>
      </p:grpSpPr>
      <p:sp>
        <p:nvSpPr>
          <p:cNvPr id="2549" name="Google Shape;2549;g31430f0c81e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0" name="Google Shape;2550;g31430f0c81e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4"/>
        <p:cNvGrpSpPr/>
        <p:nvPr/>
      </p:nvGrpSpPr>
      <p:grpSpPr>
        <a:xfrm>
          <a:off x="0" y="0"/>
          <a:ext cx="0" cy="0"/>
          <a:chOff x="0" y="0"/>
          <a:chExt cx="0" cy="0"/>
        </a:xfrm>
      </p:grpSpPr>
      <p:sp>
        <p:nvSpPr>
          <p:cNvPr id="2555" name="Google Shape;2555;g31430f0c81e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6" name="Google Shape;2556;g31430f0c81e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0"/>
        <p:cNvGrpSpPr/>
        <p:nvPr/>
      </p:nvGrpSpPr>
      <p:grpSpPr>
        <a:xfrm>
          <a:off x="0" y="0"/>
          <a:ext cx="0" cy="0"/>
          <a:chOff x="0" y="0"/>
          <a:chExt cx="0" cy="0"/>
        </a:xfrm>
      </p:grpSpPr>
      <p:sp>
        <p:nvSpPr>
          <p:cNvPr id="2561" name="Google Shape;2561;g2853df83080_1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2" name="Google Shape;2562;g2853df83080_1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1"/>
        <p:cNvGrpSpPr/>
        <p:nvPr/>
      </p:nvGrpSpPr>
      <p:grpSpPr>
        <a:xfrm>
          <a:off x="0" y="0"/>
          <a:ext cx="0" cy="0"/>
          <a:chOff x="0" y="0"/>
          <a:chExt cx="0" cy="0"/>
        </a:xfrm>
      </p:grpSpPr>
      <p:sp>
        <p:nvSpPr>
          <p:cNvPr id="2572" name="Google Shape;2572;g2f7b4eea237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3" name="Google Shape;2573;g2f7b4eea23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5"/>
        <p:cNvGrpSpPr/>
        <p:nvPr/>
      </p:nvGrpSpPr>
      <p:grpSpPr>
        <a:xfrm>
          <a:off x="0" y="0"/>
          <a:ext cx="0" cy="0"/>
          <a:chOff x="0" y="0"/>
          <a:chExt cx="0" cy="0"/>
        </a:xfrm>
      </p:grpSpPr>
      <p:sp>
        <p:nvSpPr>
          <p:cNvPr id="2586" name="Google Shape;2586;g2853df8308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7" name="Google Shape;2587;g2853df830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1"/>
        <p:cNvGrpSpPr/>
        <p:nvPr/>
      </p:nvGrpSpPr>
      <p:grpSpPr>
        <a:xfrm>
          <a:off x="0" y="0"/>
          <a:ext cx="0" cy="0"/>
          <a:chOff x="0" y="0"/>
          <a:chExt cx="0" cy="0"/>
        </a:xfrm>
      </p:grpSpPr>
      <p:sp>
        <p:nvSpPr>
          <p:cNvPr id="2592" name="Google Shape;2592;g2853df83080_1_8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3" name="Google Shape;2593;g2853df83080_1_8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0"/>
        <p:cNvGrpSpPr/>
        <p:nvPr/>
      </p:nvGrpSpPr>
      <p:grpSpPr>
        <a:xfrm>
          <a:off x="0" y="0"/>
          <a:ext cx="0" cy="0"/>
          <a:chOff x="0" y="0"/>
          <a:chExt cx="0" cy="0"/>
        </a:xfrm>
      </p:grpSpPr>
      <p:sp>
        <p:nvSpPr>
          <p:cNvPr id="2601" name="Google Shape;2601;g31430f0c81e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2" name="Google Shape;2602;g31430f0c81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9"/>
        <p:cNvGrpSpPr/>
        <p:nvPr/>
      </p:nvGrpSpPr>
      <p:grpSpPr>
        <a:xfrm>
          <a:off x="0" y="0"/>
          <a:ext cx="0" cy="0"/>
          <a:chOff x="0" y="0"/>
          <a:chExt cx="0" cy="0"/>
        </a:xfrm>
      </p:grpSpPr>
      <p:sp>
        <p:nvSpPr>
          <p:cNvPr id="2610" name="Google Shape;2610;g3145b678e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1" name="Google Shape;2611;g3145b678e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5"/>
        <p:cNvGrpSpPr/>
        <p:nvPr/>
      </p:nvGrpSpPr>
      <p:grpSpPr>
        <a:xfrm>
          <a:off x="0" y="0"/>
          <a:ext cx="0" cy="0"/>
          <a:chOff x="0" y="0"/>
          <a:chExt cx="0" cy="0"/>
        </a:xfrm>
      </p:grpSpPr>
      <p:sp>
        <p:nvSpPr>
          <p:cNvPr id="2616" name="Google Shape;2616;g3145b678ea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7" name="Google Shape;2617;g3145b678ea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1"/>
        <p:cNvGrpSpPr/>
        <p:nvPr/>
      </p:nvGrpSpPr>
      <p:grpSpPr>
        <a:xfrm>
          <a:off x="0" y="0"/>
          <a:ext cx="0" cy="0"/>
          <a:chOff x="0" y="0"/>
          <a:chExt cx="0" cy="0"/>
        </a:xfrm>
      </p:grpSpPr>
      <p:sp>
        <p:nvSpPr>
          <p:cNvPr id="2622" name="Google Shape;2622;g3145b678ea1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3" name="Google Shape;2623;g3145b678ea1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7"/>
        <p:cNvGrpSpPr/>
        <p:nvPr/>
      </p:nvGrpSpPr>
      <p:grpSpPr>
        <a:xfrm>
          <a:off x="0" y="0"/>
          <a:ext cx="0" cy="0"/>
          <a:chOff x="0" y="0"/>
          <a:chExt cx="0" cy="0"/>
        </a:xfrm>
      </p:grpSpPr>
      <p:sp>
        <p:nvSpPr>
          <p:cNvPr id="2628" name="Google Shape;2628;g2853df83080_1_10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9" name="Google Shape;2629;g2853df83080_1_10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3"/>
        <p:cNvGrpSpPr/>
        <p:nvPr/>
      </p:nvGrpSpPr>
      <p:grpSpPr>
        <a:xfrm>
          <a:off x="0" y="0"/>
          <a:ext cx="0" cy="0"/>
          <a:chOff x="0" y="0"/>
          <a:chExt cx="0" cy="0"/>
        </a:xfrm>
      </p:grpSpPr>
      <p:sp>
        <p:nvSpPr>
          <p:cNvPr id="2634" name="Google Shape;2634;g31430f0c81e_1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5" name="Google Shape;2635;g31430f0c81e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4"/>
        <p:cNvGrpSpPr/>
        <p:nvPr/>
      </p:nvGrpSpPr>
      <p:grpSpPr>
        <a:xfrm>
          <a:off x="0" y="0"/>
          <a:ext cx="0" cy="0"/>
          <a:chOff x="0" y="0"/>
          <a:chExt cx="0" cy="0"/>
        </a:xfrm>
      </p:grpSpPr>
      <p:sp>
        <p:nvSpPr>
          <p:cNvPr id="2655" name="Google Shape;2655;g31430f0c81e_1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6" name="Google Shape;2656;g31430f0c81e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5"/>
        <p:cNvGrpSpPr/>
        <p:nvPr/>
      </p:nvGrpSpPr>
      <p:grpSpPr>
        <a:xfrm>
          <a:off x="0" y="0"/>
          <a:ext cx="0" cy="0"/>
          <a:chOff x="0" y="0"/>
          <a:chExt cx="0" cy="0"/>
        </a:xfrm>
      </p:grpSpPr>
      <p:sp>
        <p:nvSpPr>
          <p:cNvPr id="2676" name="Google Shape;2676;g31430f0c81e_1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7" name="Google Shape;2677;g31430f0c81e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8"/>
        <p:cNvGrpSpPr/>
        <p:nvPr/>
      </p:nvGrpSpPr>
      <p:grpSpPr>
        <a:xfrm>
          <a:off x="0" y="0"/>
          <a:ext cx="0" cy="0"/>
          <a:chOff x="0" y="0"/>
          <a:chExt cx="0" cy="0"/>
        </a:xfrm>
      </p:grpSpPr>
      <p:sp>
        <p:nvSpPr>
          <p:cNvPr id="2699" name="Google Shape;2699;g804e9800b4_0_14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0" name="Google Shape;2700;g804e9800b4_0_1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4"/>
        <p:cNvGrpSpPr/>
        <p:nvPr/>
      </p:nvGrpSpPr>
      <p:grpSpPr>
        <a:xfrm>
          <a:off x="0" y="0"/>
          <a:ext cx="0" cy="0"/>
          <a:chOff x="0" y="0"/>
          <a:chExt cx="0" cy="0"/>
        </a:xfrm>
      </p:grpSpPr>
      <p:sp>
        <p:nvSpPr>
          <p:cNvPr id="2705" name="Google Shape;2705;g8728718f4e_1_13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6" name="Google Shape;2706;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a:endParaRPr/>
          </a:p>
        </p:txBody>
      </p:sp>
      <p:sp>
        <p:nvSpPr>
          <p:cNvPr id="503" name="Google Shape;503;p10"/>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504" name="Google Shape;504;p10"/>
          <p:cNvCxnSpPr/>
          <p:nvPr/>
        </p:nvCxnSpPr>
        <p:spPr>
          <a:xfrm>
            <a:off x="590450" y="4340600"/>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7975" y="4332600"/>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18" name="Google Shape;518;p10"/>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1093" name="Google Shape;1093;p22"/>
          <p:cNvCxnSpPr/>
          <p:nvPr/>
        </p:nvCxnSpPr>
        <p:spPr>
          <a:xfrm rot="10800000" flipH="1">
            <a:off x="0" y="4332550"/>
            <a:ext cx="590700" cy="6639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6" name="Google Shape;1106;p22"/>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3" name="Google Shape;1133;p22"/>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4" name="Google Shape;1134;p22"/>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5" name="Google Shape;1135;p22"/>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6" name="Google Shape;1136;p22"/>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7" name="Google Shape;1137;p22"/>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8" name="Google Shape;1138;p22"/>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896100" y="1984450"/>
            <a:ext cx="3457200" cy="12921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cxnSp>
        <p:nvCxnSpPr>
          <p:cNvPr id="1228" name="Google Shape;1228;p25"/>
          <p:cNvCxnSpPr/>
          <p:nvPr/>
        </p:nvCxnSpPr>
        <p:spPr>
          <a:xfrm>
            <a:off x="1645925" y="5231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6520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 name="Google Shape;1243;p25"/>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5"/>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5"/>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5"/>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5"/>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5"/>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61" name="Google Shape;1261;p25"/>
          <p:cNvCxnSpPr/>
          <p:nvPr/>
        </p:nvCxnSpPr>
        <p:spPr>
          <a:xfrm>
            <a:off x="791400" y="42124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42204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8109000" y="501275"/>
            <a:ext cx="737700" cy="737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582475" y="282188"/>
            <a:ext cx="1212900" cy="422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274188"/>
            <a:ext cx="582600" cy="6543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09" name="Google Shape;1309;p26"/>
          <p:cNvCxnSpPr/>
          <p:nvPr/>
        </p:nvCxnSpPr>
        <p:spPr>
          <a:xfrm flipH="1">
            <a:off x="8151325" y="6875"/>
            <a:ext cx="1002600" cy="4944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devilb2103/Original-Gans-Paper-Implementation/tree/main/Pix2Pix"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huggingface.co/devilb2103/Pix2Pix-Hindi-Text2HT/tree/main" TargetMode="External"/><Relationship Id="rId5" Type="http://schemas.openxmlformats.org/officeDocument/2006/relationships/hyperlink" Target="https://drive.google.com/file/d/1JOWf5K7haTJmulqaCfpXRIzZ8oJZoZGf/view?usp=sharing" TargetMode="External"/><Relationship Id="rId4" Type="http://schemas.openxmlformats.org/officeDocument/2006/relationships/hyperlink" Target="https://github.com/AbhishekSinha-git/StockMarket-Portfolio-Prediction-Montecarlo-Sim---Antithetic-Variates"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hyperlink" Target="https://www.ibm.com/topics/monte-carlo-simulation" TargetMode="External"/><Relationship Id="rId2" Type="http://schemas.openxmlformats.org/officeDocument/2006/relationships/notesSlide" Target="../notesSlides/notesSlide28.xml"/><Relationship Id="rId1" Type="http://schemas.openxmlformats.org/officeDocument/2006/relationships/slideLayout" Target="../slideLayouts/slideLayout31.xml"/><Relationship Id="rId6" Type="http://schemas.openxmlformats.org/officeDocument/2006/relationships/hyperlink" Target="https://www.analyticsvidhya.com/blog/2021/10/machine-learning-for-stock-market-prediction-with-step-by-step-implementation/" TargetMode="External"/><Relationship Id="rId5" Type="http://schemas.openxmlformats.org/officeDocument/2006/relationships/hyperlink" Target="https://www.simplilearn.com/tutorials/artificial-intelligence-tutorial/lstm#:~:text=LSTMs%20Long%20Short%2DTerm%20Memory,series%2C%20text%2C%20and%20speech" TargetMode="External"/><Relationship Id="rId4" Type="http://schemas.openxmlformats.org/officeDocument/2006/relationships/hyperlink" Target="https://www.oxfordreference.com/display/10.1093/oi/authority.20110803095417605"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5"/>
        <p:cNvGrpSpPr/>
        <p:nvPr/>
      </p:nvGrpSpPr>
      <p:grpSpPr>
        <a:xfrm>
          <a:off x="0" y="0"/>
          <a:ext cx="0" cy="0"/>
          <a:chOff x="0" y="0"/>
          <a:chExt cx="0" cy="0"/>
        </a:xfrm>
      </p:grpSpPr>
      <p:grpSp>
        <p:nvGrpSpPr>
          <p:cNvPr id="1686" name="Google Shape;1686;p33"/>
          <p:cNvGrpSpPr/>
          <p:nvPr/>
        </p:nvGrpSpPr>
        <p:grpSpPr>
          <a:xfrm>
            <a:off x="-347965" y="959819"/>
            <a:ext cx="5343540" cy="4183680"/>
            <a:chOff x="469775" y="238125"/>
            <a:chExt cx="6679425" cy="5229600"/>
          </a:xfrm>
        </p:grpSpPr>
        <p:sp>
          <p:nvSpPr>
            <p:cNvPr id="1687" name="Google Shape;1687;p33"/>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3"/>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3"/>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3"/>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3"/>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3"/>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3"/>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3"/>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3"/>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3"/>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3"/>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3"/>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3"/>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3"/>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3"/>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3"/>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3"/>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3"/>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3"/>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3"/>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3"/>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3"/>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3"/>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3"/>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3"/>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3"/>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3"/>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3"/>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3"/>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3"/>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3"/>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3"/>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3"/>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3"/>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3"/>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3"/>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3"/>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3"/>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3"/>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3"/>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3"/>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3"/>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3"/>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3"/>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3"/>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3"/>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3"/>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3"/>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3"/>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3"/>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3"/>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3"/>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3"/>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3"/>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3"/>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3"/>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3"/>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3"/>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3"/>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3"/>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3"/>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3"/>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3"/>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3"/>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3"/>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3"/>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3"/>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3"/>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3"/>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3"/>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3"/>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3"/>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3"/>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3"/>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3"/>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3"/>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1" name="Google Shape;1881;p33"/>
          <p:cNvSpPr txBox="1"/>
          <p:nvPr/>
        </p:nvSpPr>
        <p:spPr>
          <a:xfrm>
            <a:off x="3512820" y="1644025"/>
            <a:ext cx="5631180" cy="1167900"/>
          </a:xfrm>
          <a:prstGeom prst="rect">
            <a:avLst/>
          </a:prstGeom>
          <a:noFill/>
          <a:ln>
            <a:noFill/>
          </a:ln>
        </p:spPr>
        <p:txBody>
          <a:bodyPr spcFirstLastPara="1" wrap="square" lIns="91425" tIns="91425" rIns="91425" bIns="91425" anchor="t" anchorCtr="0">
            <a:noAutofit/>
          </a:bodyPr>
          <a:lstStyle/>
          <a:p>
            <a:pPr marL="0" lvl="0" indent="0" algn="just" rtl="0">
              <a:lnSpc>
                <a:spcPct val="50000"/>
              </a:lnSpc>
              <a:spcBef>
                <a:spcPts val="0"/>
              </a:spcBef>
              <a:spcAft>
                <a:spcPts val="0"/>
              </a:spcAft>
              <a:buNone/>
            </a:pPr>
            <a:r>
              <a:rPr lang="en" sz="1500" dirty="0">
                <a:solidFill>
                  <a:schemeClr val="dk2"/>
                </a:solidFill>
                <a:latin typeface="Fjalla One"/>
                <a:ea typeface="Fjalla One"/>
                <a:cs typeface="Fjalla One"/>
                <a:sym typeface="Fjalla One"/>
              </a:rPr>
              <a:t> </a:t>
            </a:r>
            <a:r>
              <a:rPr lang="en" sz="1600" dirty="0">
                <a:solidFill>
                  <a:schemeClr val="dk2"/>
                </a:solidFill>
                <a:latin typeface="Fjalla One"/>
                <a:ea typeface="Fjalla One"/>
                <a:cs typeface="Fjalla One"/>
                <a:sym typeface="Fjalla One"/>
              </a:rPr>
              <a:t>                                 </a:t>
            </a:r>
            <a:endParaRPr sz="1600" dirty="0">
              <a:solidFill>
                <a:schemeClr val="dk2"/>
              </a:solidFill>
              <a:latin typeface="Fjalla One"/>
              <a:ea typeface="Fjalla One"/>
              <a:cs typeface="Fjalla One"/>
              <a:sym typeface="Fjalla One"/>
            </a:endParaRPr>
          </a:p>
          <a:p>
            <a:pPr marL="0" lvl="0" indent="0" algn="just" rtl="0">
              <a:lnSpc>
                <a:spcPct val="50000"/>
              </a:lnSpc>
              <a:spcBef>
                <a:spcPts val="0"/>
              </a:spcBef>
              <a:spcAft>
                <a:spcPts val="0"/>
              </a:spcAft>
              <a:buNone/>
            </a:pPr>
            <a:r>
              <a:rPr lang="en" sz="2800" dirty="0">
                <a:solidFill>
                  <a:schemeClr val="dk2"/>
                </a:solidFill>
                <a:latin typeface="Fjalla One"/>
                <a:ea typeface="Fjalla One"/>
                <a:cs typeface="Fjalla One"/>
                <a:sym typeface="Fjalla One"/>
              </a:rPr>
              <a:t>PORTFOLIO PRICING USING MONTE CARLO</a:t>
            </a:r>
            <a:endParaRPr sz="2800" dirty="0">
              <a:solidFill>
                <a:schemeClr val="dk2"/>
              </a:solidFill>
              <a:latin typeface="Fjalla One"/>
              <a:ea typeface="Fjalla One"/>
              <a:cs typeface="Fjalla One"/>
              <a:sym typeface="Fjalla One"/>
            </a:endParaRPr>
          </a:p>
          <a:p>
            <a:pPr marL="0" lvl="0" indent="0" algn="r" rtl="0">
              <a:lnSpc>
                <a:spcPct val="50000"/>
              </a:lnSpc>
              <a:spcBef>
                <a:spcPts val="0"/>
              </a:spcBef>
              <a:spcAft>
                <a:spcPts val="0"/>
              </a:spcAft>
              <a:buNone/>
            </a:pPr>
            <a:r>
              <a:rPr lang="en" sz="2800" dirty="0">
                <a:solidFill>
                  <a:schemeClr val="dk2"/>
                </a:solidFill>
                <a:latin typeface="Fjalla One"/>
                <a:ea typeface="Fjalla One"/>
                <a:cs typeface="Fjalla One"/>
                <a:sym typeface="Fjalla One"/>
              </a:rPr>
              <a:t>                                                                                                              AND DEEP LEARNING</a:t>
            </a:r>
            <a:r>
              <a:rPr lang="en" sz="2700" dirty="0">
                <a:solidFill>
                  <a:schemeClr val="dk2"/>
                </a:solidFill>
                <a:latin typeface="Fjalla One"/>
                <a:ea typeface="Fjalla One"/>
                <a:cs typeface="Fjalla One"/>
                <a:sym typeface="Fjalla One"/>
              </a:rPr>
              <a:t>  </a:t>
            </a:r>
            <a:r>
              <a:rPr lang="en" sz="3900" dirty="0">
                <a:solidFill>
                  <a:schemeClr val="dk2"/>
                </a:solidFill>
                <a:latin typeface="Fjalla One"/>
                <a:ea typeface="Fjalla One"/>
                <a:cs typeface="Fjalla One"/>
                <a:sym typeface="Fjalla One"/>
              </a:rPr>
              <a:t> </a:t>
            </a:r>
            <a:r>
              <a:rPr lang="en" sz="5000" dirty="0">
                <a:solidFill>
                  <a:schemeClr val="dk2"/>
                </a:solidFill>
                <a:latin typeface="Fjalla One"/>
                <a:ea typeface="Fjalla One"/>
                <a:cs typeface="Fjalla One"/>
                <a:sym typeface="Fjalla One"/>
              </a:rPr>
              <a:t>   </a:t>
            </a:r>
            <a:endParaRPr dirty="0"/>
          </a:p>
        </p:txBody>
      </p:sp>
      <p:sp>
        <p:nvSpPr>
          <p:cNvPr id="1882" name="Google Shape;1882;p33"/>
          <p:cNvSpPr txBox="1">
            <a:spLocks noGrp="1"/>
          </p:cNvSpPr>
          <p:nvPr>
            <p:ph type="subTitle" idx="1"/>
          </p:nvPr>
        </p:nvSpPr>
        <p:spPr>
          <a:xfrm>
            <a:off x="3948624" y="2832066"/>
            <a:ext cx="5195376" cy="434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 sz="1200" dirty="0"/>
              <a:t>                           </a:t>
            </a:r>
            <a:r>
              <a:rPr lang="en" sz="1500" dirty="0"/>
              <a:t>   </a:t>
            </a:r>
            <a:r>
              <a:rPr lang="en" sz="1700" dirty="0">
                <a:solidFill>
                  <a:schemeClr val="accent5"/>
                </a:solidFill>
              </a:rPr>
              <a:t>A Deep Learning Project By Abhishek Sinha   </a:t>
            </a:r>
            <a:endParaRPr dirty="0">
              <a:solidFill>
                <a:schemeClr val="accent5"/>
              </a:solidFill>
            </a:endParaRPr>
          </a:p>
        </p:txBody>
      </p:sp>
      <p:sp>
        <p:nvSpPr>
          <p:cNvPr id="1883" name="Google Shape;1883;p33"/>
          <p:cNvSpPr txBox="1"/>
          <p:nvPr/>
        </p:nvSpPr>
        <p:spPr>
          <a:xfrm>
            <a:off x="281925" y="90400"/>
            <a:ext cx="6381000" cy="387900"/>
          </a:xfrm>
          <a:prstGeom prst="rect">
            <a:avLst/>
          </a:prstGeom>
          <a:noFill/>
          <a:ln>
            <a:noFill/>
          </a:ln>
        </p:spPr>
        <p:txBody>
          <a:bodyPr spcFirstLastPara="1" wrap="square" lIns="91425" tIns="91425" rIns="91425" bIns="91425" anchor="t" anchorCtr="0">
            <a:noAutofit/>
          </a:bodyPr>
          <a:lstStyle/>
          <a:p>
            <a:pPr lvl="0">
              <a:lnSpc>
                <a:spcPct val="115000"/>
              </a:lnSpc>
            </a:pPr>
            <a:r>
              <a:rPr lang="en" sz="600" b="1" dirty="0">
                <a:solidFill>
                  <a:srgbClr val="1D1D1D"/>
                </a:solidFill>
              </a:rPr>
              <a:t>Source Code:</a:t>
            </a:r>
            <a:r>
              <a:rPr lang="en" sz="600" b="1" dirty="0">
                <a:solidFill>
                  <a:srgbClr val="1D1D1D"/>
                </a:solidFill>
                <a:uFill>
                  <a:noFill/>
                </a:uFill>
                <a:hlinkClick r:id="rId3">
                  <a:extLst>
                    <a:ext uri="{A12FA001-AC4F-418D-AE19-62706E023703}">
                      <ahyp:hlinkClr xmlns:ahyp="http://schemas.microsoft.com/office/drawing/2018/hyperlinkcolor" val="tx"/>
                    </a:ext>
                  </a:extLst>
                </a:hlinkClick>
              </a:rPr>
              <a:t> </a:t>
            </a:r>
            <a:r>
              <a:rPr lang="en-IN" sz="600" b="1" u="sng" dirty="0">
                <a:solidFill>
                  <a:schemeClr val="hlink"/>
                </a:solidFill>
                <a:hlinkClick r:id="rId4"/>
              </a:rPr>
              <a:t>https://github.com/AbhishekSinha-git/StockMarket-Portfolio-Prediction-Montecarlo-Sim---Antithetic-Variates</a:t>
            </a:r>
            <a:endParaRPr lang="en-IN" sz="600" b="1" u="sng" dirty="0">
              <a:solidFill>
                <a:schemeClr val="hlink"/>
              </a:solidFill>
            </a:endParaRPr>
          </a:p>
          <a:p>
            <a:pPr lvl="0">
              <a:lnSpc>
                <a:spcPct val="115000"/>
              </a:lnSpc>
            </a:pPr>
            <a:r>
              <a:rPr lang="en" sz="600" b="1" dirty="0">
                <a:solidFill>
                  <a:srgbClr val="1D1D1D"/>
                </a:solidFill>
              </a:rPr>
              <a:t>Hugging Face Model:</a:t>
            </a:r>
            <a:r>
              <a:rPr lang="en" sz="600" b="1" dirty="0">
                <a:solidFill>
                  <a:srgbClr val="1D1D1D"/>
                </a:solidFill>
                <a:uFill>
                  <a:noFill/>
                </a:uFill>
                <a:hlinkClick r:id="rId5">
                  <a:extLst>
                    <a:ext uri="{A12FA001-AC4F-418D-AE19-62706E023703}">
                      <ahyp:hlinkClr xmlns:ahyp="http://schemas.microsoft.com/office/drawing/2018/hyperlinkcolor" val="tx"/>
                    </a:ext>
                  </a:extLst>
                </a:hlinkClick>
              </a:rPr>
              <a:t> </a:t>
            </a:r>
            <a:r>
              <a:rPr lang="en" sz="600" b="1" u="sng" dirty="0">
                <a:solidFill>
                  <a:schemeClr val="hlink"/>
                </a:solidFill>
                <a:hlinkClick r:id="rId6"/>
              </a:rPr>
              <a:t>https://huggingface.co/devilb2103/Pix2Pix-Hindi-Text2HT/tree/main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34"/>
          <p:cNvSpPr txBox="1">
            <a:spLocks noGrp="1"/>
          </p:cNvSpPr>
          <p:nvPr>
            <p:ph type="title"/>
          </p:nvPr>
        </p:nvSpPr>
        <p:spPr>
          <a:xfrm>
            <a:off x="1917825" y="1915775"/>
            <a:ext cx="4556400" cy="192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800"/>
              <a:t>Problem &amp; Solution</a:t>
            </a:r>
            <a:endParaRPr sz="5800"/>
          </a:p>
        </p:txBody>
      </p:sp>
      <p:sp>
        <p:nvSpPr>
          <p:cNvPr id="1889" name="Google Shape;1889;p34"/>
          <p:cNvSpPr txBox="1">
            <a:spLocks noGrp="1"/>
          </p:cNvSpPr>
          <p:nvPr>
            <p:ph type="title" idx="2"/>
          </p:nvPr>
        </p:nvSpPr>
        <p:spPr>
          <a:xfrm>
            <a:off x="2864475" y="911213"/>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a:t>01</a:t>
            </a:r>
            <a:endParaRPr sz="7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grpSp>
        <p:nvGrpSpPr>
          <p:cNvPr id="1894" name="Google Shape;1894;p35"/>
          <p:cNvGrpSpPr/>
          <p:nvPr/>
        </p:nvGrpSpPr>
        <p:grpSpPr>
          <a:xfrm>
            <a:off x="6355460" y="244235"/>
            <a:ext cx="1369774" cy="1337019"/>
            <a:chOff x="3614228" y="234880"/>
            <a:chExt cx="1915500" cy="1915500"/>
          </a:xfrm>
        </p:grpSpPr>
        <p:sp>
          <p:nvSpPr>
            <p:cNvPr id="1895" name="Google Shape;1895;p35"/>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5"/>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7" name="Google Shape;1897;p35"/>
          <p:cNvSpPr txBox="1"/>
          <p:nvPr/>
        </p:nvSpPr>
        <p:spPr>
          <a:xfrm>
            <a:off x="6605637" y="997982"/>
            <a:ext cx="869400" cy="25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2"/>
                </a:solidFill>
                <a:latin typeface="Abel"/>
                <a:ea typeface="Abel"/>
                <a:cs typeface="Abel"/>
                <a:sym typeface="Abel"/>
              </a:rPr>
              <a:t> </a:t>
            </a:r>
            <a:endParaRPr>
              <a:solidFill>
                <a:schemeClr val="dk2"/>
              </a:solidFill>
              <a:latin typeface="Abel"/>
              <a:ea typeface="Abel"/>
              <a:cs typeface="Abel"/>
              <a:sym typeface="Abel"/>
            </a:endParaRPr>
          </a:p>
        </p:txBody>
      </p:sp>
      <p:grpSp>
        <p:nvGrpSpPr>
          <p:cNvPr id="1898" name="Google Shape;1898;p35"/>
          <p:cNvGrpSpPr/>
          <p:nvPr/>
        </p:nvGrpSpPr>
        <p:grpSpPr>
          <a:xfrm>
            <a:off x="6799047" y="677564"/>
            <a:ext cx="482489" cy="470314"/>
            <a:chOff x="1190625" y="238125"/>
            <a:chExt cx="5238750" cy="5231525"/>
          </a:xfrm>
        </p:grpSpPr>
        <p:sp>
          <p:nvSpPr>
            <p:cNvPr id="1899" name="Google Shape;1899;p35"/>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0" name="Google Shape;1900;p35"/>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1" name="Google Shape;1901;p35"/>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2" name="Google Shape;1902;p35"/>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3" name="Google Shape;1903;p35"/>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4" name="Google Shape;1904;p35"/>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5" name="Google Shape;1905;p35"/>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6" name="Google Shape;1906;p35"/>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7" name="Google Shape;1907;p35"/>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08" name="Google Shape;1908;p35"/>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909" name="Google Shape;1909;p35"/>
          <p:cNvSpPr txBox="1">
            <a:spLocks noGrp="1"/>
          </p:cNvSpPr>
          <p:nvPr>
            <p:ph type="title"/>
          </p:nvPr>
        </p:nvSpPr>
        <p:spPr>
          <a:xfrm>
            <a:off x="1275450" y="401976"/>
            <a:ext cx="4809600" cy="10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600"/>
              <a:t>Problem Statement</a:t>
            </a:r>
            <a:endParaRPr sz="4600"/>
          </a:p>
        </p:txBody>
      </p:sp>
      <p:sp>
        <p:nvSpPr>
          <p:cNvPr id="1910" name="Google Shape;1910;p35"/>
          <p:cNvSpPr txBox="1">
            <a:spLocks noGrp="1"/>
          </p:cNvSpPr>
          <p:nvPr>
            <p:ph type="subTitle" idx="1"/>
          </p:nvPr>
        </p:nvSpPr>
        <p:spPr>
          <a:xfrm>
            <a:off x="968225" y="2004750"/>
            <a:ext cx="6832800" cy="163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300">
                <a:solidFill>
                  <a:schemeClr val="accent5"/>
                </a:solidFill>
              </a:rPr>
              <a:t>In the financial industry, accurately predicting the future value of a stock portfolio is a significant challenge due to market volatility, external factors, and the stochastic nature of asset prices.</a:t>
            </a:r>
            <a:r>
              <a:rPr lang="en" sz="2300"/>
              <a:t> </a:t>
            </a:r>
            <a:endParaRPr sz="2100">
              <a:latin typeface="Barlow Semi Condensed"/>
              <a:ea typeface="Barlow Semi Condensed"/>
              <a:cs typeface="Barlow Semi Condensed"/>
              <a:sym typeface="Barlow Semi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14"/>
        <p:cNvGrpSpPr/>
        <p:nvPr/>
      </p:nvGrpSpPr>
      <p:grpSpPr>
        <a:xfrm>
          <a:off x="0" y="0"/>
          <a:ext cx="0" cy="0"/>
          <a:chOff x="0" y="0"/>
          <a:chExt cx="0" cy="0"/>
        </a:xfrm>
      </p:grpSpPr>
      <p:grpSp>
        <p:nvGrpSpPr>
          <p:cNvPr id="1915" name="Google Shape;1915;p36"/>
          <p:cNvGrpSpPr/>
          <p:nvPr/>
        </p:nvGrpSpPr>
        <p:grpSpPr>
          <a:xfrm>
            <a:off x="6377270" y="249557"/>
            <a:ext cx="1171711" cy="1124973"/>
            <a:chOff x="3614228" y="234880"/>
            <a:chExt cx="1915500" cy="1915500"/>
          </a:xfrm>
        </p:grpSpPr>
        <p:sp>
          <p:nvSpPr>
            <p:cNvPr id="1916" name="Google Shape;1916;p36"/>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6"/>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8" name="Google Shape;1918;p36"/>
          <p:cNvSpPr txBox="1"/>
          <p:nvPr/>
        </p:nvSpPr>
        <p:spPr>
          <a:xfrm>
            <a:off x="6591197" y="883730"/>
            <a:ext cx="743700" cy="214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2"/>
                </a:solidFill>
                <a:latin typeface="Abel"/>
                <a:ea typeface="Abel"/>
                <a:cs typeface="Abel"/>
                <a:sym typeface="Abel"/>
              </a:rPr>
              <a:t> </a:t>
            </a:r>
            <a:endParaRPr>
              <a:solidFill>
                <a:schemeClr val="dk2"/>
              </a:solidFill>
              <a:latin typeface="Abel"/>
              <a:ea typeface="Abel"/>
              <a:cs typeface="Abel"/>
              <a:sym typeface="Abel"/>
            </a:endParaRPr>
          </a:p>
        </p:txBody>
      </p:sp>
      <p:sp>
        <p:nvSpPr>
          <p:cNvPr id="1919" name="Google Shape;1919;p36"/>
          <p:cNvSpPr txBox="1">
            <a:spLocks noGrp="1"/>
          </p:cNvSpPr>
          <p:nvPr>
            <p:ph type="title"/>
          </p:nvPr>
        </p:nvSpPr>
        <p:spPr>
          <a:xfrm>
            <a:off x="1275450" y="401976"/>
            <a:ext cx="4809600" cy="10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600"/>
              <a:t>Objectives</a:t>
            </a:r>
            <a:endParaRPr sz="4600"/>
          </a:p>
        </p:txBody>
      </p:sp>
      <p:sp>
        <p:nvSpPr>
          <p:cNvPr id="1920" name="Google Shape;1920;p36"/>
          <p:cNvSpPr txBox="1">
            <a:spLocks noGrp="1"/>
          </p:cNvSpPr>
          <p:nvPr>
            <p:ph type="subTitle" idx="1"/>
          </p:nvPr>
        </p:nvSpPr>
        <p:spPr>
          <a:xfrm>
            <a:off x="957350" y="1423475"/>
            <a:ext cx="7157100" cy="2941500"/>
          </a:xfrm>
          <a:prstGeom prst="rect">
            <a:avLst/>
          </a:prstGeom>
        </p:spPr>
        <p:txBody>
          <a:bodyPr spcFirstLastPara="1" wrap="square" lIns="91425" tIns="91425" rIns="91425" bIns="91425" anchor="t" anchorCtr="0">
            <a:noAutofit/>
          </a:bodyPr>
          <a:lstStyle/>
          <a:p>
            <a:pPr marL="457200" lvl="0" indent="-374650" algn="l" rtl="0">
              <a:spcBef>
                <a:spcPts val="0"/>
              </a:spcBef>
              <a:spcAft>
                <a:spcPts val="0"/>
              </a:spcAft>
              <a:buClr>
                <a:schemeClr val="accent5"/>
              </a:buClr>
              <a:buSzPts val="2300"/>
              <a:buFont typeface="Barlow Semi Condensed"/>
              <a:buAutoNum type="arabicPeriod"/>
            </a:pPr>
            <a:r>
              <a:rPr lang="en" sz="2300">
                <a:solidFill>
                  <a:schemeClr val="accent5"/>
                </a:solidFill>
              </a:rPr>
              <a:t>We aim to develop models that accurately predict future stock portfolio values with minimal computational demands.</a:t>
            </a:r>
            <a:endParaRPr sz="2300">
              <a:solidFill>
                <a:schemeClr val="accent5"/>
              </a:solidFill>
            </a:endParaRPr>
          </a:p>
          <a:p>
            <a:pPr marL="457200" lvl="0" indent="-374650" algn="l" rtl="0">
              <a:spcBef>
                <a:spcPts val="0"/>
              </a:spcBef>
              <a:spcAft>
                <a:spcPts val="0"/>
              </a:spcAft>
              <a:buClr>
                <a:schemeClr val="accent5"/>
              </a:buClr>
              <a:buSzPts val="2300"/>
              <a:buFont typeface="Barlow Semi Condensed"/>
              <a:buAutoNum type="arabicPeriod"/>
            </a:pPr>
            <a:r>
              <a:rPr lang="en" sz="2300">
                <a:solidFill>
                  <a:schemeClr val="accent5"/>
                </a:solidFill>
              </a:rPr>
              <a:t>Employ multiple variance reduction techniques to enhance data quality and achieve faster convergence.</a:t>
            </a:r>
            <a:endParaRPr sz="2300">
              <a:solidFill>
                <a:schemeClr val="accent5"/>
              </a:solidFill>
            </a:endParaRPr>
          </a:p>
          <a:p>
            <a:pPr marL="457200" lvl="0" indent="-374650" algn="l" rtl="0">
              <a:spcBef>
                <a:spcPts val="0"/>
              </a:spcBef>
              <a:spcAft>
                <a:spcPts val="0"/>
              </a:spcAft>
              <a:buClr>
                <a:schemeClr val="accent5"/>
              </a:buClr>
              <a:buSzPts val="2300"/>
              <a:buFont typeface="Barlow Semi Condensed"/>
              <a:buAutoNum type="arabicPeriod"/>
            </a:pPr>
            <a:r>
              <a:rPr lang="en" sz="2300">
                <a:solidFill>
                  <a:schemeClr val="accent5"/>
                </a:solidFill>
              </a:rPr>
              <a:t>Use Bidirectional LSTM and GRU to train our model and predict future portfolio values and Day 1 allocations. </a:t>
            </a:r>
            <a:endParaRPr sz="2300">
              <a:solidFill>
                <a:schemeClr val="accent5"/>
              </a:solidFill>
            </a:endParaRPr>
          </a:p>
        </p:txBody>
      </p:sp>
      <p:sp>
        <p:nvSpPr>
          <p:cNvPr id="1921" name="Google Shape;1921;p36"/>
          <p:cNvSpPr/>
          <p:nvPr/>
        </p:nvSpPr>
        <p:spPr>
          <a:xfrm>
            <a:off x="6741833" y="597309"/>
            <a:ext cx="442379" cy="429375"/>
          </a:xfrm>
          <a:custGeom>
            <a:avLst/>
            <a:gdLst/>
            <a:ahLst/>
            <a:cxnLst/>
            <a:rect l="l" t="t" r="r" b="b"/>
            <a:pathLst>
              <a:path w="19516" h="19326" extrusionOk="0">
                <a:moveTo>
                  <a:pt x="15929" y="1934"/>
                </a:moveTo>
                <a:lnTo>
                  <a:pt x="15929" y="2834"/>
                </a:lnTo>
                <a:cubicBezTo>
                  <a:pt x="15929" y="3145"/>
                  <a:pt x="16182" y="3398"/>
                  <a:pt x="16496" y="3398"/>
                </a:cubicBezTo>
                <a:lnTo>
                  <a:pt x="17393" y="3398"/>
                </a:lnTo>
                <a:lnTo>
                  <a:pt x="16261" y="4531"/>
                </a:lnTo>
                <a:lnTo>
                  <a:pt x="14796" y="4531"/>
                </a:lnTo>
                <a:lnTo>
                  <a:pt x="14796" y="3066"/>
                </a:lnTo>
                <a:lnTo>
                  <a:pt x="15929" y="1934"/>
                </a:lnTo>
                <a:close/>
                <a:moveTo>
                  <a:pt x="9663" y="7927"/>
                </a:moveTo>
                <a:cubicBezTo>
                  <a:pt x="9926" y="7927"/>
                  <a:pt x="10183" y="7991"/>
                  <a:pt x="10418" y="8109"/>
                </a:cubicBezTo>
                <a:lnTo>
                  <a:pt x="9262" y="9262"/>
                </a:lnTo>
                <a:cubicBezTo>
                  <a:pt x="9041" y="9485"/>
                  <a:pt x="9041" y="9842"/>
                  <a:pt x="9262" y="10065"/>
                </a:cubicBezTo>
                <a:cubicBezTo>
                  <a:pt x="9372" y="10175"/>
                  <a:pt x="9517" y="10231"/>
                  <a:pt x="9662" y="10231"/>
                </a:cubicBezTo>
                <a:cubicBezTo>
                  <a:pt x="9807" y="10231"/>
                  <a:pt x="9952" y="10175"/>
                  <a:pt x="10062" y="10065"/>
                </a:cubicBezTo>
                <a:lnTo>
                  <a:pt x="11218" y="8909"/>
                </a:lnTo>
                <a:cubicBezTo>
                  <a:pt x="11336" y="9141"/>
                  <a:pt x="11399" y="9401"/>
                  <a:pt x="11399" y="9664"/>
                </a:cubicBezTo>
                <a:cubicBezTo>
                  <a:pt x="11399" y="10585"/>
                  <a:pt x="10605" y="11364"/>
                  <a:pt x="9663" y="11364"/>
                </a:cubicBezTo>
                <a:cubicBezTo>
                  <a:pt x="8721" y="11364"/>
                  <a:pt x="7927" y="10585"/>
                  <a:pt x="7927" y="9664"/>
                </a:cubicBezTo>
                <a:cubicBezTo>
                  <a:pt x="7927" y="8722"/>
                  <a:pt x="8721" y="7927"/>
                  <a:pt x="9663" y="7927"/>
                </a:cubicBezTo>
                <a:close/>
                <a:moveTo>
                  <a:pt x="9663" y="5663"/>
                </a:moveTo>
                <a:cubicBezTo>
                  <a:pt x="10527" y="5666"/>
                  <a:pt x="11363" y="5953"/>
                  <a:pt x="12049" y="6478"/>
                </a:cubicBezTo>
                <a:lnTo>
                  <a:pt x="11242" y="7287"/>
                </a:lnTo>
                <a:cubicBezTo>
                  <a:pt x="10777" y="6967"/>
                  <a:pt x="10228" y="6798"/>
                  <a:pt x="9663" y="6795"/>
                </a:cubicBezTo>
                <a:cubicBezTo>
                  <a:pt x="8108" y="6795"/>
                  <a:pt x="6795" y="8109"/>
                  <a:pt x="6795" y="9664"/>
                </a:cubicBezTo>
                <a:cubicBezTo>
                  <a:pt x="6795" y="10422"/>
                  <a:pt x="7103" y="11143"/>
                  <a:pt x="7649" y="11669"/>
                </a:cubicBezTo>
                <a:cubicBezTo>
                  <a:pt x="8208" y="12220"/>
                  <a:pt x="8935" y="12495"/>
                  <a:pt x="9663" y="12495"/>
                </a:cubicBezTo>
                <a:cubicBezTo>
                  <a:pt x="10391" y="12495"/>
                  <a:pt x="11119" y="12220"/>
                  <a:pt x="11677" y="11669"/>
                </a:cubicBezTo>
                <a:cubicBezTo>
                  <a:pt x="12224" y="11143"/>
                  <a:pt x="12532" y="10422"/>
                  <a:pt x="12532" y="9664"/>
                </a:cubicBezTo>
                <a:cubicBezTo>
                  <a:pt x="12529" y="9099"/>
                  <a:pt x="12360" y="8549"/>
                  <a:pt x="12043" y="8084"/>
                </a:cubicBezTo>
                <a:lnTo>
                  <a:pt x="12849" y="7278"/>
                </a:lnTo>
                <a:cubicBezTo>
                  <a:pt x="13374" y="7964"/>
                  <a:pt x="13661" y="8800"/>
                  <a:pt x="13664" y="9664"/>
                </a:cubicBezTo>
                <a:cubicBezTo>
                  <a:pt x="13664" y="11850"/>
                  <a:pt x="11870" y="13628"/>
                  <a:pt x="9663" y="13628"/>
                </a:cubicBezTo>
                <a:cubicBezTo>
                  <a:pt x="7456" y="13628"/>
                  <a:pt x="5662" y="11850"/>
                  <a:pt x="5662" y="9664"/>
                </a:cubicBezTo>
                <a:cubicBezTo>
                  <a:pt x="5662" y="7496"/>
                  <a:pt x="7495" y="5663"/>
                  <a:pt x="9663" y="5663"/>
                </a:cubicBezTo>
                <a:close/>
                <a:moveTo>
                  <a:pt x="9676" y="3398"/>
                </a:moveTo>
                <a:cubicBezTo>
                  <a:pt x="11130" y="3398"/>
                  <a:pt x="12541" y="3902"/>
                  <a:pt x="13664" y="4826"/>
                </a:cubicBezTo>
                <a:lnTo>
                  <a:pt x="13664" y="4863"/>
                </a:lnTo>
                <a:lnTo>
                  <a:pt x="12861" y="5663"/>
                </a:lnTo>
                <a:cubicBezTo>
                  <a:pt x="11911" y="4901"/>
                  <a:pt x="10770" y="4528"/>
                  <a:pt x="9634" y="4528"/>
                </a:cubicBezTo>
                <a:cubicBezTo>
                  <a:pt x="8214" y="4528"/>
                  <a:pt x="6803" y="5111"/>
                  <a:pt x="5786" y="6246"/>
                </a:cubicBezTo>
                <a:cubicBezTo>
                  <a:pt x="3959" y="8287"/>
                  <a:pt x="4047" y="11403"/>
                  <a:pt x="5985" y="13341"/>
                </a:cubicBezTo>
                <a:cubicBezTo>
                  <a:pt x="6991" y="14346"/>
                  <a:pt x="8313" y="14852"/>
                  <a:pt x="9638" y="14852"/>
                </a:cubicBezTo>
                <a:cubicBezTo>
                  <a:pt x="10866" y="14852"/>
                  <a:pt x="12096" y="14417"/>
                  <a:pt x="13078" y="13538"/>
                </a:cubicBezTo>
                <a:cubicBezTo>
                  <a:pt x="15119" y="11711"/>
                  <a:pt x="15376" y="8604"/>
                  <a:pt x="13664" y="6463"/>
                </a:cubicBezTo>
                <a:lnTo>
                  <a:pt x="14464" y="5663"/>
                </a:lnTo>
                <a:lnTo>
                  <a:pt x="14503" y="5663"/>
                </a:lnTo>
                <a:cubicBezTo>
                  <a:pt x="15430" y="6789"/>
                  <a:pt x="15935" y="8205"/>
                  <a:pt x="15929" y="9664"/>
                </a:cubicBezTo>
                <a:cubicBezTo>
                  <a:pt x="15929" y="13100"/>
                  <a:pt x="13117" y="15893"/>
                  <a:pt x="9663" y="15893"/>
                </a:cubicBezTo>
                <a:cubicBezTo>
                  <a:pt x="6209" y="15893"/>
                  <a:pt x="3398" y="13100"/>
                  <a:pt x="3398" y="9664"/>
                </a:cubicBezTo>
                <a:cubicBezTo>
                  <a:pt x="3398" y="6209"/>
                  <a:pt x="6209" y="3398"/>
                  <a:pt x="9663" y="3398"/>
                </a:cubicBezTo>
                <a:cubicBezTo>
                  <a:pt x="9668" y="3398"/>
                  <a:pt x="9672" y="3398"/>
                  <a:pt x="9676" y="3398"/>
                </a:cubicBezTo>
                <a:close/>
                <a:moveTo>
                  <a:pt x="9663" y="1134"/>
                </a:moveTo>
                <a:cubicBezTo>
                  <a:pt x="11176" y="1134"/>
                  <a:pt x="12661" y="1532"/>
                  <a:pt x="13975" y="2287"/>
                </a:cubicBezTo>
                <a:lnTo>
                  <a:pt x="13830" y="2432"/>
                </a:lnTo>
                <a:cubicBezTo>
                  <a:pt x="13724" y="2538"/>
                  <a:pt x="13664" y="2683"/>
                  <a:pt x="13664" y="2834"/>
                </a:cubicBezTo>
                <a:lnTo>
                  <a:pt x="13664" y="3428"/>
                </a:lnTo>
                <a:cubicBezTo>
                  <a:pt x="12473" y="2670"/>
                  <a:pt x="11090" y="2266"/>
                  <a:pt x="9679" y="2266"/>
                </a:cubicBezTo>
                <a:cubicBezTo>
                  <a:pt x="9674" y="2266"/>
                  <a:pt x="9668" y="2266"/>
                  <a:pt x="9663" y="2266"/>
                </a:cubicBezTo>
                <a:cubicBezTo>
                  <a:pt x="7701" y="2266"/>
                  <a:pt x="5847" y="3039"/>
                  <a:pt x="4443" y="4443"/>
                </a:cubicBezTo>
                <a:cubicBezTo>
                  <a:pt x="3039" y="5847"/>
                  <a:pt x="2266" y="7701"/>
                  <a:pt x="2266" y="9664"/>
                </a:cubicBezTo>
                <a:cubicBezTo>
                  <a:pt x="2266" y="11626"/>
                  <a:pt x="3039" y="13474"/>
                  <a:pt x="4443" y="14866"/>
                </a:cubicBezTo>
                <a:cubicBezTo>
                  <a:pt x="5886" y="16305"/>
                  <a:pt x="7775" y="17024"/>
                  <a:pt x="9663" y="17024"/>
                </a:cubicBezTo>
                <a:cubicBezTo>
                  <a:pt x="11552" y="17024"/>
                  <a:pt x="13441" y="16305"/>
                  <a:pt x="14884" y="14866"/>
                </a:cubicBezTo>
                <a:cubicBezTo>
                  <a:pt x="16288" y="13474"/>
                  <a:pt x="17061" y="11626"/>
                  <a:pt x="17061" y="9664"/>
                </a:cubicBezTo>
                <a:cubicBezTo>
                  <a:pt x="17064" y="8248"/>
                  <a:pt x="16659" y="6859"/>
                  <a:pt x="15898" y="5663"/>
                </a:cubicBezTo>
                <a:lnTo>
                  <a:pt x="16496" y="5663"/>
                </a:lnTo>
                <a:cubicBezTo>
                  <a:pt x="16644" y="5663"/>
                  <a:pt x="16789" y="5602"/>
                  <a:pt x="16895" y="5497"/>
                </a:cubicBezTo>
                <a:lnTo>
                  <a:pt x="17040" y="5352"/>
                </a:lnTo>
                <a:cubicBezTo>
                  <a:pt x="17795" y="6665"/>
                  <a:pt x="18193" y="8151"/>
                  <a:pt x="18193" y="9664"/>
                </a:cubicBezTo>
                <a:cubicBezTo>
                  <a:pt x="18193" y="14368"/>
                  <a:pt x="14367" y="18194"/>
                  <a:pt x="9663" y="18194"/>
                </a:cubicBezTo>
                <a:cubicBezTo>
                  <a:pt x="4959" y="18194"/>
                  <a:pt x="1133" y="14368"/>
                  <a:pt x="1133" y="9664"/>
                </a:cubicBezTo>
                <a:cubicBezTo>
                  <a:pt x="1133" y="4959"/>
                  <a:pt x="4959" y="1134"/>
                  <a:pt x="9663" y="1134"/>
                </a:cubicBezTo>
                <a:close/>
                <a:moveTo>
                  <a:pt x="16491" y="0"/>
                </a:moveTo>
                <a:cubicBezTo>
                  <a:pt x="16352" y="0"/>
                  <a:pt x="16210" y="52"/>
                  <a:pt x="16095" y="167"/>
                </a:cubicBezTo>
                <a:lnTo>
                  <a:pt x="14799" y="1463"/>
                </a:lnTo>
                <a:cubicBezTo>
                  <a:pt x="13256" y="509"/>
                  <a:pt x="11478" y="4"/>
                  <a:pt x="9663" y="1"/>
                </a:cubicBezTo>
                <a:cubicBezTo>
                  <a:pt x="7094" y="1"/>
                  <a:pt x="4669" y="1010"/>
                  <a:pt x="2839" y="2840"/>
                </a:cubicBezTo>
                <a:cubicBezTo>
                  <a:pt x="1009" y="4669"/>
                  <a:pt x="1" y="7094"/>
                  <a:pt x="1" y="9664"/>
                </a:cubicBezTo>
                <a:cubicBezTo>
                  <a:pt x="1" y="12233"/>
                  <a:pt x="1009" y="14658"/>
                  <a:pt x="2839" y="16488"/>
                </a:cubicBezTo>
                <a:cubicBezTo>
                  <a:pt x="4669" y="18317"/>
                  <a:pt x="7094" y="19326"/>
                  <a:pt x="9663" y="19326"/>
                </a:cubicBezTo>
                <a:cubicBezTo>
                  <a:pt x="12233" y="19326"/>
                  <a:pt x="14657" y="18317"/>
                  <a:pt x="16487" y="16488"/>
                </a:cubicBezTo>
                <a:cubicBezTo>
                  <a:pt x="18317" y="14658"/>
                  <a:pt x="19325" y="12233"/>
                  <a:pt x="19325" y="9664"/>
                </a:cubicBezTo>
                <a:cubicBezTo>
                  <a:pt x="19322" y="7849"/>
                  <a:pt x="18818" y="6070"/>
                  <a:pt x="17864" y="4528"/>
                </a:cubicBezTo>
                <a:lnTo>
                  <a:pt x="19159" y="3232"/>
                </a:lnTo>
                <a:cubicBezTo>
                  <a:pt x="19516" y="2876"/>
                  <a:pt x="19265" y="2266"/>
                  <a:pt x="18761" y="2266"/>
                </a:cubicBezTo>
                <a:lnTo>
                  <a:pt x="17061" y="2266"/>
                </a:lnTo>
                <a:lnTo>
                  <a:pt x="17061" y="569"/>
                </a:lnTo>
                <a:cubicBezTo>
                  <a:pt x="17061" y="226"/>
                  <a:pt x="16782" y="0"/>
                  <a:pt x="16491"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6" name="Google Shape;1926;p37"/>
          <p:cNvSpPr txBox="1">
            <a:spLocks noGrp="1"/>
          </p:cNvSpPr>
          <p:nvPr>
            <p:ph type="title"/>
          </p:nvPr>
        </p:nvSpPr>
        <p:spPr>
          <a:xfrm>
            <a:off x="1029675" y="415650"/>
            <a:ext cx="2952600" cy="109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Software Requirements</a:t>
            </a:r>
            <a:endParaRPr/>
          </a:p>
        </p:txBody>
      </p:sp>
      <p:sp>
        <p:nvSpPr>
          <p:cNvPr id="1927" name="Google Shape;1927;p37"/>
          <p:cNvSpPr txBox="1">
            <a:spLocks noGrp="1"/>
          </p:cNvSpPr>
          <p:nvPr>
            <p:ph type="title"/>
          </p:nvPr>
        </p:nvSpPr>
        <p:spPr>
          <a:xfrm>
            <a:off x="4890150" y="3525825"/>
            <a:ext cx="2952600" cy="109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Hardware Requirements</a:t>
            </a:r>
            <a:endParaRPr/>
          </a:p>
        </p:txBody>
      </p:sp>
      <p:sp>
        <p:nvSpPr>
          <p:cNvPr id="1928" name="Google Shape;1928;p37"/>
          <p:cNvSpPr txBox="1"/>
          <p:nvPr/>
        </p:nvSpPr>
        <p:spPr>
          <a:xfrm>
            <a:off x="1390100" y="1716125"/>
            <a:ext cx="2657700" cy="2757600"/>
          </a:xfrm>
          <a:prstGeom prst="rect">
            <a:avLst/>
          </a:prstGeom>
          <a:noFill/>
          <a:ln>
            <a:noFill/>
          </a:ln>
        </p:spPr>
        <p:txBody>
          <a:bodyPr spcFirstLastPara="1" wrap="square" lIns="91425" tIns="91425" rIns="91425" bIns="91425" anchor="t" anchorCtr="0">
            <a:noAutofit/>
          </a:bodyPr>
          <a:lstStyle/>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Vs code</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Pandas</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Numpy</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Scipy</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Matplotlib</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Yfinance</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Cuda (12.4)</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Nvcc</a:t>
            </a:r>
            <a:endParaRPr sz="1600">
              <a:solidFill>
                <a:srgbClr val="40566D"/>
              </a:solidFill>
              <a:latin typeface="Barlow Semi Condensed"/>
              <a:ea typeface="Barlow Semi Condensed"/>
              <a:cs typeface="Barlow Semi Condensed"/>
              <a:sym typeface="Barlow Semi Condensed"/>
            </a:endParaRPr>
          </a:p>
          <a:p>
            <a:pPr marL="457200" marR="0" lvl="0" indent="-285750" algn="l" rtl="0">
              <a:lnSpc>
                <a:spcPct val="120000"/>
              </a:lnSpc>
              <a:spcBef>
                <a:spcPts val="0"/>
              </a:spcBef>
              <a:spcAft>
                <a:spcPts val="0"/>
              </a:spcAft>
              <a:buClr>
                <a:srgbClr val="40566D"/>
              </a:buClr>
              <a:buSzPts val="900"/>
              <a:buFont typeface="Barlow Semi Condensed"/>
              <a:buChar char="●"/>
            </a:pPr>
            <a:r>
              <a:rPr lang="en" sz="1600">
                <a:solidFill>
                  <a:srgbClr val="40566D"/>
                </a:solidFill>
                <a:latin typeface="Barlow Semi Condensed"/>
                <a:ea typeface="Barlow Semi Condensed"/>
                <a:cs typeface="Barlow Semi Condensed"/>
                <a:sym typeface="Barlow Semi Condensed"/>
              </a:rPr>
              <a:t>Pytorch</a:t>
            </a:r>
            <a:endParaRPr sz="1600">
              <a:solidFill>
                <a:srgbClr val="40566D"/>
              </a:solidFill>
              <a:latin typeface="Barlow Semi Condensed"/>
              <a:ea typeface="Barlow Semi Condensed"/>
              <a:cs typeface="Barlow Semi Condensed"/>
              <a:sym typeface="Barlow Semi Condensed"/>
            </a:endParaRPr>
          </a:p>
        </p:txBody>
      </p:sp>
      <p:sp>
        <p:nvSpPr>
          <p:cNvPr id="1929" name="Google Shape;1929;p37"/>
          <p:cNvSpPr txBox="1"/>
          <p:nvPr/>
        </p:nvSpPr>
        <p:spPr>
          <a:xfrm>
            <a:off x="5199000" y="1564575"/>
            <a:ext cx="2334900" cy="17109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Barlow Semi Condensed"/>
              <a:buChar char="●"/>
            </a:pPr>
            <a:r>
              <a:rPr lang="en">
                <a:latin typeface="Barlow Semi Condensed"/>
                <a:ea typeface="Barlow Semi Condensed"/>
                <a:cs typeface="Barlow Semi Condensed"/>
                <a:sym typeface="Barlow Semi Condensed"/>
              </a:rPr>
              <a:t>GPU T4*2  (15GB*2)</a:t>
            </a:r>
            <a:endParaRPr>
              <a:latin typeface="Barlow Semi Condensed"/>
              <a:ea typeface="Barlow Semi Condensed"/>
              <a:cs typeface="Barlow Semi Condensed"/>
              <a:sym typeface="Barlow Semi Condensed"/>
            </a:endParaRPr>
          </a:p>
          <a:p>
            <a:pPr marL="457200" lvl="0" indent="0" algn="l" rtl="0">
              <a:spcBef>
                <a:spcPts val="0"/>
              </a:spcBef>
              <a:spcAft>
                <a:spcPts val="0"/>
              </a:spcAft>
              <a:buNone/>
            </a:pPr>
            <a:endParaRPr>
              <a:latin typeface="Barlow Semi Condensed"/>
              <a:ea typeface="Barlow Semi Condensed"/>
              <a:cs typeface="Barlow Semi Condensed"/>
              <a:sym typeface="Barlow Semi Condensed"/>
            </a:endParaRPr>
          </a:p>
          <a:p>
            <a:pPr marL="457200" lvl="0" indent="-317500" algn="l" rtl="0">
              <a:spcBef>
                <a:spcPts val="0"/>
              </a:spcBef>
              <a:spcAft>
                <a:spcPts val="0"/>
              </a:spcAft>
              <a:buSzPts val="1400"/>
              <a:buFont typeface="Barlow Semi Condensed"/>
              <a:buChar char="●"/>
            </a:pPr>
            <a:r>
              <a:rPr lang="en">
                <a:latin typeface="Barlow Semi Condensed"/>
                <a:ea typeface="Barlow Semi Condensed"/>
                <a:cs typeface="Barlow Semi Condensed"/>
                <a:sym typeface="Barlow Semi Condensed"/>
              </a:rPr>
              <a:t>Intel(R) Xeon(R) CPU @ 2.30GHz</a:t>
            </a:r>
            <a:endParaRPr>
              <a:latin typeface="Barlow Semi Condensed"/>
              <a:ea typeface="Barlow Semi Condensed"/>
              <a:cs typeface="Barlow Semi Condensed"/>
              <a:sym typeface="Barlow Semi Condensed"/>
            </a:endParaRPr>
          </a:p>
          <a:p>
            <a:pPr marL="457200" lvl="0" indent="0" algn="l" rtl="0">
              <a:spcBef>
                <a:spcPts val="0"/>
              </a:spcBef>
              <a:spcAft>
                <a:spcPts val="0"/>
              </a:spcAft>
              <a:buNone/>
            </a:pPr>
            <a:endParaRPr>
              <a:latin typeface="Barlow Semi Condensed"/>
              <a:ea typeface="Barlow Semi Condensed"/>
              <a:cs typeface="Barlow Semi Condensed"/>
              <a:sym typeface="Barlow Semi Condensed"/>
            </a:endParaRPr>
          </a:p>
          <a:p>
            <a:pPr marL="457200" lvl="0" indent="-317500" algn="l" rtl="0">
              <a:spcBef>
                <a:spcPts val="0"/>
              </a:spcBef>
              <a:spcAft>
                <a:spcPts val="0"/>
              </a:spcAft>
              <a:buSzPts val="1400"/>
              <a:buFont typeface="Barlow Semi Condensed"/>
              <a:buChar char="●"/>
            </a:pPr>
            <a:r>
              <a:rPr lang="en">
                <a:latin typeface="Barlow Semi Condensed"/>
                <a:ea typeface="Barlow Semi Condensed"/>
                <a:cs typeface="Barlow Semi Condensed"/>
                <a:sym typeface="Barlow Semi Condensed"/>
              </a:rPr>
              <a:t>29 GB LPDDR5 Ram</a:t>
            </a:r>
            <a:endParaRPr>
              <a:latin typeface="Barlow Semi Condensed"/>
              <a:ea typeface="Barlow Semi Condensed"/>
              <a:cs typeface="Barlow Semi Condensed"/>
              <a:sym typeface="Barlow Semi Condensed"/>
            </a:endParaRPr>
          </a:p>
          <a:p>
            <a:pPr marL="457200" lvl="0" indent="0" algn="l" rtl="0">
              <a:spcBef>
                <a:spcPts val="0"/>
              </a:spcBef>
              <a:spcAft>
                <a:spcPts val="0"/>
              </a:spcAft>
              <a:buNone/>
            </a:pPr>
            <a:endParaRPr>
              <a:latin typeface="Barlow Semi Condensed"/>
              <a:ea typeface="Barlow Semi Condensed"/>
              <a:cs typeface="Barlow Semi Condensed"/>
              <a:sym typeface="Barlow Semi Condensed"/>
            </a:endParaRPr>
          </a:p>
          <a:p>
            <a:pPr marL="457200" lvl="0" indent="0" algn="l" rtl="0">
              <a:spcBef>
                <a:spcPts val="0"/>
              </a:spcBef>
              <a:spcAft>
                <a:spcPts val="0"/>
              </a:spcAft>
              <a:buNone/>
            </a:pPr>
            <a:r>
              <a:rPr lang="en">
                <a:latin typeface="Barlow Semi Condensed"/>
                <a:ea typeface="Barlow Semi Condensed"/>
                <a:cs typeface="Barlow Semi Condensed"/>
                <a:sym typeface="Barlow Semi Condensed"/>
              </a:rPr>
              <a:t> </a:t>
            </a:r>
            <a:endParaRPr>
              <a:latin typeface="Barlow Semi Condensed"/>
              <a:ea typeface="Barlow Semi Condensed"/>
              <a:cs typeface="Barlow Semi Condensed"/>
              <a:sym typeface="Barlow Semi Condensed"/>
            </a:endParaRPr>
          </a:p>
          <a:p>
            <a:pPr marL="0" lvl="0" indent="0" algn="l" rtl="0">
              <a:spcBef>
                <a:spcPts val="0"/>
              </a:spcBef>
              <a:spcAft>
                <a:spcPts val="0"/>
              </a:spcAft>
              <a:buNone/>
            </a:pPr>
            <a:endParaRPr>
              <a:latin typeface="Barlow Semi Condensed"/>
              <a:ea typeface="Barlow Semi Condensed"/>
              <a:cs typeface="Barlow Semi Condensed"/>
              <a:sym typeface="Barlow Semi Condensed"/>
            </a:endParaRPr>
          </a:p>
          <a:p>
            <a:pPr marL="0" lvl="0" indent="0" algn="l" rtl="0">
              <a:spcBef>
                <a:spcPts val="0"/>
              </a:spcBef>
              <a:spcAft>
                <a:spcPts val="0"/>
              </a:spcAft>
              <a:buNone/>
            </a:pPr>
            <a:endParaRPr>
              <a:latin typeface="Barlow Semi Condensed"/>
              <a:ea typeface="Barlow Semi Condensed"/>
              <a:cs typeface="Barlow Semi Condensed"/>
              <a:sym typeface="Barlow Semi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3"/>
        <p:cNvGrpSpPr/>
        <p:nvPr/>
      </p:nvGrpSpPr>
      <p:grpSpPr>
        <a:xfrm>
          <a:off x="0" y="0"/>
          <a:ext cx="0" cy="0"/>
          <a:chOff x="0" y="0"/>
          <a:chExt cx="0" cy="0"/>
        </a:xfrm>
      </p:grpSpPr>
      <p:sp>
        <p:nvSpPr>
          <p:cNvPr id="1934" name="Google Shape;1934;p38"/>
          <p:cNvSpPr txBox="1">
            <a:spLocks noGrp="1"/>
          </p:cNvSpPr>
          <p:nvPr>
            <p:ph type="title"/>
          </p:nvPr>
        </p:nvSpPr>
        <p:spPr>
          <a:xfrm>
            <a:off x="1827000" y="1915725"/>
            <a:ext cx="5151300" cy="172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200"/>
              <a:t>Monte Carlo Simulation</a:t>
            </a:r>
            <a:endParaRPr sz="5200"/>
          </a:p>
        </p:txBody>
      </p:sp>
      <p:sp>
        <p:nvSpPr>
          <p:cNvPr id="1935" name="Google Shape;1935;p38"/>
          <p:cNvSpPr txBox="1">
            <a:spLocks noGrp="1"/>
          </p:cNvSpPr>
          <p:nvPr>
            <p:ph type="title" idx="2"/>
          </p:nvPr>
        </p:nvSpPr>
        <p:spPr>
          <a:xfrm>
            <a:off x="2918850" y="845913"/>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a:t>02</a:t>
            </a:r>
            <a:endParaRPr sz="7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9"/>
        <p:cNvGrpSpPr/>
        <p:nvPr/>
      </p:nvGrpSpPr>
      <p:grpSpPr>
        <a:xfrm>
          <a:off x="0" y="0"/>
          <a:ext cx="0" cy="0"/>
          <a:chOff x="0" y="0"/>
          <a:chExt cx="0" cy="0"/>
        </a:xfrm>
      </p:grpSpPr>
      <p:sp>
        <p:nvSpPr>
          <p:cNvPr id="1940" name="Google Shape;1940;p39"/>
          <p:cNvSpPr txBox="1">
            <a:spLocks noGrp="1"/>
          </p:cNvSpPr>
          <p:nvPr>
            <p:ph type="title" idx="4294967295"/>
          </p:nvPr>
        </p:nvSpPr>
        <p:spPr>
          <a:xfrm>
            <a:off x="592241" y="156378"/>
            <a:ext cx="66111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is Monte Carlo Simulation?</a:t>
            </a:r>
            <a:endParaRPr/>
          </a:p>
          <a:p>
            <a:pPr marL="0" lvl="0" indent="0" algn="l" rtl="0">
              <a:spcBef>
                <a:spcPts val="0"/>
              </a:spcBef>
              <a:spcAft>
                <a:spcPts val="0"/>
              </a:spcAft>
              <a:buNone/>
            </a:pPr>
            <a:endParaRPr/>
          </a:p>
        </p:txBody>
      </p:sp>
      <p:sp>
        <p:nvSpPr>
          <p:cNvPr id="1941" name="Google Shape;1941;p39"/>
          <p:cNvSpPr txBox="1">
            <a:spLocks noGrp="1"/>
          </p:cNvSpPr>
          <p:nvPr>
            <p:ph type="subTitle" idx="1"/>
          </p:nvPr>
        </p:nvSpPr>
        <p:spPr>
          <a:xfrm>
            <a:off x="108725" y="705075"/>
            <a:ext cx="7938000" cy="83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500">
                <a:solidFill>
                  <a:srgbClr val="3977A2"/>
                </a:solidFill>
                <a:latin typeface="Barlow Semi Condensed"/>
                <a:ea typeface="Barlow Semi Condensed"/>
                <a:cs typeface="Barlow Semi Condensed"/>
                <a:sym typeface="Barlow Semi Condensed"/>
              </a:rPr>
              <a:t>Monte Carlo Simulation is a mathematical technique that predicts possible outcomes of an uncertain event.  In this context, we use it to model the future performance of a portfolio under uncertainty[1].</a:t>
            </a:r>
            <a:endParaRPr sz="1500">
              <a:solidFill>
                <a:srgbClr val="3977A2"/>
              </a:solidFill>
              <a:latin typeface="Barlow Semi Condensed"/>
              <a:ea typeface="Barlow Semi Condensed"/>
              <a:cs typeface="Barlow Semi Condensed"/>
              <a:sym typeface="Barlow Semi Condensed"/>
            </a:endParaRPr>
          </a:p>
        </p:txBody>
      </p:sp>
      <p:sp>
        <p:nvSpPr>
          <p:cNvPr id="1942" name="Google Shape;1942;p39"/>
          <p:cNvSpPr txBox="1"/>
          <p:nvPr/>
        </p:nvSpPr>
        <p:spPr>
          <a:xfrm>
            <a:off x="2946725" y="1446300"/>
            <a:ext cx="6197400" cy="36972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1500">
                <a:solidFill>
                  <a:srgbClr val="40566D"/>
                </a:solidFill>
                <a:latin typeface="Barlow Semi Condensed"/>
                <a:ea typeface="Barlow Semi Condensed"/>
                <a:cs typeface="Barlow Semi Condensed"/>
                <a:sym typeface="Barlow Semi Condensed"/>
              </a:rPr>
              <a:t>What Do We Feed Into Monte Carlo Simulations: </a:t>
            </a:r>
            <a:endParaRPr sz="1300">
              <a:solidFill>
                <a:srgbClr val="40566D"/>
              </a:solidFill>
              <a:latin typeface="Barlow Semi Condensed"/>
              <a:ea typeface="Barlow Semi Condensed"/>
              <a:cs typeface="Barlow Semi Condensed"/>
              <a:sym typeface="Barlow Semi Condensed"/>
            </a:endParaRPr>
          </a:p>
          <a:p>
            <a:pPr marL="0" lvl="0" indent="0" algn="l" rtl="0">
              <a:lnSpc>
                <a:spcPct val="120000"/>
              </a:lnSpc>
              <a:spcBef>
                <a:spcPts val="0"/>
              </a:spcBef>
              <a:spcAft>
                <a:spcPts val="0"/>
              </a:spcAft>
              <a:buClr>
                <a:schemeClr val="dk1"/>
              </a:buClr>
              <a:buSzPts val="1100"/>
              <a:buFont typeface="Arial"/>
              <a:buNone/>
            </a:pPr>
            <a:endParaRPr sz="1300">
              <a:solidFill>
                <a:srgbClr val="40566D"/>
              </a:solidFill>
              <a:latin typeface="Barlow Semi Condensed"/>
              <a:ea typeface="Barlow Semi Condensed"/>
              <a:cs typeface="Barlow Semi Condensed"/>
              <a:sym typeface="Barlow Semi Condensed"/>
            </a:endParaRPr>
          </a:p>
          <a:p>
            <a:pPr marL="457200" lvl="0" indent="-317500" algn="l" rtl="0">
              <a:lnSpc>
                <a:spcPct val="120000"/>
              </a:lnSpc>
              <a:spcBef>
                <a:spcPts val="0"/>
              </a:spcBef>
              <a:spcAft>
                <a:spcPts val="0"/>
              </a:spcAft>
              <a:buClr>
                <a:srgbClr val="40566D"/>
              </a:buClr>
              <a:buSzPts val="1400"/>
              <a:buFont typeface="Barlow Semi Condensed"/>
              <a:buChar char="●"/>
            </a:pPr>
            <a:r>
              <a:rPr lang="en" u="sng">
                <a:solidFill>
                  <a:srgbClr val="40566D"/>
                </a:solidFill>
                <a:latin typeface="Barlow Semi Condensed"/>
                <a:ea typeface="Barlow Semi Condensed"/>
                <a:cs typeface="Barlow Semi Condensed"/>
                <a:sym typeface="Barlow Semi Condensed"/>
              </a:rPr>
              <a:t>Mean Returns (meanReturns):</a:t>
            </a:r>
            <a:r>
              <a:rPr lang="en">
                <a:solidFill>
                  <a:srgbClr val="40566D"/>
                </a:solidFill>
                <a:latin typeface="Barlow Semi Condensed"/>
                <a:ea typeface="Barlow Semi Condensed"/>
                <a:cs typeface="Barlow Semi Condensed"/>
                <a:sym typeface="Barlow Semi Condensed"/>
              </a:rPr>
              <a:t> The average daily returns of the individual stocks. </a:t>
            </a:r>
            <a:endParaRPr>
              <a:solidFill>
                <a:srgbClr val="40566D"/>
              </a:solidFill>
              <a:latin typeface="Barlow Semi Condensed"/>
              <a:ea typeface="Barlow Semi Condensed"/>
              <a:cs typeface="Barlow Semi Condensed"/>
              <a:sym typeface="Barlow Semi Condensed"/>
            </a:endParaRPr>
          </a:p>
          <a:p>
            <a:pPr marL="457200" lvl="0" indent="-317500" algn="l" rtl="0">
              <a:lnSpc>
                <a:spcPct val="120000"/>
              </a:lnSpc>
              <a:spcBef>
                <a:spcPts val="0"/>
              </a:spcBef>
              <a:spcAft>
                <a:spcPts val="0"/>
              </a:spcAft>
              <a:buClr>
                <a:srgbClr val="40566D"/>
              </a:buClr>
              <a:buSzPts val="1400"/>
              <a:buFont typeface="Barlow Semi Condensed"/>
              <a:buChar char="●"/>
            </a:pPr>
            <a:r>
              <a:rPr lang="en" u="sng">
                <a:solidFill>
                  <a:srgbClr val="40566D"/>
                </a:solidFill>
                <a:latin typeface="Barlow Semi Condensed"/>
                <a:ea typeface="Barlow Semi Condensed"/>
                <a:cs typeface="Barlow Semi Condensed"/>
                <a:sym typeface="Barlow Semi Condensed"/>
              </a:rPr>
              <a:t>Covariance Matrix (covMatrix):</a:t>
            </a:r>
            <a:r>
              <a:rPr lang="en">
                <a:solidFill>
                  <a:srgbClr val="40566D"/>
                </a:solidFill>
                <a:latin typeface="Barlow Semi Condensed"/>
                <a:ea typeface="Barlow Semi Condensed"/>
                <a:cs typeface="Barlow Semi Condensed"/>
                <a:sym typeface="Barlow Semi Condensed"/>
              </a:rPr>
              <a:t> This represents how the returns of different stocks move relative to each other. It’s essential for modeling the interdependencies between the assets.</a:t>
            </a:r>
            <a:endParaRPr>
              <a:solidFill>
                <a:srgbClr val="40566D"/>
              </a:solidFill>
              <a:latin typeface="Barlow Semi Condensed"/>
              <a:ea typeface="Barlow Semi Condensed"/>
              <a:cs typeface="Barlow Semi Condensed"/>
              <a:sym typeface="Barlow Semi Condensed"/>
            </a:endParaRPr>
          </a:p>
          <a:p>
            <a:pPr marL="457200" lvl="0" indent="-317500" algn="l" rtl="0">
              <a:lnSpc>
                <a:spcPct val="120000"/>
              </a:lnSpc>
              <a:spcBef>
                <a:spcPts val="0"/>
              </a:spcBef>
              <a:spcAft>
                <a:spcPts val="0"/>
              </a:spcAft>
              <a:buClr>
                <a:srgbClr val="40566D"/>
              </a:buClr>
              <a:buSzPts val="1400"/>
              <a:buFont typeface="Barlow Semi Condensed"/>
              <a:buChar char="●"/>
            </a:pPr>
            <a:r>
              <a:rPr lang="en" u="sng">
                <a:solidFill>
                  <a:srgbClr val="40566D"/>
                </a:solidFill>
                <a:latin typeface="Barlow Semi Condensed"/>
                <a:ea typeface="Barlow Semi Condensed"/>
                <a:cs typeface="Barlow Semi Condensed"/>
                <a:sym typeface="Barlow Semi Condensed"/>
              </a:rPr>
              <a:t>Cholesky Decomposition (L):</a:t>
            </a:r>
            <a:r>
              <a:rPr lang="en">
                <a:solidFill>
                  <a:srgbClr val="40566D"/>
                </a:solidFill>
                <a:latin typeface="Barlow Semi Condensed"/>
                <a:ea typeface="Barlow Semi Condensed"/>
                <a:cs typeface="Barlow Semi Condensed"/>
                <a:sym typeface="Barlow Semi Condensed"/>
              </a:rPr>
              <a:t> To simulate correlated returns, we perform a Cholesky decomposition of the covariance matrix.</a:t>
            </a:r>
            <a:endParaRPr>
              <a:solidFill>
                <a:srgbClr val="40566D"/>
              </a:solidFill>
              <a:latin typeface="Barlow Semi Condensed"/>
              <a:ea typeface="Barlow Semi Condensed"/>
              <a:cs typeface="Barlow Semi Condensed"/>
              <a:sym typeface="Barlow Semi Condensed"/>
            </a:endParaRPr>
          </a:p>
          <a:p>
            <a:pPr marL="457200" lvl="0" indent="-317500" algn="l" rtl="0">
              <a:lnSpc>
                <a:spcPct val="120000"/>
              </a:lnSpc>
              <a:spcBef>
                <a:spcPts val="0"/>
              </a:spcBef>
              <a:spcAft>
                <a:spcPts val="0"/>
              </a:spcAft>
              <a:buClr>
                <a:srgbClr val="40566D"/>
              </a:buClr>
              <a:buSzPts val="1400"/>
              <a:buFont typeface="Barlow Semi Condensed"/>
              <a:buChar char="●"/>
            </a:pPr>
            <a:r>
              <a:rPr lang="en" u="sng">
                <a:solidFill>
                  <a:srgbClr val="40566D"/>
                </a:solidFill>
                <a:latin typeface="Barlow Semi Condensed"/>
                <a:ea typeface="Barlow Semi Condensed"/>
                <a:cs typeface="Barlow Semi Condensed"/>
                <a:sym typeface="Barlow Semi Condensed"/>
              </a:rPr>
              <a:t>Random Normal Variables (Z):</a:t>
            </a:r>
            <a:r>
              <a:rPr lang="en">
                <a:solidFill>
                  <a:srgbClr val="40566D"/>
                </a:solidFill>
                <a:latin typeface="Barlow Semi Condensed"/>
                <a:ea typeface="Barlow Semi Condensed"/>
                <a:cs typeface="Barlow Semi Condensed"/>
                <a:sym typeface="Barlow Semi Condensed"/>
              </a:rPr>
              <a:t> It is drawn from a standard normal distribution and, when combined with Cholesky decomposition, simulate daily returns based on historical statistical properties.”</a:t>
            </a:r>
            <a:endParaRPr>
              <a:solidFill>
                <a:srgbClr val="40566D"/>
              </a:solidFill>
              <a:latin typeface="Barlow Semi Condensed"/>
              <a:ea typeface="Barlow Semi Condensed"/>
              <a:cs typeface="Barlow Semi Condensed"/>
              <a:sym typeface="Barlow Semi Condensed"/>
            </a:endParaRPr>
          </a:p>
          <a:p>
            <a:pPr marL="457200" lvl="0" indent="-317500" algn="l" rtl="0">
              <a:lnSpc>
                <a:spcPct val="120000"/>
              </a:lnSpc>
              <a:spcBef>
                <a:spcPts val="0"/>
              </a:spcBef>
              <a:spcAft>
                <a:spcPts val="0"/>
              </a:spcAft>
              <a:buClr>
                <a:srgbClr val="40566D"/>
              </a:buClr>
              <a:buSzPts val="1400"/>
              <a:buFont typeface="Barlow Semi Condensed"/>
              <a:buChar char="●"/>
            </a:pPr>
            <a:r>
              <a:rPr lang="en" u="sng">
                <a:solidFill>
                  <a:srgbClr val="40566D"/>
                </a:solidFill>
                <a:latin typeface="Barlow Semi Condensed"/>
                <a:ea typeface="Barlow Semi Condensed"/>
                <a:cs typeface="Barlow Semi Condensed"/>
                <a:sym typeface="Barlow Semi Condensed"/>
              </a:rPr>
              <a:t>Portfolio weights:</a:t>
            </a:r>
            <a:r>
              <a:rPr lang="en">
                <a:solidFill>
                  <a:srgbClr val="40566D"/>
                </a:solidFill>
                <a:latin typeface="Barlow Semi Condensed"/>
                <a:ea typeface="Barlow Semi Condensed"/>
                <a:cs typeface="Barlow Semi Condensed"/>
                <a:sym typeface="Barlow Semi Condensed"/>
              </a:rPr>
              <a:t> It  represent the proportion of the portfolio allocated to each stock and are crucial for calculating overall portfolio returns in each simulation</a:t>
            </a:r>
            <a:endParaRPr>
              <a:solidFill>
                <a:srgbClr val="40566D"/>
              </a:solidFill>
              <a:latin typeface="Barlow Semi Condensed"/>
              <a:ea typeface="Barlow Semi Condensed"/>
              <a:cs typeface="Barlow Semi Condensed"/>
              <a:sym typeface="Barlow Semi Condensed"/>
            </a:endParaRPr>
          </a:p>
          <a:p>
            <a:pPr marL="0" lvl="0" indent="0" algn="l" rtl="0">
              <a:lnSpc>
                <a:spcPct val="90000"/>
              </a:lnSpc>
              <a:spcBef>
                <a:spcPts val="0"/>
              </a:spcBef>
              <a:spcAft>
                <a:spcPts val="0"/>
              </a:spcAft>
              <a:buNone/>
            </a:pPr>
            <a:endParaRPr/>
          </a:p>
        </p:txBody>
      </p:sp>
      <p:grpSp>
        <p:nvGrpSpPr>
          <p:cNvPr id="1943" name="Google Shape;1943;p39"/>
          <p:cNvGrpSpPr/>
          <p:nvPr/>
        </p:nvGrpSpPr>
        <p:grpSpPr>
          <a:xfrm>
            <a:off x="1" y="1646323"/>
            <a:ext cx="2946717" cy="2503386"/>
            <a:chOff x="845850" y="467825"/>
            <a:chExt cx="5996575" cy="4908600"/>
          </a:xfrm>
        </p:grpSpPr>
        <p:sp>
          <p:nvSpPr>
            <p:cNvPr id="1944" name="Google Shape;1944;p39"/>
            <p:cNvSpPr/>
            <p:nvPr/>
          </p:nvSpPr>
          <p:spPr>
            <a:xfrm>
              <a:off x="845850" y="467825"/>
              <a:ext cx="5996575" cy="4814800"/>
            </a:xfrm>
            <a:custGeom>
              <a:avLst/>
              <a:gdLst/>
              <a:ahLst/>
              <a:cxnLst/>
              <a:rect l="l" t="t" r="r" b="b"/>
              <a:pathLst>
                <a:path w="239863" h="192592" extrusionOk="0">
                  <a:moveTo>
                    <a:pt x="147813" y="1"/>
                  </a:moveTo>
                  <a:cubicBezTo>
                    <a:pt x="142156" y="1"/>
                    <a:pt x="136078" y="789"/>
                    <a:pt x="129736" y="2770"/>
                  </a:cubicBezTo>
                  <a:cubicBezTo>
                    <a:pt x="98620" y="12477"/>
                    <a:pt x="86341" y="39929"/>
                    <a:pt x="68918" y="59055"/>
                  </a:cubicBezTo>
                  <a:cubicBezTo>
                    <a:pt x="59821" y="69084"/>
                    <a:pt x="45999" y="73102"/>
                    <a:pt x="35038" y="80945"/>
                  </a:cubicBezTo>
                  <a:cubicBezTo>
                    <a:pt x="1" y="106018"/>
                    <a:pt x="6976" y="159667"/>
                    <a:pt x="35231" y="179114"/>
                  </a:cubicBezTo>
                  <a:cubicBezTo>
                    <a:pt x="48326" y="188144"/>
                    <a:pt x="62992" y="192591"/>
                    <a:pt x="79703" y="192591"/>
                  </a:cubicBezTo>
                  <a:cubicBezTo>
                    <a:pt x="94167" y="192591"/>
                    <a:pt x="110163" y="189259"/>
                    <a:pt x="128000" y="182683"/>
                  </a:cubicBezTo>
                  <a:cubicBezTo>
                    <a:pt x="166445" y="168507"/>
                    <a:pt x="194025" y="159828"/>
                    <a:pt x="216944" y="121962"/>
                  </a:cubicBezTo>
                  <a:cubicBezTo>
                    <a:pt x="239863" y="84063"/>
                    <a:pt x="216108" y="37807"/>
                    <a:pt x="185539" y="11995"/>
                  </a:cubicBezTo>
                  <a:cubicBezTo>
                    <a:pt x="185539" y="11995"/>
                    <a:pt x="169878" y="1"/>
                    <a:pt x="1478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9"/>
            <p:cNvSpPr/>
            <p:nvPr/>
          </p:nvSpPr>
          <p:spPr>
            <a:xfrm>
              <a:off x="1128725" y="467950"/>
              <a:ext cx="5369750" cy="4814475"/>
            </a:xfrm>
            <a:custGeom>
              <a:avLst/>
              <a:gdLst/>
              <a:ahLst/>
              <a:cxnLst/>
              <a:rect l="l" t="t" r="r" b="b"/>
              <a:pathLst>
                <a:path w="214790" h="192579" extrusionOk="0">
                  <a:moveTo>
                    <a:pt x="136486" y="0"/>
                  </a:moveTo>
                  <a:cubicBezTo>
                    <a:pt x="130828" y="0"/>
                    <a:pt x="124753" y="772"/>
                    <a:pt x="118421" y="2765"/>
                  </a:cubicBezTo>
                  <a:cubicBezTo>
                    <a:pt x="98363" y="9033"/>
                    <a:pt x="86148" y="22630"/>
                    <a:pt x="75347" y="36645"/>
                  </a:cubicBezTo>
                  <a:lnTo>
                    <a:pt x="188978" y="36645"/>
                  </a:lnTo>
                  <a:lnTo>
                    <a:pt x="188978" y="143911"/>
                  </a:lnTo>
                  <a:cubicBezTo>
                    <a:pt x="194828" y="137836"/>
                    <a:pt x="200357" y="130668"/>
                    <a:pt x="205629" y="121957"/>
                  </a:cubicBezTo>
                  <a:cubicBezTo>
                    <a:pt x="212025" y="111381"/>
                    <a:pt x="214790" y="100195"/>
                    <a:pt x="214790" y="88944"/>
                  </a:cubicBezTo>
                  <a:cubicBezTo>
                    <a:pt x="214790" y="59886"/>
                    <a:pt x="196275" y="30602"/>
                    <a:pt x="174224" y="11990"/>
                  </a:cubicBezTo>
                  <a:cubicBezTo>
                    <a:pt x="174224" y="11990"/>
                    <a:pt x="158569" y="0"/>
                    <a:pt x="136486" y="0"/>
                  </a:cubicBezTo>
                  <a:close/>
                  <a:moveTo>
                    <a:pt x="26745" y="78915"/>
                  </a:moveTo>
                  <a:cubicBezTo>
                    <a:pt x="25716" y="79558"/>
                    <a:pt x="24720" y="80233"/>
                    <a:pt x="23723" y="80940"/>
                  </a:cubicBezTo>
                  <a:cubicBezTo>
                    <a:pt x="7201" y="92769"/>
                    <a:pt x="33" y="110963"/>
                    <a:pt x="33" y="128932"/>
                  </a:cubicBezTo>
                  <a:cubicBezTo>
                    <a:pt x="0" y="149022"/>
                    <a:pt x="9001" y="168855"/>
                    <a:pt x="23916" y="179109"/>
                  </a:cubicBezTo>
                  <a:cubicBezTo>
                    <a:pt x="36999" y="188142"/>
                    <a:pt x="51689" y="192578"/>
                    <a:pt x="68404" y="192578"/>
                  </a:cubicBezTo>
                  <a:cubicBezTo>
                    <a:pt x="82869" y="192578"/>
                    <a:pt x="98877" y="189267"/>
                    <a:pt x="116685" y="182678"/>
                  </a:cubicBezTo>
                  <a:cubicBezTo>
                    <a:pt x="127678" y="178627"/>
                    <a:pt x="137804" y="175027"/>
                    <a:pt x="147158" y="171041"/>
                  </a:cubicBezTo>
                  <a:lnTo>
                    <a:pt x="26745" y="171041"/>
                  </a:lnTo>
                  <a:lnTo>
                    <a:pt x="26745" y="7891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9"/>
            <p:cNvSpPr/>
            <p:nvPr/>
          </p:nvSpPr>
          <p:spPr>
            <a:xfrm>
              <a:off x="1797325" y="1384075"/>
              <a:ext cx="4055850" cy="3359925"/>
            </a:xfrm>
            <a:custGeom>
              <a:avLst/>
              <a:gdLst/>
              <a:ahLst/>
              <a:cxnLst/>
              <a:rect l="l" t="t" r="r" b="b"/>
              <a:pathLst>
                <a:path w="162234" h="134397" extrusionOk="0">
                  <a:moveTo>
                    <a:pt x="1" y="0"/>
                  </a:moveTo>
                  <a:lnTo>
                    <a:pt x="1" y="134396"/>
                  </a:lnTo>
                  <a:lnTo>
                    <a:pt x="162234" y="134396"/>
                  </a:lnTo>
                  <a:lnTo>
                    <a:pt x="1622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9"/>
            <p:cNvSpPr/>
            <p:nvPr/>
          </p:nvSpPr>
          <p:spPr>
            <a:xfrm>
              <a:off x="1797325" y="1384075"/>
              <a:ext cx="4055850" cy="3359925"/>
            </a:xfrm>
            <a:custGeom>
              <a:avLst/>
              <a:gdLst/>
              <a:ahLst/>
              <a:cxnLst/>
              <a:rect l="l" t="t" r="r" b="b"/>
              <a:pathLst>
                <a:path w="162234" h="134397" extrusionOk="0">
                  <a:moveTo>
                    <a:pt x="1" y="0"/>
                  </a:moveTo>
                  <a:lnTo>
                    <a:pt x="1" y="134396"/>
                  </a:lnTo>
                  <a:lnTo>
                    <a:pt x="162234" y="134396"/>
                  </a:lnTo>
                  <a:lnTo>
                    <a:pt x="1622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9"/>
            <p:cNvSpPr/>
            <p:nvPr/>
          </p:nvSpPr>
          <p:spPr>
            <a:xfrm>
              <a:off x="1895375" y="1994800"/>
              <a:ext cx="3780200" cy="1720575"/>
            </a:xfrm>
            <a:custGeom>
              <a:avLst/>
              <a:gdLst/>
              <a:ahLst/>
              <a:cxnLst/>
              <a:rect l="l" t="t" r="r" b="b"/>
              <a:pathLst>
                <a:path w="151208" h="68823" extrusionOk="0">
                  <a:moveTo>
                    <a:pt x="0" y="1"/>
                  </a:moveTo>
                  <a:lnTo>
                    <a:pt x="0" y="68822"/>
                  </a:lnTo>
                  <a:lnTo>
                    <a:pt x="151208" y="68822"/>
                  </a:lnTo>
                  <a:lnTo>
                    <a:pt x="1512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9"/>
            <p:cNvSpPr/>
            <p:nvPr/>
          </p:nvSpPr>
          <p:spPr>
            <a:xfrm>
              <a:off x="2015100" y="3464625"/>
              <a:ext cx="3521450" cy="6450"/>
            </a:xfrm>
            <a:custGeom>
              <a:avLst/>
              <a:gdLst/>
              <a:ahLst/>
              <a:cxnLst/>
              <a:rect l="l" t="t" r="r" b="b"/>
              <a:pathLst>
                <a:path w="140858" h="258" extrusionOk="0">
                  <a:moveTo>
                    <a:pt x="1" y="0"/>
                  </a:moveTo>
                  <a:lnTo>
                    <a:pt x="1" y="257"/>
                  </a:lnTo>
                  <a:lnTo>
                    <a:pt x="140858" y="257"/>
                  </a:lnTo>
                  <a:lnTo>
                    <a:pt x="140858"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9"/>
            <p:cNvSpPr/>
            <p:nvPr/>
          </p:nvSpPr>
          <p:spPr>
            <a:xfrm>
              <a:off x="2011900" y="3433275"/>
              <a:ext cx="6450" cy="34575"/>
            </a:xfrm>
            <a:custGeom>
              <a:avLst/>
              <a:gdLst/>
              <a:ahLst/>
              <a:cxnLst/>
              <a:rect l="l" t="t" r="r" b="b"/>
              <a:pathLst>
                <a:path w="258" h="1383" extrusionOk="0">
                  <a:moveTo>
                    <a:pt x="0" y="1"/>
                  </a:moveTo>
                  <a:lnTo>
                    <a:pt x="0" y="1383"/>
                  </a:lnTo>
                  <a:lnTo>
                    <a:pt x="257" y="1383"/>
                  </a:lnTo>
                  <a:lnTo>
                    <a:pt x="257"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9"/>
            <p:cNvSpPr/>
            <p:nvPr/>
          </p:nvSpPr>
          <p:spPr>
            <a:xfrm>
              <a:off x="2196725" y="3433275"/>
              <a:ext cx="7250" cy="34575"/>
            </a:xfrm>
            <a:custGeom>
              <a:avLst/>
              <a:gdLst/>
              <a:ahLst/>
              <a:cxnLst/>
              <a:rect l="l" t="t" r="r" b="b"/>
              <a:pathLst>
                <a:path w="290" h="1383" extrusionOk="0">
                  <a:moveTo>
                    <a:pt x="0" y="1"/>
                  </a:moveTo>
                  <a:lnTo>
                    <a:pt x="0"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9"/>
            <p:cNvSpPr/>
            <p:nvPr/>
          </p:nvSpPr>
          <p:spPr>
            <a:xfrm>
              <a:off x="2382350" y="3433275"/>
              <a:ext cx="6475" cy="34575"/>
            </a:xfrm>
            <a:custGeom>
              <a:avLst/>
              <a:gdLst/>
              <a:ahLst/>
              <a:cxnLst/>
              <a:rect l="l" t="t" r="r" b="b"/>
              <a:pathLst>
                <a:path w="259"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9"/>
            <p:cNvSpPr/>
            <p:nvPr/>
          </p:nvSpPr>
          <p:spPr>
            <a:xfrm>
              <a:off x="2568000" y="3433275"/>
              <a:ext cx="6450" cy="34575"/>
            </a:xfrm>
            <a:custGeom>
              <a:avLst/>
              <a:gdLst/>
              <a:ahLst/>
              <a:cxnLst/>
              <a:rect l="l" t="t" r="r" b="b"/>
              <a:pathLst>
                <a:path w="258" h="1383" extrusionOk="0">
                  <a:moveTo>
                    <a:pt x="0" y="1"/>
                  </a:moveTo>
                  <a:lnTo>
                    <a:pt x="0" y="1383"/>
                  </a:lnTo>
                  <a:lnTo>
                    <a:pt x="257" y="1383"/>
                  </a:lnTo>
                  <a:lnTo>
                    <a:pt x="257"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9"/>
            <p:cNvSpPr/>
            <p:nvPr/>
          </p:nvSpPr>
          <p:spPr>
            <a:xfrm>
              <a:off x="27528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9"/>
            <p:cNvSpPr/>
            <p:nvPr/>
          </p:nvSpPr>
          <p:spPr>
            <a:xfrm>
              <a:off x="2938450" y="3433275"/>
              <a:ext cx="6450" cy="34575"/>
            </a:xfrm>
            <a:custGeom>
              <a:avLst/>
              <a:gdLst/>
              <a:ahLst/>
              <a:cxnLst/>
              <a:rect l="l" t="t" r="r" b="b"/>
              <a:pathLst>
                <a:path w="258"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9"/>
            <p:cNvSpPr/>
            <p:nvPr/>
          </p:nvSpPr>
          <p:spPr>
            <a:xfrm>
              <a:off x="3123300" y="3433275"/>
              <a:ext cx="7250" cy="34575"/>
            </a:xfrm>
            <a:custGeom>
              <a:avLst/>
              <a:gdLst/>
              <a:ahLst/>
              <a:cxnLst/>
              <a:rect l="l" t="t" r="r" b="b"/>
              <a:pathLst>
                <a:path w="290" h="1383" extrusionOk="0">
                  <a:moveTo>
                    <a:pt x="0" y="1"/>
                  </a:moveTo>
                  <a:lnTo>
                    <a:pt x="0" y="1383"/>
                  </a:lnTo>
                  <a:lnTo>
                    <a:pt x="289" y="1383"/>
                  </a:lnTo>
                  <a:lnTo>
                    <a:pt x="289"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9"/>
            <p:cNvSpPr/>
            <p:nvPr/>
          </p:nvSpPr>
          <p:spPr>
            <a:xfrm>
              <a:off x="33089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9"/>
            <p:cNvSpPr/>
            <p:nvPr/>
          </p:nvSpPr>
          <p:spPr>
            <a:xfrm>
              <a:off x="3494550" y="3433275"/>
              <a:ext cx="6450" cy="34575"/>
            </a:xfrm>
            <a:custGeom>
              <a:avLst/>
              <a:gdLst/>
              <a:ahLst/>
              <a:cxnLst/>
              <a:rect l="l" t="t" r="r" b="b"/>
              <a:pathLst>
                <a:path w="258"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9"/>
            <p:cNvSpPr/>
            <p:nvPr/>
          </p:nvSpPr>
          <p:spPr>
            <a:xfrm>
              <a:off x="3679400" y="3433275"/>
              <a:ext cx="7250" cy="34575"/>
            </a:xfrm>
            <a:custGeom>
              <a:avLst/>
              <a:gdLst/>
              <a:ahLst/>
              <a:cxnLst/>
              <a:rect l="l" t="t" r="r" b="b"/>
              <a:pathLst>
                <a:path w="290" h="1383" extrusionOk="0">
                  <a:moveTo>
                    <a:pt x="0" y="1"/>
                  </a:moveTo>
                  <a:lnTo>
                    <a:pt x="0" y="1383"/>
                  </a:lnTo>
                  <a:lnTo>
                    <a:pt x="289" y="1383"/>
                  </a:lnTo>
                  <a:lnTo>
                    <a:pt x="289"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9"/>
            <p:cNvSpPr/>
            <p:nvPr/>
          </p:nvSpPr>
          <p:spPr>
            <a:xfrm>
              <a:off x="38650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9"/>
            <p:cNvSpPr/>
            <p:nvPr/>
          </p:nvSpPr>
          <p:spPr>
            <a:xfrm>
              <a:off x="4049850" y="3433275"/>
              <a:ext cx="7250" cy="34575"/>
            </a:xfrm>
            <a:custGeom>
              <a:avLst/>
              <a:gdLst/>
              <a:ahLst/>
              <a:cxnLst/>
              <a:rect l="l" t="t" r="r" b="b"/>
              <a:pathLst>
                <a:path w="290" h="1383" extrusionOk="0">
                  <a:moveTo>
                    <a:pt x="1" y="1"/>
                  </a:moveTo>
                  <a:lnTo>
                    <a:pt x="1"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9"/>
            <p:cNvSpPr/>
            <p:nvPr/>
          </p:nvSpPr>
          <p:spPr>
            <a:xfrm>
              <a:off x="4235500" y="3433275"/>
              <a:ext cx="6450" cy="34575"/>
            </a:xfrm>
            <a:custGeom>
              <a:avLst/>
              <a:gdLst/>
              <a:ahLst/>
              <a:cxnLst/>
              <a:rect l="l" t="t" r="r" b="b"/>
              <a:pathLst>
                <a:path w="258" h="1383" extrusionOk="0">
                  <a:moveTo>
                    <a:pt x="0" y="1"/>
                  </a:moveTo>
                  <a:lnTo>
                    <a:pt x="0" y="1383"/>
                  </a:lnTo>
                  <a:lnTo>
                    <a:pt x="257" y="1383"/>
                  </a:lnTo>
                  <a:lnTo>
                    <a:pt x="257"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9"/>
            <p:cNvSpPr/>
            <p:nvPr/>
          </p:nvSpPr>
          <p:spPr>
            <a:xfrm>
              <a:off x="44211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9"/>
            <p:cNvSpPr/>
            <p:nvPr/>
          </p:nvSpPr>
          <p:spPr>
            <a:xfrm>
              <a:off x="4605950" y="3433275"/>
              <a:ext cx="7250" cy="34575"/>
            </a:xfrm>
            <a:custGeom>
              <a:avLst/>
              <a:gdLst/>
              <a:ahLst/>
              <a:cxnLst/>
              <a:rect l="l" t="t" r="r" b="b"/>
              <a:pathLst>
                <a:path w="290" h="1383" extrusionOk="0">
                  <a:moveTo>
                    <a:pt x="1" y="1"/>
                  </a:moveTo>
                  <a:lnTo>
                    <a:pt x="1"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9"/>
            <p:cNvSpPr/>
            <p:nvPr/>
          </p:nvSpPr>
          <p:spPr>
            <a:xfrm>
              <a:off x="4791575" y="3433275"/>
              <a:ext cx="6475" cy="34575"/>
            </a:xfrm>
            <a:custGeom>
              <a:avLst/>
              <a:gdLst/>
              <a:ahLst/>
              <a:cxnLst/>
              <a:rect l="l" t="t" r="r" b="b"/>
              <a:pathLst>
                <a:path w="259"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9"/>
            <p:cNvSpPr/>
            <p:nvPr/>
          </p:nvSpPr>
          <p:spPr>
            <a:xfrm>
              <a:off x="49772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9"/>
            <p:cNvSpPr/>
            <p:nvPr/>
          </p:nvSpPr>
          <p:spPr>
            <a:xfrm>
              <a:off x="5162050" y="3433275"/>
              <a:ext cx="7250" cy="34575"/>
            </a:xfrm>
            <a:custGeom>
              <a:avLst/>
              <a:gdLst/>
              <a:ahLst/>
              <a:cxnLst/>
              <a:rect l="l" t="t" r="r" b="b"/>
              <a:pathLst>
                <a:path w="290" h="1383" extrusionOk="0">
                  <a:moveTo>
                    <a:pt x="1" y="1"/>
                  </a:moveTo>
                  <a:lnTo>
                    <a:pt x="1"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9"/>
            <p:cNvSpPr/>
            <p:nvPr/>
          </p:nvSpPr>
          <p:spPr>
            <a:xfrm>
              <a:off x="5347675" y="3433275"/>
              <a:ext cx="6475" cy="34575"/>
            </a:xfrm>
            <a:custGeom>
              <a:avLst/>
              <a:gdLst/>
              <a:ahLst/>
              <a:cxnLst/>
              <a:rect l="l" t="t" r="r" b="b"/>
              <a:pathLst>
                <a:path w="259"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9"/>
            <p:cNvSpPr/>
            <p:nvPr/>
          </p:nvSpPr>
          <p:spPr>
            <a:xfrm>
              <a:off x="5532525" y="3433275"/>
              <a:ext cx="7250" cy="34575"/>
            </a:xfrm>
            <a:custGeom>
              <a:avLst/>
              <a:gdLst/>
              <a:ahLst/>
              <a:cxnLst/>
              <a:rect l="l" t="t" r="r" b="b"/>
              <a:pathLst>
                <a:path w="290" h="1383" extrusionOk="0">
                  <a:moveTo>
                    <a:pt x="0" y="1"/>
                  </a:moveTo>
                  <a:lnTo>
                    <a:pt x="0" y="1383"/>
                  </a:lnTo>
                  <a:lnTo>
                    <a:pt x="289" y="1383"/>
                  </a:lnTo>
                  <a:lnTo>
                    <a:pt x="289"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9"/>
            <p:cNvSpPr/>
            <p:nvPr/>
          </p:nvSpPr>
          <p:spPr>
            <a:xfrm>
              <a:off x="2011900" y="2086425"/>
              <a:ext cx="6450" cy="1381425"/>
            </a:xfrm>
            <a:custGeom>
              <a:avLst/>
              <a:gdLst/>
              <a:ahLst/>
              <a:cxnLst/>
              <a:rect l="l" t="t" r="r" b="b"/>
              <a:pathLst>
                <a:path w="258" h="55257" extrusionOk="0">
                  <a:moveTo>
                    <a:pt x="0" y="0"/>
                  </a:moveTo>
                  <a:lnTo>
                    <a:pt x="0" y="55257"/>
                  </a:lnTo>
                  <a:lnTo>
                    <a:pt x="257" y="55257"/>
                  </a:lnTo>
                  <a:lnTo>
                    <a:pt x="257"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9"/>
            <p:cNvSpPr/>
            <p:nvPr/>
          </p:nvSpPr>
          <p:spPr>
            <a:xfrm>
              <a:off x="2015100" y="3464625"/>
              <a:ext cx="87625" cy="6450"/>
            </a:xfrm>
            <a:custGeom>
              <a:avLst/>
              <a:gdLst/>
              <a:ahLst/>
              <a:cxnLst/>
              <a:rect l="l" t="t" r="r" b="b"/>
              <a:pathLst>
                <a:path w="3505" h="258" extrusionOk="0">
                  <a:moveTo>
                    <a:pt x="1" y="0"/>
                  </a:moveTo>
                  <a:lnTo>
                    <a:pt x="1" y="257"/>
                  </a:lnTo>
                  <a:lnTo>
                    <a:pt x="3505" y="257"/>
                  </a:lnTo>
                  <a:lnTo>
                    <a:pt x="3505"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9"/>
            <p:cNvSpPr/>
            <p:nvPr/>
          </p:nvSpPr>
          <p:spPr>
            <a:xfrm>
              <a:off x="1917875" y="3188175"/>
              <a:ext cx="97250" cy="6450"/>
            </a:xfrm>
            <a:custGeom>
              <a:avLst/>
              <a:gdLst/>
              <a:ahLst/>
              <a:cxnLst/>
              <a:rect l="l" t="t" r="r" b="b"/>
              <a:pathLst>
                <a:path w="3890" h="258" extrusionOk="0">
                  <a:moveTo>
                    <a:pt x="0" y="0"/>
                  </a:moveTo>
                  <a:lnTo>
                    <a:pt x="0" y="258"/>
                  </a:lnTo>
                  <a:lnTo>
                    <a:pt x="3890" y="258"/>
                  </a:lnTo>
                  <a:lnTo>
                    <a:pt x="3890"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9"/>
            <p:cNvSpPr/>
            <p:nvPr/>
          </p:nvSpPr>
          <p:spPr>
            <a:xfrm>
              <a:off x="1917875" y="2911725"/>
              <a:ext cx="97250" cy="7275"/>
            </a:xfrm>
            <a:custGeom>
              <a:avLst/>
              <a:gdLst/>
              <a:ahLst/>
              <a:cxnLst/>
              <a:rect l="l" t="t" r="r" b="b"/>
              <a:pathLst>
                <a:path w="3890" h="291" extrusionOk="0">
                  <a:moveTo>
                    <a:pt x="0" y="1"/>
                  </a:moveTo>
                  <a:lnTo>
                    <a:pt x="0" y="290"/>
                  </a:lnTo>
                  <a:lnTo>
                    <a:pt x="3890" y="290"/>
                  </a:lnTo>
                  <a:lnTo>
                    <a:pt x="38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9"/>
            <p:cNvSpPr/>
            <p:nvPr/>
          </p:nvSpPr>
          <p:spPr>
            <a:xfrm>
              <a:off x="1917875" y="2636100"/>
              <a:ext cx="97250" cy="6450"/>
            </a:xfrm>
            <a:custGeom>
              <a:avLst/>
              <a:gdLst/>
              <a:ahLst/>
              <a:cxnLst/>
              <a:rect l="l" t="t" r="r" b="b"/>
              <a:pathLst>
                <a:path w="3890" h="258" extrusionOk="0">
                  <a:moveTo>
                    <a:pt x="0" y="0"/>
                  </a:moveTo>
                  <a:lnTo>
                    <a:pt x="0" y="257"/>
                  </a:lnTo>
                  <a:lnTo>
                    <a:pt x="3890" y="257"/>
                  </a:lnTo>
                  <a:lnTo>
                    <a:pt x="3890"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9"/>
            <p:cNvSpPr/>
            <p:nvPr/>
          </p:nvSpPr>
          <p:spPr>
            <a:xfrm>
              <a:off x="1917875" y="2359650"/>
              <a:ext cx="97250" cy="6450"/>
            </a:xfrm>
            <a:custGeom>
              <a:avLst/>
              <a:gdLst/>
              <a:ahLst/>
              <a:cxnLst/>
              <a:rect l="l" t="t" r="r" b="b"/>
              <a:pathLst>
                <a:path w="3890" h="258" extrusionOk="0">
                  <a:moveTo>
                    <a:pt x="0" y="0"/>
                  </a:moveTo>
                  <a:lnTo>
                    <a:pt x="0" y="258"/>
                  </a:lnTo>
                  <a:lnTo>
                    <a:pt x="3890" y="258"/>
                  </a:lnTo>
                  <a:lnTo>
                    <a:pt x="3890"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9"/>
            <p:cNvSpPr/>
            <p:nvPr/>
          </p:nvSpPr>
          <p:spPr>
            <a:xfrm>
              <a:off x="1917875" y="2083200"/>
              <a:ext cx="97250" cy="6450"/>
            </a:xfrm>
            <a:custGeom>
              <a:avLst/>
              <a:gdLst/>
              <a:ahLst/>
              <a:cxnLst/>
              <a:rect l="l" t="t" r="r" b="b"/>
              <a:pathLst>
                <a:path w="3890" h="258" extrusionOk="0">
                  <a:moveTo>
                    <a:pt x="0" y="1"/>
                  </a:moveTo>
                  <a:lnTo>
                    <a:pt x="0" y="258"/>
                  </a:lnTo>
                  <a:lnTo>
                    <a:pt x="3890" y="258"/>
                  </a:lnTo>
                  <a:lnTo>
                    <a:pt x="38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9"/>
            <p:cNvSpPr/>
            <p:nvPr/>
          </p:nvSpPr>
          <p:spPr>
            <a:xfrm>
              <a:off x="2093050" y="2349650"/>
              <a:ext cx="214600" cy="855725"/>
            </a:xfrm>
            <a:custGeom>
              <a:avLst/>
              <a:gdLst/>
              <a:ahLst/>
              <a:cxnLst/>
              <a:rect l="l" t="t" r="r" b="b"/>
              <a:pathLst>
                <a:path w="8584" h="34229" extrusionOk="0">
                  <a:moveTo>
                    <a:pt x="7976" y="1"/>
                  </a:moveTo>
                  <a:cubicBezTo>
                    <a:pt x="7740" y="1"/>
                    <a:pt x="7541" y="154"/>
                    <a:pt x="7458" y="400"/>
                  </a:cubicBezTo>
                  <a:lnTo>
                    <a:pt x="65" y="33574"/>
                  </a:lnTo>
                  <a:cubicBezTo>
                    <a:pt x="1" y="33863"/>
                    <a:pt x="194" y="34152"/>
                    <a:pt x="483" y="34217"/>
                  </a:cubicBezTo>
                  <a:cubicBezTo>
                    <a:pt x="517" y="34225"/>
                    <a:pt x="551" y="34229"/>
                    <a:pt x="585" y="34229"/>
                  </a:cubicBezTo>
                  <a:cubicBezTo>
                    <a:pt x="812" y="34229"/>
                    <a:pt x="1038" y="34050"/>
                    <a:pt x="1094" y="33799"/>
                  </a:cubicBezTo>
                  <a:lnTo>
                    <a:pt x="8519" y="658"/>
                  </a:lnTo>
                  <a:cubicBezTo>
                    <a:pt x="8583" y="368"/>
                    <a:pt x="8391" y="79"/>
                    <a:pt x="8101" y="15"/>
                  </a:cubicBezTo>
                  <a:cubicBezTo>
                    <a:pt x="8059" y="5"/>
                    <a:pt x="8017" y="1"/>
                    <a:pt x="79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9"/>
            <p:cNvSpPr/>
            <p:nvPr/>
          </p:nvSpPr>
          <p:spPr>
            <a:xfrm>
              <a:off x="2277900" y="2349575"/>
              <a:ext cx="215375" cy="496275"/>
            </a:xfrm>
            <a:custGeom>
              <a:avLst/>
              <a:gdLst/>
              <a:ahLst/>
              <a:cxnLst/>
              <a:rect l="l" t="t" r="r" b="b"/>
              <a:pathLst>
                <a:path w="8615" h="19851" extrusionOk="0">
                  <a:moveTo>
                    <a:pt x="629" y="0"/>
                  </a:moveTo>
                  <a:cubicBezTo>
                    <a:pt x="558" y="0"/>
                    <a:pt x="486" y="16"/>
                    <a:pt x="418" y="50"/>
                  </a:cubicBezTo>
                  <a:cubicBezTo>
                    <a:pt x="129" y="146"/>
                    <a:pt x="0" y="468"/>
                    <a:pt x="97" y="725"/>
                  </a:cubicBezTo>
                  <a:lnTo>
                    <a:pt x="7522" y="19529"/>
                  </a:lnTo>
                  <a:cubicBezTo>
                    <a:pt x="7597" y="19729"/>
                    <a:pt x="7806" y="19851"/>
                    <a:pt x="8017" y="19851"/>
                  </a:cubicBezTo>
                  <a:cubicBezTo>
                    <a:pt x="8078" y="19851"/>
                    <a:pt x="8139" y="19840"/>
                    <a:pt x="8197" y="19819"/>
                  </a:cubicBezTo>
                  <a:cubicBezTo>
                    <a:pt x="8486" y="19722"/>
                    <a:pt x="8615" y="19401"/>
                    <a:pt x="8518" y="19112"/>
                  </a:cubicBezTo>
                  <a:lnTo>
                    <a:pt x="1093" y="339"/>
                  </a:lnTo>
                  <a:cubicBezTo>
                    <a:pt x="1022" y="126"/>
                    <a:pt x="829" y="0"/>
                    <a:pt x="6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9"/>
            <p:cNvSpPr/>
            <p:nvPr/>
          </p:nvSpPr>
          <p:spPr>
            <a:xfrm>
              <a:off x="2463525" y="2625750"/>
              <a:ext cx="214600" cy="220300"/>
            </a:xfrm>
            <a:custGeom>
              <a:avLst/>
              <a:gdLst/>
              <a:ahLst/>
              <a:cxnLst/>
              <a:rect l="l" t="t" r="r" b="b"/>
              <a:pathLst>
                <a:path w="8584" h="8812" extrusionOk="0">
                  <a:moveTo>
                    <a:pt x="8009" y="0"/>
                  </a:moveTo>
                  <a:cubicBezTo>
                    <a:pt x="7862" y="0"/>
                    <a:pt x="7719" y="57"/>
                    <a:pt x="7619" y="157"/>
                  </a:cubicBezTo>
                  <a:lnTo>
                    <a:pt x="193" y="7904"/>
                  </a:lnTo>
                  <a:cubicBezTo>
                    <a:pt x="0" y="8129"/>
                    <a:pt x="0" y="8450"/>
                    <a:pt x="225" y="8643"/>
                  </a:cubicBezTo>
                  <a:cubicBezTo>
                    <a:pt x="322" y="8756"/>
                    <a:pt x="459" y="8812"/>
                    <a:pt x="595" y="8812"/>
                  </a:cubicBezTo>
                  <a:cubicBezTo>
                    <a:pt x="732" y="8812"/>
                    <a:pt x="868" y="8756"/>
                    <a:pt x="965" y="8643"/>
                  </a:cubicBezTo>
                  <a:lnTo>
                    <a:pt x="8390" y="896"/>
                  </a:lnTo>
                  <a:cubicBezTo>
                    <a:pt x="8583" y="703"/>
                    <a:pt x="8583" y="350"/>
                    <a:pt x="8390" y="157"/>
                  </a:cubicBezTo>
                  <a:cubicBezTo>
                    <a:pt x="8282" y="49"/>
                    <a:pt x="8144" y="0"/>
                    <a:pt x="80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9"/>
            <p:cNvSpPr/>
            <p:nvPr/>
          </p:nvSpPr>
          <p:spPr>
            <a:xfrm>
              <a:off x="2648350" y="2625650"/>
              <a:ext cx="215400" cy="523975"/>
            </a:xfrm>
            <a:custGeom>
              <a:avLst/>
              <a:gdLst/>
              <a:ahLst/>
              <a:cxnLst/>
              <a:rect l="l" t="t" r="r" b="b"/>
              <a:pathLst>
                <a:path w="8616" h="20959" extrusionOk="0">
                  <a:moveTo>
                    <a:pt x="609" y="1"/>
                  </a:moveTo>
                  <a:cubicBezTo>
                    <a:pt x="547" y="1"/>
                    <a:pt x="483" y="11"/>
                    <a:pt x="419" y="32"/>
                  </a:cubicBezTo>
                  <a:cubicBezTo>
                    <a:pt x="161" y="129"/>
                    <a:pt x="1" y="450"/>
                    <a:pt x="97" y="740"/>
                  </a:cubicBezTo>
                  <a:lnTo>
                    <a:pt x="7522" y="20605"/>
                  </a:lnTo>
                  <a:cubicBezTo>
                    <a:pt x="7598" y="20830"/>
                    <a:pt x="7809" y="20958"/>
                    <a:pt x="8020" y="20958"/>
                  </a:cubicBezTo>
                  <a:cubicBezTo>
                    <a:pt x="8081" y="20958"/>
                    <a:pt x="8141" y="20948"/>
                    <a:pt x="8198" y="20926"/>
                  </a:cubicBezTo>
                  <a:cubicBezTo>
                    <a:pt x="8487" y="20830"/>
                    <a:pt x="8615" y="20509"/>
                    <a:pt x="8519" y="20251"/>
                  </a:cubicBezTo>
                  <a:lnTo>
                    <a:pt x="1126" y="354"/>
                  </a:lnTo>
                  <a:cubicBezTo>
                    <a:pt x="1026" y="129"/>
                    <a:pt x="828" y="1"/>
                    <a:pt x="6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9"/>
            <p:cNvSpPr/>
            <p:nvPr/>
          </p:nvSpPr>
          <p:spPr>
            <a:xfrm>
              <a:off x="2834000" y="2349650"/>
              <a:ext cx="215375" cy="800275"/>
            </a:xfrm>
            <a:custGeom>
              <a:avLst/>
              <a:gdLst/>
              <a:ahLst/>
              <a:cxnLst/>
              <a:rect l="l" t="t" r="r" b="b"/>
              <a:pathLst>
                <a:path w="8615" h="32011" extrusionOk="0">
                  <a:moveTo>
                    <a:pt x="8005" y="1"/>
                  </a:moveTo>
                  <a:cubicBezTo>
                    <a:pt x="7763" y="1"/>
                    <a:pt x="7545" y="154"/>
                    <a:pt x="7490" y="400"/>
                  </a:cubicBezTo>
                  <a:lnTo>
                    <a:pt x="64" y="31356"/>
                  </a:lnTo>
                  <a:cubicBezTo>
                    <a:pt x="0" y="31645"/>
                    <a:pt x="193" y="31934"/>
                    <a:pt x="482" y="31999"/>
                  </a:cubicBezTo>
                  <a:cubicBezTo>
                    <a:pt x="520" y="32007"/>
                    <a:pt x="558" y="32011"/>
                    <a:pt x="595" y="32011"/>
                  </a:cubicBezTo>
                  <a:cubicBezTo>
                    <a:pt x="843" y="32011"/>
                    <a:pt x="1069" y="31832"/>
                    <a:pt x="1125" y="31581"/>
                  </a:cubicBezTo>
                  <a:lnTo>
                    <a:pt x="8518" y="658"/>
                  </a:lnTo>
                  <a:cubicBezTo>
                    <a:pt x="8615" y="368"/>
                    <a:pt x="8422" y="79"/>
                    <a:pt x="8133" y="15"/>
                  </a:cubicBezTo>
                  <a:cubicBezTo>
                    <a:pt x="8090" y="5"/>
                    <a:pt x="8047" y="1"/>
                    <a:pt x="8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9"/>
            <p:cNvSpPr/>
            <p:nvPr/>
          </p:nvSpPr>
          <p:spPr>
            <a:xfrm>
              <a:off x="3018825" y="2072975"/>
              <a:ext cx="216200" cy="303350"/>
            </a:xfrm>
            <a:custGeom>
              <a:avLst/>
              <a:gdLst/>
              <a:ahLst/>
              <a:cxnLst/>
              <a:rect l="l" t="t" r="r" b="b"/>
              <a:pathLst>
                <a:path w="8648" h="12134" extrusionOk="0">
                  <a:moveTo>
                    <a:pt x="8042" y="1"/>
                  </a:moveTo>
                  <a:cubicBezTo>
                    <a:pt x="7867" y="1"/>
                    <a:pt x="7688" y="86"/>
                    <a:pt x="7586" y="249"/>
                  </a:cubicBezTo>
                  <a:lnTo>
                    <a:pt x="161" y="11307"/>
                  </a:lnTo>
                  <a:cubicBezTo>
                    <a:pt x="0" y="11532"/>
                    <a:pt x="65" y="11885"/>
                    <a:pt x="322" y="12046"/>
                  </a:cubicBezTo>
                  <a:cubicBezTo>
                    <a:pt x="416" y="12105"/>
                    <a:pt x="519" y="12134"/>
                    <a:pt x="619" y="12134"/>
                  </a:cubicBezTo>
                  <a:cubicBezTo>
                    <a:pt x="793" y="12134"/>
                    <a:pt x="959" y="12048"/>
                    <a:pt x="1061" y="11885"/>
                  </a:cubicBezTo>
                  <a:lnTo>
                    <a:pt x="8486" y="860"/>
                  </a:lnTo>
                  <a:cubicBezTo>
                    <a:pt x="8647" y="603"/>
                    <a:pt x="8583" y="281"/>
                    <a:pt x="8326" y="88"/>
                  </a:cubicBezTo>
                  <a:cubicBezTo>
                    <a:pt x="8243" y="29"/>
                    <a:pt x="8143" y="1"/>
                    <a:pt x="80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9"/>
            <p:cNvSpPr/>
            <p:nvPr/>
          </p:nvSpPr>
          <p:spPr>
            <a:xfrm>
              <a:off x="3205250" y="2073275"/>
              <a:ext cx="213800" cy="1270100"/>
            </a:xfrm>
            <a:custGeom>
              <a:avLst/>
              <a:gdLst/>
              <a:ahLst/>
              <a:cxnLst/>
              <a:rect l="l" t="t" r="r" b="b"/>
              <a:pathLst>
                <a:path w="8552" h="50804" extrusionOk="0">
                  <a:moveTo>
                    <a:pt x="592" y="1"/>
                  </a:moveTo>
                  <a:cubicBezTo>
                    <a:pt x="557" y="1"/>
                    <a:pt x="520" y="5"/>
                    <a:pt x="483" y="12"/>
                  </a:cubicBezTo>
                  <a:cubicBezTo>
                    <a:pt x="194" y="44"/>
                    <a:pt x="1" y="333"/>
                    <a:pt x="33" y="623"/>
                  </a:cubicBezTo>
                  <a:lnTo>
                    <a:pt x="7458" y="50350"/>
                  </a:lnTo>
                  <a:cubicBezTo>
                    <a:pt x="7488" y="50619"/>
                    <a:pt x="7739" y="50804"/>
                    <a:pt x="8006" y="50804"/>
                  </a:cubicBezTo>
                  <a:cubicBezTo>
                    <a:pt x="8027" y="50804"/>
                    <a:pt x="8048" y="50803"/>
                    <a:pt x="8069" y="50800"/>
                  </a:cubicBezTo>
                  <a:cubicBezTo>
                    <a:pt x="8358" y="50736"/>
                    <a:pt x="8551" y="50479"/>
                    <a:pt x="8519" y="50190"/>
                  </a:cubicBezTo>
                  <a:lnTo>
                    <a:pt x="1094" y="462"/>
                  </a:lnTo>
                  <a:cubicBezTo>
                    <a:pt x="1065" y="206"/>
                    <a:pt x="861" y="1"/>
                    <a:pt x="5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9"/>
            <p:cNvSpPr/>
            <p:nvPr/>
          </p:nvSpPr>
          <p:spPr>
            <a:xfrm>
              <a:off x="3390100" y="3233525"/>
              <a:ext cx="215375" cy="109425"/>
            </a:xfrm>
            <a:custGeom>
              <a:avLst/>
              <a:gdLst/>
              <a:ahLst/>
              <a:cxnLst/>
              <a:rect l="l" t="t" r="r" b="b"/>
              <a:pathLst>
                <a:path w="8615" h="4377" extrusionOk="0">
                  <a:moveTo>
                    <a:pt x="8014" y="0"/>
                  </a:moveTo>
                  <a:cubicBezTo>
                    <a:pt x="7936" y="0"/>
                    <a:pt x="7857" y="16"/>
                    <a:pt x="7779" y="51"/>
                  </a:cubicBezTo>
                  <a:lnTo>
                    <a:pt x="386" y="3362"/>
                  </a:lnTo>
                  <a:cubicBezTo>
                    <a:pt x="96" y="3490"/>
                    <a:pt x="0" y="3812"/>
                    <a:pt x="96" y="4069"/>
                  </a:cubicBezTo>
                  <a:cubicBezTo>
                    <a:pt x="191" y="4257"/>
                    <a:pt x="388" y="4377"/>
                    <a:pt x="588" y="4377"/>
                  </a:cubicBezTo>
                  <a:cubicBezTo>
                    <a:pt x="661" y="4377"/>
                    <a:pt x="735" y="4361"/>
                    <a:pt x="804" y="4326"/>
                  </a:cubicBezTo>
                  <a:lnTo>
                    <a:pt x="8229" y="1015"/>
                  </a:lnTo>
                  <a:cubicBezTo>
                    <a:pt x="8486" y="887"/>
                    <a:pt x="8615" y="597"/>
                    <a:pt x="8486" y="308"/>
                  </a:cubicBezTo>
                  <a:cubicBezTo>
                    <a:pt x="8416" y="120"/>
                    <a:pt x="8224" y="0"/>
                    <a:pt x="80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9"/>
            <p:cNvSpPr/>
            <p:nvPr/>
          </p:nvSpPr>
          <p:spPr>
            <a:xfrm>
              <a:off x="3575725" y="3205775"/>
              <a:ext cx="214575" cy="54250"/>
            </a:xfrm>
            <a:custGeom>
              <a:avLst/>
              <a:gdLst/>
              <a:ahLst/>
              <a:cxnLst/>
              <a:rect l="l" t="t" r="r" b="b"/>
              <a:pathLst>
                <a:path w="8583" h="2170" extrusionOk="0">
                  <a:moveTo>
                    <a:pt x="7971" y="0"/>
                  </a:moveTo>
                  <a:cubicBezTo>
                    <a:pt x="7950" y="0"/>
                    <a:pt x="7929" y="1"/>
                    <a:pt x="7908" y="4"/>
                  </a:cubicBezTo>
                  <a:lnTo>
                    <a:pt x="515" y="1129"/>
                  </a:lnTo>
                  <a:cubicBezTo>
                    <a:pt x="225" y="1161"/>
                    <a:pt x="0" y="1418"/>
                    <a:pt x="65" y="1707"/>
                  </a:cubicBezTo>
                  <a:cubicBezTo>
                    <a:pt x="93" y="1987"/>
                    <a:pt x="291" y="2170"/>
                    <a:pt x="554" y="2170"/>
                  </a:cubicBezTo>
                  <a:cubicBezTo>
                    <a:pt x="593" y="2170"/>
                    <a:pt x="634" y="2166"/>
                    <a:pt x="675" y="2157"/>
                  </a:cubicBezTo>
                  <a:lnTo>
                    <a:pt x="8069" y="1064"/>
                  </a:lnTo>
                  <a:cubicBezTo>
                    <a:pt x="8358" y="1032"/>
                    <a:pt x="8583" y="743"/>
                    <a:pt x="8519" y="454"/>
                  </a:cubicBezTo>
                  <a:cubicBezTo>
                    <a:pt x="8489" y="185"/>
                    <a:pt x="8238" y="0"/>
                    <a:pt x="79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9"/>
            <p:cNvSpPr/>
            <p:nvPr/>
          </p:nvSpPr>
          <p:spPr>
            <a:xfrm>
              <a:off x="3760550" y="3122975"/>
              <a:ext cx="215400" cy="109875"/>
            </a:xfrm>
            <a:custGeom>
              <a:avLst/>
              <a:gdLst/>
              <a:ahLst/>
              <a:cxnLst/>
              <a:rect l="l" t="t" r="r" b="b"/>
              <a:pathLst>
                <a:path w="8616" h="4395" extrusionOk="0">
                  <a:moveTo>
                    <a:pt x="8013" y="1"/>
                  </a:moveTo>
                  <a:cubicBezTo>
                    <a:pt x="7944" y="1"/>
                    <a:pt x="7876" y="13"/>
                    <a:pt x="7812" y="37"/>
                  </a:cubicBezTo>
                  <a:lnTo>
                    <a:pt x="386" y="3348"/>
                  </a:lnTo>
                  <a:cubicBezTo>
                    <a:pt x="129" y="3476"/>
                    <a:pt x="1" y="3798"/>
                    <a:pt x="129" y="4055"/>
                  </a:cubicBezTo>
                  <a:cubicBezTo>
                    <a:pt x="200" y="4268"/>
                    <a:pt x="394" y="4394"/>
                    <a:pt x="606" y="4394"/>
                  </a:cubicBezTo>
                  <a:cubicBezTo>
                    <a:pt x="682" y="4394"/>
                    <a:pt x="760" y="4378"/>
                    <a:pt x="836" y="4344"/>
                  </a:cubicBezTo>
                  <a:lnTo>
                    <a:pt x="8230" y="1033"/>
                  </a:lnTo>
                  <a:cubicBezTo>
                    <a:pt x="8519" y="905"/>
                    <a:pt x="8615" y="583"/>
                    <a:pt x="8519" y="326"/>
                  </a:cubicBezTo>
                  <a:cubicBezTo>
                    <a:pt x="8422" y="109"/>
                    <a:pt x="8218" y="1"/>
                    <a:pt x="8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9"/>
            <p:cNvSpPr/>
            <p:nvPr/>
          </p:nvSpPr>
          <p:spPr>
            <a:xfrm>
              <a:off x="3945375" y="3012600"/>
              <a:ext cx="216200" cy="137375"/>
            </a:xfrm>
            <a:custGeom>
              <a:avLst/>
              <a:gdLst/>
              <a:ahLst/>
              <a:cxnLst/>
              <a:rect l="l" t="t" r="r" b="b"/>
              <a:pathLst>
                <a:path w="8648" h="5495" extrusionOk="0">
                  <a:moveTo>
                    <a:pt x="8032" y="0"/>
                  </a:moveTo>
                  <a:cubicBezTo>
                    <a:pt x="7935" y="0"/>
                    <a:pt x="7836" y="25"/>
                    <a:pt x="7748" y="80"/>
                  </a:cubicBezTo>
                  <a:lnTo>
                    <a:pt x="354" y="4484"/>
                  </a:lnTo>
                  <a:cubicBezTo>
                    <a:pt x="97" y="4645"/>
                    <a:pt x="1" y="4966"/>
                    <a:pt x="162" y="5223"/>
                  </a:cubicBezTo>
                  <a:cubicBezTo>
                    <a:pt x="269" y="5395"/>
                    <a:pt x="447" y="5495"/>
                    <a:pt x="631" y="5495"/>
                  </a:cubicBezTo>
                  <a:cubicBezTo>
                    <a:pt x="722" y="5495"/>
                    <a:pt x="815" y="5470"/>
                    <a:pt x="901" y="5416"/>
                  </a:cubicBezTo>
                  <a:lnTo>
                    <a:pt x="8326" y="980"/>
                  </a:lnTo>
                  <a:cubicBezTo>
                    <a:pt x="8551" y="852"/>
                    <a:pt x="8648" y="498"/>
                    <a:pt x="8487" y="241"/>
                  </a:cubicBezTo>
                  <a:cubicBezTo>
                    <a:pt x="8402" y="93"/>
                    <a:pt x="8220" y="0"/>
                    <a:pt x="8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9"/>
            <p:cNvSpPr/>
            <p:nvPr/>
          </p:nvSpPr>
          <p:spPr>
            <a:xfrm>
              <a:off x="4131025" y="3012275"/>
              <a:ext cx="215375" cy="82250"/>
            </a:xfrm>
            <a:custGeom>
              <a:avLst/>
              <a:gdLst/>
              <a:ahLst/>
              <a:cxnLst/>
              <a:rect l="l" t="t" r="r" b="b"/>
              <a:pathLst>
                <a:path w="8615" h="3290" extrusionOk="0">
                  <a:moveTo>
                    <a:pt x="602" y="1"/>
                  </a:moveTo>
                  <a:cubicBezTo>
                    <a:pt x="376" y="1"/>
                    <a:pt x="174" y="150"/>
                    <a:pt x="97" y="383"/>
                  </a:cubicBezTo>
                  <a:cubicBezTo>
                    <a:pt x="0" y="672"/>
                    <a:pt x="161" y="961"/>
                    <a:pt x="450" y="1058"/>
                  </a:cubicBezTo>
                  <a:lnTo>
                    <a:pt x="7876" y="3276"/>
                  </a:lnTo>
                  <a:cubicBezTo>
                    <a:pt x="7919" y="3285"/>
                    <a:pt x="7962" y="3290"/>
                    <a:pt x="8004" y="3290"/>
                  </a:cubicBezTo>
                  <a:cubicBezTo>
                    <a:pt x="8247" y="3290"/>
                    <a:pt x="8469" y="3141"/>
                    <a:pt x="8551" y="2922"/>
                  </a:cubicBezTo>
                  <a:cubicBezTo>
                    <a:pt x="8615" y="2633"/>
                    <a:pt x="8454" y="2311"/>
                    <a:pt x="8165" y="2247"/>
                  </a:cubicBezTo>
                  <a:lnTo>
                    <a:pt x="772" y="29"/>
                  </a:lnTo>
                  <a:cubicBezTo>
                    <a:pt x="715" y="10"/>
                    <a:pt x="658" y="1"/>
                    <a:pt x="6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9"/>
            <p:cNvSpPr/>
            <p:nvPr/>
          </p:nvSpPr>
          <p:spPr>
            <a:xfrm>
              <a:off x="4316650" y="3067625"/>
              <a:ext cx="215400" cy="137450"/>
            </a:xfrm>
            <a:custGeom>
              <a:avLst/>
              <a:gdLst/>
              <a:ahLst/>
              <a:cxnLst/>
              <a:rect l="l" t="t" r="r" b="b"/>
              <a:pathLst>
                <a:path w="8616" h="5498" extrusionOk="0">
                  <a:moveTo>
                    <a:pt x="598" y="1"/>
                  </a:moveTo>
                  <a:cubicBezTo>
                    <a:pt x="415" y="1"/>
                    <a:pt x="236" y="87"/>
                    <a:pt x="129" y="258"/>
                  </a:cubicBezTo>
                  <a:cubicBezTo>
                    <a:pt x="1" y="515"/>
                    <a:pt x="65" y="837"/>
                    <a:pt x="322" y="997"/>
                  </a:cubicBezTo>
                  <a:lnTo>
                    <a:pt x="7747" y="5433"/>
                  </a:lnTo>
                  <a:cubicBezTo>
                    <a:pt x="7833" y="5476"/>
                    <a:pt x="7926" y="5498"/>
                    <a:pt x="8018" y="5498"/>
                  </a:cubicBezTo>
                  <a:cubicBezTo>
                    <a:pt x="8201" y="5498"/>
                    <a:pt x="8380" y="5412"/>
                    <a:pt x="8487" y="5240"/>
                  </a:cubicBezTo>
                  <a:cubicBezTo>
                    <a:pt x="8615" y="4983"/>
                    <a:pt x="8551" y="4662"/>
                    <a:pt x="8294" y="4501"/>
                  </a:cubicBezTo>
                  <a:lnTo>
                    <a:pt x="868" y="65"/>
                  </a:lnTo>
                  <a:cubicBezTo>
                    <a:pt x="783" y="22"/>
                    <a:pt x="690" y="1"/>
                    <a:pt x="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9"/>
            <p:cNvSpPr/>
            <p:nvPr/>
          </p:nvSpPr>
          <p:spPr>
            <a:xfrm>
              <a:off x="4502275" y="2598425"/>
              <a:ext cx="215400" cy="606550"/>
            </a:xfrm>
            <a:custGeom>
              <a:avLst/>
              <a:gdLst/>
              <a:ahLst/>
              <a:cxnLst/>
              <a:rect l="l" t="t" r="r" b="b"/>
              <a:pathLst>
                <a:path w="8616" h="24262" extrusionOk="0">
                  <a:moveTo>
                    <a:pt x="7994" y="0"/>
                  </a:moveTo>
                  <a:cubicBezTo>
                    <a:pt x="7768" y="0"/>
                    <a:pt x="7568" y="144"/>
                    <a:pt x="7491" y="350"/>
                  </a:cubicBezTo>
                  <a:lnTo>
                    <a:pt x="65" y="23558"/>
                  </a:lnTo>
                  <a:cubicBezTo>
                    <a:pt x="1" y="23848"/>
                    <a:pt x="130" y="24137"/>
                    <a:pt x="419" y="24233"/>
                  </a:cubicBezTo>
                  <a:cubicBezTo>
                    <a:pt x="476" y="24252"/>
                    <a:pt x="533" y="24261"/>
                    <a:pt x="589" y="24261"/>
                  </a:cubicBezTo>
                  <a:cubicBezTo>
                    <a:pt x="815" y="24261"/>
                    <a:pt x="1016" y="24112"/>
                    <a:pt x="1094" y="23880"/>
                  </a:cubicBezTo>
                  <a:lnTo>
                    <a:pt x="8519" y="671"/>
                  </a:lnTo>
                  <a:cubicBezTo>
                    <a:pt x="8616" y="414"/>
                    <a:pt x="8455" y="93"/>
                    <a:pt x="8166" y="29"/>
                  </a:cubicBezTo>
                  <a:cubicBezTo>
                    <a:pt x="8108" y="9"/>
                    <a:pt x="8050" y="0"/>
                    <a:pt x="79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9"/>
            <p:cNvSpPr/>
            <p:nvPr/>
          </p:nvSpPr>
          <p:spPr>
            <a:xfrm>
              <a:off x="4687125" y="2515100"/>
              <a:ext cx="215375" cy="109875"/>
            </a:xfrm>
            <a:custGeom>
              <a:avLst/>
              <a:gdLst/>
              <a:ahLst/>
              <a:cxnLst/>
              <a:rect l="l" t="t" r="r" b="b"/>
              <a:pathLst>
                <a:path w="8615" h="4395" extrusionOk="0">
                  <a:moveTo>
                    <a:pt x="8027" y="0"/>
                  </a:moveTo>
                  <a:cubicBezTo>
                    <a:pt x="7954" y="0"/>
                    <a:pt x="7880" y="16"/>
                    <a:pt x="7811" y="51"/>
                  </a:cubicBezTo>
                  <a:lnTo>
                    <a:pt x="386" y="3362"/>
                  </a:lnTo>
                  <a:cubicBezTo>
                    <a:pt x="129" y="3490"/>
                    <a:pt x="0" y="3812"/>
                    <a:pt x="129" y="4069"/>
                  </a:cubicBezTo>
                  <a:cubicBezTo>
                    <a:pt x="201" y="4286"/>
                    <a:pt x="400" y="4394"/>
                    <a:pt x="617" y="4394"/>
                  </a:cubicBezTo>
                  <a:cubicBezTo>
                    <a:pt x="689" y="4394"/>
                    <a:pt x="764" y="4382"/>
                    <a:pt x="836" y="4358"/>
                  </a:cubicBezTo>
                  <a:lnTo>
                    <a:pt x="8229" y="1015"/>
                  </a:lnTo>
                  <a:cubicBezTo>
                    <a:pt x="8518" y="919"/>
                    <a:pt x="8615" y="597"/>
                    <a:pt x="8518" y="308"/>
                  </a:cubicBezTo>
                  <a:cubicBezTo>
                    <a:pt x="8424" y="120"/>
                    <a:pt x="8227" y="0"/>
                    <a:pt x="80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9"/>
            <p:cNvSpPr/>
            <p:nvPr/>
          </p:nvSpPr>
          <p:spPr>
            <a:xfrm>
              <a:off x="4871950" y="2404650"/>
              <a:ext cx="216200" cy="137450"/>
            </a:xfrm>
            <a:custGeom>
              <a:avLst/>
              <a:gdLst/>
              <a:ahLst/>
              <a:cxnLst/>
              <a:rect l="l" t="t" r="r" b="b"/>
              <a:pathLst>
                <a:path w="8648" h="5498" extrusionOk="0">
                  <a:moveTo>
                    <a:pt x="8034" y="1"/>
                  </a:moveTo>
                  <a:cubicBezTo>
                    <a:pt x="7944" y="1"/>
                    <a:pt x="7854" y="22"/>
                    <a:pt x="7779" y="65"/>
                  </a:cubicBezTo>
                  <a:lnTo>
                    <a:pt x="354" y="4501"/>
                  </a:lnTo>
                  <a:cubicBezTo>
                    <a:pt x="97" y="4662"/>
                    <a:pt x="0" y="4983"/>
                    <a:pt x="161" y="5240"/>
                  </a:cubicBezTo>
                  <a:cubicBezTo>
                    <a:pt x="268" y="5412"/>
                    <a:pt x="447" y="5497"/>
                    <a:pt x="630" y="5497"/>
                  </a:cubicBezTo>
                  <a:cubicBezTo>
                    <a:pt x="722" y="5497"/>
                    <a:pt x="815" y="5476"/>
                    <a:pt x="900" y="5433"/>
                  </a:cubicBezTo>
                  <a:lnTo>
                    <a:pt x="8326" y="997"/>
                  </a:lnTo>
                  <a:cubicBezTo>
                    <a:pt x="8583" y="836"/>
                    <a:pt x="8647" y="515"/>
                    <a:pt x="8487" y="258"/>
                  </a:cubicBezTo>
                  <a:cubicBezTo>
                    <a:pt x="8401" y="86"/>
                    <a:pt x="8215" y="1"/>
                    <a:pt x="8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9"/>
            <p:cNvSpPr/>
            <p:nvPr/>
          </p:nvSpPr>
          <p:spPr>
            <a:xfrm>
              <a:off x="5057575" y="2404650"/>
              <a:ext cx="216200" cy="137450"/>
            </a:xfrm>
            <a:custGeom>
              <a:avLst/>
              <a:gdLst/>
              <a:ahLst/>
              <a:cxnLst/>
              <a:rect l="l" t="t" r="r" b="b"/>
              <a:pathLst>
                <a:path w="8648" h="5498" extrusionOk="0">
                  <a:moveTo>
                    <a:pt x="623" y="1"/>
                  </a:moveTo>
                  <a:cubicBezTo>
                    <a:pt x="433" y="1"/>
                    <a:pt x="247" y="86"/>
                    <a:pt x="162" y="258"/>
                  </a:cubicBezTo>
                  <a:cubicBezTo>
                    <a:pt x="1" y="515"/>
                    <a:pt x="97" y="836"/>
                    <a:pt x="354" y="997"/>
                  </a:cubicBezTo>
                  <a:lnTo>
                    <a:pt x="7748" y="5433"/>
                  </a:lnTo>
                  <a:cubicBezTo>
                    <a:pt x="7833" y="5476"/>
                    <a:pt x="7926" y="5497"/>
                    <a:pt x="8018" y="5497"/>
                  </a:cubicBezTo>
                  <a:cubicBezTo>
                    <a:pt x="8201" y="5497"/>
                    <a:pt x="8380" y="5412"/>
                    <a:pt x="8487" y="5240"/>
                  </a:cubicBezTo>
                  <a:cubicBezTo>
                    <a:pt x="8648" y="4983"/>
                    <a:pt x="8551" y="4662"/>
                    <a:pt x="8294" y="4501"/>
                  </a:cubicBezTo>
                  <a:lnTo>
                    <a:pt x="901" y="65"/>
                  </a:lnTo>
                  <a:cubicBezTo>
                    <a:pt x="815" y="22"/>
                    <a:pt x="719" y="1"/>
                    <a:pt x="6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9"/>
            <p:cNvSpPr/>
            <p:nvPr/>
          </p:nvSpPr>
          <p:spPr>
            <a:xfrm>
              <a:off x="5243225" y="2515200"/>
              <a:ext cx="215375" cy="137350"/>
            </a:xfrm>
            <a:custGeom>
              <a:avLst/>
              <a:gdLst/>
              <a:ahLst/>
              <a:cxnLst/>
              <a:rect l="l" t="t" r="r" b="b"/>
              <a:pathLst>
                <a:path w="8615" h="5494" extrusionOk="0">
                  <a:moveTo>
                    <a:pt x="598" y="0"/>
                  </a:moveTo>
                  <a:cubicBezTo>
                    <a:pt x="414" y="0"/>
                    <a:pt x="236" y="100"/>
                    <a:pt x="129" y="272"/>
                  </a:cubicBezTo>
                  <a:cubicBezTo>
                    <a:pt x="0" y="529"/>
                    <a:pt x="64" y="850"/>
                    <a:pt x="322" y="1011"/>
                  </a:cubicBezTo>
                  <a:lnTo>
                    <a:pt x="7747" y="5415"/>
                  </a:lnTo>
                  <a:cubicBezTo>
                    <a:pt x="7833" y="5468"/>
                    <a:pt x="7926" y="5493"/>
                    <a:pt x="8017" y="5493"/>
                  </a:cubicBezTo>
                  <a:cubicBezTo>
                    <a:pt x="8201" y="5493"/>
                    <a:pt x="8379" y="5393"/>
                    <a:pt x="8486" y="5222"/>
                  </a:cubicBezTo>
                  <a:cubicBezTo>
                    <a:pt x="8615" y="4965"/>
                    <a:pt x="8551" y="4643"/>
                    <a:pt x="8293" y="4483"/>
                  </a:cubicBezTo>
                  <a:lnTo>
                    <a:pt x="868" y="79"/>
                  </a:lnTo>
                  <a:cubicBezTo>
                    <a:pt x="782" y="25"/>
                    <a:pt x="689" y="0"/>
                    <a:pt x="5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9"/>
            <p:cNvSpPr/>
            <p:nvPr/>
          </p:nvSpPr>
          <p:spPr>
            <a:xfrm>
              <a:off x="2074575" y="3159250"/>
              <a:ext cx="65925" cy="65100"/>
            </a:xfrm>
            <a:custGeom>
              <a:avLst/>
              <a:gdLst/>
              <a:ahLst/>
              <a:cxnLst/>
              <a:rect l="l" t="t" r="r" b="b"/>
              <a:pathLst>
                <a:path w="2637" h="2604" extrusionOk="0">
                  <a:moveTo>
                    <a:pt x="1318" y="0"/>
                  </a:moveTo>
                  <a:cubicBezTo>
                    <a:pt x="611" y="0"/>
                    <a:pt x="1" y="579"/>
                    <a:pt x="1" y="1286"/>
                  </a:cubicBezTo>
                  <a:cubicBezTo>
                    <a:pt x="1" y="2025"/>
                    <a:pt x="611" y="2604"/>
                    <a:pt x="1318" y="2604"/>
                  </a:cubicBezTo>
                  <a:cubicBezTo>
                    <a:pt x="2058" y="2604"/>
                    <a:pt x="2636" y="2025"/>
                    <a:pt x="2636" y="1286"/>
                  </a:cubicBezTo>
                  <a:cubicBezTo>
                    <a:pt x="2636" y="579"/>
                    <a:pt x="2058"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9"/>
            <p:cNvSpPr/>
            <p:nvPr/>
          </p:nvSpPr>
          <p:spPr>
            <a:xfrm>
              <a:off x="2068150" y="3152000"/>
              <a:ext cx="78775" cy="78800"/>
            </a:xfrm>
            <a:custGeom>
              <a:avLst/>
              <a:gdLst/>
              <a:ahLst/>
              <a:cxnLst/>
              <a:rect l="l" t="t" r="r" b="b"/>
              <a:pathLst>
                <a:path w="3151" h="3152" extrusionOk="0">
                  <a:moveTo>
                    <a:pt x="1575" y="547"/>
                  </a:moveTo>
                  <a:cubicBezTo>
                    <a:pt x="2154" y="547"/>
                    <a:pt x="2636" y="997"/>
                    <a:pt x="2636" y="1576"/>
                  </a:cubicBezTo>
                  <a:cubicBezTo>
                    <a:pt x="2636" y="2155"/>
                    <a:pt x="2154" y="2637"/>
                    <a:pt x="1575" y="2637"/>
                  </a:cubicBezTo>
                  <a:cubicBezTo>
                    <a:pt x="997" y="2637"/>
                    <a:pt x="547" y="2155"/>
                    <a:pt x="547" y="1576"/>
                  </a:cubicBezTo>
                  <a:cubicBezTo>
                    <a:pt x="547" y="997"/>
                    <a:pt x="997" y="547"/>
                    <a:pt x="1575" y="547"/>
                  </a:cubicBezTo>
                  <a:close/>
                  <a:moveTo>
                    <a:pt x="1575" y="1"/>
                  </a:moveTo>
                  <a:cubicBezTo>
                    <a:pt x="708" y="1"/>
                    <a:pt x="0" y="708"/>
                    <a:pt x="0" y="1576"/>
                  </a:cubicBezTo>
                  <a:cubicBezTo>
                    <a:pt x="0" y="2444"/>
                    <a:pt x="708" y="3151"/>
                    <a:pt x="1575" y="3151"/>
                  </a:cubicBezTo>
                  <a:cubicBezTo>
                    <a:pt x="2443" y="3151"/>
                    <a:pt x="3151" y="2444"/>
                    <a:pt x="3151" y="1576"/>
                  </a:cubicBezTo>
                  <a:cubicBezTo>
                    <a:pt x="3151" y="708"/>
                    <a:pt x="2443"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9"/>
            <p:cNvSpPr/>
            <p:nvPr/>
          </p:nvSpPr>
          <p:spPr>
            <a:xfrm>
              <a:off x="2260200" y="2329925"/>
              <a:ext cx="65925" cy="65900"/>
            </a:xfrm>
            <a:custGeom>
              <a:avLst/>
              <a:gdLst/>
              <a:ahLst/>
              <a:cxnLst/>
              <a:rect l="l" t="t" r="r" b="b"/>
              <a:pathLst>
                <a:path w="2637" h="2636" extrusionOk="0">
                  <a:moveTo>
                    <a:pt x="1319" y="0"/>
                  </a:moveTo>
                  <a:cubicBezTo>
                    <a:pt x="579" y="0"/>
                    <a:pt x="1" y="579"/>
                    <a:pt x="1" y="1318"/>
                  </a:cubicBezTo>
                  <a:cubicBezTo>
                    <a:pt x="1" y="2057"/>
                    <a:pt x="579" y="2636"/>
                    <a:pt x="1319" y="2636"/>
                  </a:cubicBezTo>
                  <a:cubicBezTo>
                    <a:pt x="2026" y="2636"/>
                    <a:pt x="2637" y="2057"/>
                    <a:pt x="2637" y="1318"/>
                  </a:cubicBezTo>
                  <a:cubicBezTo>
                    <a:pt x="2637" y="579"/>
                    <a:pt x="2026"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9"/>
            <p:cNvSpPr/>
            <p:nvPr/>
          </p:nvSpPr>
          <p:spPr>
            <a:xfrm>
              <a:off x="2253775" y="2323475"/>
              <a:ext cx="78775" cy="78800"/>
            </a:xfrm>
            <a:custGeom>
              <a:avLst/>
              <a:gdLst/>
              <a:ahLst/>
              <a:cxnLst/>
              <a:rect l="l" t="t" r="r" b="b"/>
              <a:pathLst>
                <a:path w="3151" h="3152" extrusionOk="0">
                  <a:moveTo>
                    <a:pt x="1576" y="547"/>
                  </a:moveTo>
                  <a:cubicBezTo>
                    <a:pt x="2154" y="547"/>
                    <a:pt x="2604" y="997"/>
                    <a:pt x="2604" y="1576"/>
                  </a:cubicBezTo>
                  <a:cubicBezTo>
                    <a:pt x="2604" y="2155"/>
                    <a:pt x="2154" y="2605"/>
                    <a:pt x="1576" y="2605"/>
                  </a:cubicBezTo>
                  <a:cubicBezTo>
                    <a:pt x="997" y="2605"/>
                    <a:pt x="515" y="2155"/>
                    <a:pt x="515" y="1576"/>
                  </a:cubicBezTo>
                  <a:cubicBezTo>
                    <a:pt x="515"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9"/>
            <p:cNvSpPr/>
            <p:nvPr/>
          </p:nvSpPr>
          <p:spPr>
            <a:xfrm>
              <a:off x="2445850" y="2800025"/>
              <a:ext cx="65100" cy="65125"/>
            </a:xfrm>
            <a:custGeom>
              <a:avLst/>
              <a:gdLst/>
              <a:ahLst/>
              <a:cxnLst/>
              <a:rect l="l" t="t" r="r" b="b"/>
              <a:pathLst>
                <a:path w="2604" h="2605" extrusionOk="0">
                  <a:moveTo>
                    <a:pt x="1286" y="1"/>
                  </a:moveTo>
                  <a:cubicBezTo>
                    <a:pt x="579" y="1"/>
                    <a:pt x="0" y="579"/>
                    <a:pt x="0" y="1286"/>
                  </a:cubicBezTo>
                  <a:cubicBezTo>
                    <a:pt x="0" y="2026"/>
                    <a:pt x="579" y="2604"/>
                    <a:pt x="1286" y="2604"/>
                  </a:cubicBezTo>
                  <a:cubicBezTo>
                    <a:pt x="2025" y="2604"/>
                    <a:pt x="2604" y="2026"/>
                    <a:pt x="2604" y="1286"/>
                  </a:cubicBezTo>
                  <a:cubicBezTo>
                    <a:pt x="2604" y="579"/>
                    <a:pt x="2025" y="1"/>
                    <a:pt x="12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9"/>
            <p:cNvSpPr/>
            <p:nvPr/>
          </p:nvSpPr>
          <p:spPr>
            <a:xfrm>
              <a:off x="2438600" y="2792800"/>
              <a:ext cx="78800" cy="78775"/>
            </a:xfrm>
            <a:custGeom>
              <a:avLst/>
              <a:gdLst/>
              <a:ahLst/>
              <a:cxnLst/>
              <a:rect l="l" t="t" r="r" b="b"/>
              <a:pathLst>
                <a:path w="3152" h="3151" extrusionOk="0">
                  <a:moveTo>
                    <a:pt x="1576" y="547"/>
                  </a:moveTo>
                  <a:cubicBezTo>
                    <a:pt x="2155" y="547"/>
                    <a:pt x="2637" y="997"/>
                    <a:pt x="2637" y="1575"/>
                  </a:cubicBezTo>
                  <a:cubicBezTo>
                    <a:pt x="2637" y="2154"/>
                    <a:pt x="2155" y="2636"/>
                    <a:pt x="1576" y="2636"/>
                  </a:cubicBezTo>
                  <a:cubicBezTo>
                    <a:pt x="997" y="2636"/>
                    <a:pt x="547" y="2154"/>
                    <a:pt x="547" y="1575"/>
                  </a:cubicBezTo>
                  <a:cubicBezTo>
                    <a:pt x="547" y="997"/>
                    <a:pt x="997" y="547"/>
                    <a:pt x="1576" y="547"/>
                  </a:cubicBezTo>
                  <a:close/>
                  <a:moveTo>
                    <a:pt x="1576" y="0"/>
                  </a:moveTo>
                  <a:cubicBezTo>
                    <a:pt x="708" y="0"/>
                    <a:pt x="1" y="708"/>
                    <a:pt x="1" y="1575"/>
                  </a:cubicBezTo>
                  <a:cubicBezTo>
                    <a:pt x="1" y="2475"/>
                    <a:pt x="708" y="3151"/>
                    <a:pt x="1576" y="3151"/>
                  </a:cubicBezTo>
                  <a:cubicBezTo>
                    <a:pt x="2476" y="3151"/>
                    <a:pt x="3151" y="2475"/>
                    <a:pt x="3151" y="1575"/>
                  </a:cubicBezTo>
                  <a:cubicBezTo>
                    <a:pt x="3151" y="708"/>
                    <a:pt x="2476" y="0"/>
                    <a:pt x="1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9"/>
            <p:cNvSpPr/>
            <p:nvPr/>
          </p:nvSpPr>
          <p:spPr>
            <a:xfrm>
              <a:off x="2630675" y="2606350"/>
              <a:ext cx="65925" cy="65925"/>
            </a:xfrm>
            <a:custGeom>
              <a:avLst/>
              <a:gdLst/>
              <a:ahLst/>
              <a:cxnLst/>
              <a:rect l="l" t="t" r="r" b="b"/>
              <a:pathLst>
                <a:path w="2637" h="2637" extrusionOk="0">
                  <a:moveTo>
                    <a:pt x="1318" y="1"/>
                  </a:moveTo>
                  <a:cubicBezTo>
                    <a:pt x="611" y="1"/>
                    <a:pt x="0" y="579"/>
                    <a:pt x="0" y="1319"/>
                  </a:cubicBezTo>
                  <a:cubicBezTo>
                    <a:pt x="0" y="2026"/>
                    <a:pt x="611" y="2637"/>
                    <a:pt x="1318" y="2637"/>
                  </a:cubicBezTo>
                  <a:cubicBezTo>
                    <a:pt x="2058" y="2637"/>
                    <a:pt x="2636" y="2026"/>
                    <a:pt x="2636" y="1319"/>
                  </a:cubicBezTo>
                  <a:cubicBezTo>
                    <a:pt x="2636" y="579"/>
                    <a:pt x="2058" y="1"/>
                    <a:pt x="1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9"/>
            <p:cNvSpPr/>
            <p:nvPr/>
          </p:nvSpPr>
          <p:spPr>
            <a:xfrm>
              <a:off x="2624250" y="2599925"/>
              <a:ext cx="78775" cy="78775"/>
            </a:xfrm>
            <a:custGeom>
              <a:avLst/>
              <a:gdLst/>
              <a:ahLst/>
              <a:cxnLst/>
              <a:rect l="l" t="t" r="r" b="b"/>
              <a:pathLst>
                <a:path w="3151" h="3151" extrusionOk="0">
                  <a:moveTo>
                    <a:pt x="1575" y="515"/>
                  </a:moveTo>
                  <a:cubicBezTo>
                    <a:pt x="2154" y="515"/>
                    <a:pt x="2604" y="997"/>
                    <a:pt x="2604" y="1576"/>
                  </a:cubicBezTo>
                  <a:cubicBezTo>
                    <a:pt x="2604" y="2154"/>
                    <a:pt x="2154" y="2604"/>
                    <a:pt x="1575" y="2604"/>
                  </a:cubicBezTo>
                  <a:cubicBezTo>
                    <a:pt x="997" y="2604"/>
                    <a:pt x="547" y="2154"/>
                    <a:pt x="547" y="1576"/>
                  </a:cubicBezTo>
                  <a:cubicBezTo>
                    <a:pt x="547" y="997"/>
                    <a:pt x="997" y="515"/>
                    <a:pt x="1575" y="515"/>
                  </a:cubicBezTo>
                  <a:close/>
                  <a:moveTo>
                    <a:pt x="1575" y="1"/>
                  </a:moveTo>
                  <a:cubicBezTo>
                    <a:pt x="708" y="1"/>
                    <a:pt x="0" y="708"/>
                    <a:pt x="0" y="1576"/>
                  </a:cubicBezTo>
                  <a:cubicBezTo>
                    <a:pt x="0" y="2444"/>
                    <a:pt x="708" y="3151"/>
                    <a:pt x="1575" y="3151"/>
                  </a:cubicBezTo>
                  <a:cubicBezTo>
                    <a:pt x="2443" y="3151"/>
                    <a:pt x="3151" y="2444"/>
                    <a:pt x="3151" y="1576"/>
                  </a:cubicBezTo>
                  <a:cubicBezTo>
                    <a:pt x="3151" y="708"/>
                    <a:pt x="2443"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9"/>
            <p:cNvSpPr/>
            <p:nvPr/>
          </p:nvSpPr>
          <p:spPr>
            <a:xfrm>
              <a:off x="2816300" y="3103800"/>
              <a:ext cx="65125" cy="65100"/>
            </a:xfrm>
            <a:custGeom>
              <a:avLst/>
              <a:gdLst/>
              <a:ahLst/>
              <a:cxnLst/>
              <a:rect l="l" t="t" r="r" b="b"/>
              <a:pathLst>
                <a:path w="2605" h="2604" extrusionOk="0">
                  <a:moveTo>
                    <a:pt x="1319" y="0"/>
                  </a:moveTo>
                  <a:cubicBezTo>
                    <a:pt x="579" y="0"/>
                    <a:pt x="1" y="579"/>
                    <a:pt x="1" y="1318"/>
                  </a:cubicBezTo>
                  <a:cubicBezTo>
                    <a:pt x="1" y="2025"/>
                    <a:pt x="579" y="2604"/>
                    <a:pt x="1319" y="2604"/>
                  </a:cubicBezTo>
                  <a:cubicBezTo>
                    <a:pt x="2026" y="2604"/>
                    <a:pt x="2605" y="2025"/>
                    <a:pt x="2605" y="1318"/>
                  </a:cubicBezTo>
                  <a:cubicBezTo>
                    <a:pt x="2605" y="579"/>
                    <a:pt x="2026"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9"/>
            <p:cNvSpPr/>
            <p:nvPr/>
          </p:nvSpPr>
          <p:spPr>
            <a:xfrm>
              <a:off x="2809875" y="3096550"/>
              <a:ext cx="78775" cy="79600"/>
            </a:xfrm>
            <a:custGeom>
              <a:avLst/>
              <a:gdLst/>
              <a:ahLst/>
              <a:cxnLst/>
              <a:rect l="l" t="t" r="r" b="b"/>
              <a:pathLst>
                <a:path w="3151" h="3184" extrusionOk="0">
                  <a:moveTo>
                    <a:pt x="1576" y="547"/>
                  </a:moveTo>
                  <a:cubicBezTo>
                    <a:pt x="2154" y="547"/>
                    <a:pt x="2604" y="1030"/>
                    <a:pt x="2604" y="1608"/>
                  </a:cubicBezTo>
                  <a:cubicBezTo>
                    <a:pt x="2604" y="2155"/>
                    <a:pt x="2154" y="2637"/>
                    <a:pt x="1576" y="2637"/>
                  </a:cubicBezTo>
                  <a:cubicBezTo>
                    <a:pt x="997" y="2637"/>
                    <a:pt x="515" y="2155"/>
                    <a:pt x="515" y="1608"/>
                  </a:cubicBezTo>
                  <a:cubicBezTo>
                    <a:pt x="515" y="1030"/>
                    <a:pt x="997" y="547"/>
                    <a:pt x="1576" y="547"/>
                  </a:cubicBezTo>
                  <a:close/>
                  <a:moveTo>
                    <a:pt x="1576" y="1"/>
                  </a:moveTo>
                  <a:cubicBezTo>
                    <a:pt x="708" y="1"/>
                    <a:pt x="1" y="708"/>
                    <a:pt x="1" y="1608"/>
                  </a:cubicBezTo>
                  <a:cubicBezTo>
                    <a:pt x="1" y="2476"/>
                    <a:pt x="708" y="3183"/>
                    <a:pt x="1576" y="3183"/>
                  </a:cubicBezTo>
                  <a:cubicBezTo>
                    <a:pt x="2444" y="3183"/>
                    <a:pt x="3151" y="2476"/>
                    <a:pt x="3151" y="1608"/>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9"/>
            <p:cNvSpPr/>
            <p:nvPr/>
          </p:nvSpPr>
          <p:spPr>
            <a:xfrm>
              <a:off x="3001150" y="2329925"/>
              <a:ext cx="65900" cy="65900"/>
            </a:xfrm>
            <a:custGeom>
              <a:avLst/>
              <a:gdLst/>
              <a:ahLst/>
              <a:cxnLst/>
              <a:rect l="l" t="t" r="r" b="b"/>
              <a:pathLst>
                <a:path w="2636" h="2636" extrusionOk="0">
                  <a:moveTo>
                    <a:pt x="1318" y="0"/>
                  </a:moveTo>
                  <a:cubicBezTo>
                    <a:pt x="611" y="0"/>
                    <a:pt x="0" y="579"/>
                    <a:pt x="0" y="1318"/>
                  </a:cubicBezTo>
                  <a:cubicBezTo>
                    <a:pt x="0" y="2057"/>
                    <a:pt x="611" y="2636"/>
                    <a:pt x="1318" y="2636"/>
                  </a:cubicBezTo>
                  <a:cubicBezTo>
                    <a:pt x="2057" y="2636"/>
                    <a:pt x="2636" y="2057"/>
                    <a:pt x="2636" y="1318"/>
                  </a:cubicBezTo>
                  <a:cubicBezTo>
                    <a:pt x="2636" y="579"/>
                    <a:pt x="2057"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9"/>
            <p:cNvSpPr/>
            <p:nvPr/>
          </p:nvSpPr>
          <p:spPr>
            <a:xfrm>
              <a:off x="2994700" y="2323475"/>
              <a:ext cx="78800" cy="78800"/>
            </a:xfrm>
            <a:custGeom>
              <a:avLst/>
              <a:gdLst/>
              <a:ahLst/>
              <a:cxnLst/>
              <a:rect l="l" t="t" r="r" b="b"/>
              <a:pathLst>
                <a:path w="3152" h="3152" extrusionOk="0">
                  <a:moveTo>
                    <a:pt x="1576" y="547"/>
                  </a:moveTo>
                  <a:cubicBezTo>
                    <a:pt x="2155" y="547"/>
                    <a:pt x="2637" y="997"/>
                    <a:pt x="2637" y="1576"/>
                  </a:cubicBezTo>
                  <a:cubicBezTo>
                    <a:pt x="2637" y="2155"/>
                    <a:pt x="2155" y="2605"/>
                    <a:pt x="1576" y="2605"/>
                  </a:cubicBezTo>
                  <a:cubicBezTo>
                    <a:pt x="997" y="2605"/>
                    <a:pt x="547" y="2155"/>
                    <a:pt x="547" y="1576"/>
                  </a:cubicBezTo>
                  <a:cubicBezTo>
                    <a:pt x="547"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9"/>
            <p:cNvSpPr/>
            <p:nvPr/>
          </p:nvSpPr>
          <p:spPr>
            <a:xfrm>
              <a:off x="3186775" y="2054275"/>
              <a:ext cx="65925" cy="65125"/>
            </a:xfrm>
            <a:custGeom>
              <a:avLst/>
              <a:gdLst/>
              <a:ahLst/>
              <a:cxnLst/>
              <a:rect l="l" t="t" r="r" b="b"/>
              <a:pathLst>
                <a:path w="2637" h="2605" extrusionOk="0">
                  <a:moveTo>
                    <a:pt x="1318" y="1"/>
                  </a:moveTo>
                  <a:cubicBezTo>
                    <a:pt x="579" y="1"/>
                    <a:pt x="0" y="579"/>
                    <a:pt x="0" y="1286"/>
                  </a:cubicBezTo>
                  <a:cubicBezTo>
                    <a:pt x="0" y="2026"/>
                    <a:pt x="579" y="2604"/>
                    <a:pt x="1318" y="2604"/>
                  </a:cubicBezTo>
                  <a:cubicBezTo>
                    <a:pt x="2026" y="2604"/>
                    <a:pt x="2636" y="2026"/>
                    <a:pt x="2636" y="1286"/>
                  </a:cubicBezTo>
                  <a:cubicBezTo>
                    <a:pt x="2636" y="579"/>
                    <a:pt x="2026"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9"/>
            <p:cNvSpPr/>
            <p:nvPr/>
          </p:nvSpPr>
          <p:spPr>
            <a:xfrm>
              <a:off x="3180350" y="2047050"/>
              <a:ext cx="78775" cy="78775"/>
            </a:xfrm>
            <a:custGeom>
              <a:avLst/>
              <a:gdLst/>
              <a:ahLst/>
              <a:cxnLst/>
              <a:rect l="l" t="t" r="r" b="b"/>
              <a:pathLst>
                <a:path w="3151" h="3151" extrusionOk="0">
                  <a:moveTo>
                    <a:pt x="1575" y="547"/>
                  </a:moveTo>
                  <a:cubicBezTo>
                    <a:pt x="2154" y="547"/>
                    <a:pt x="2604" y="997"/>
                    <a:pt x="2604" y="1575"/>
                  </a:cubicBezTo>
                  <a:cubicBezTo>
                    <a:pt x="2604" y="2154"/>
                    <a:pt x="2154" y="2636"/>
                    <a:pt x="1575" y="2636"/>
                  </a:cubicBezTo>
                  <a:cubicBezTo>
                    <a:pt x="997" y="2636"/>
                    <a:pt x="515" y="2154"/>
                    <a:pt x="515" y="1575"/>
                  </a:cubicBezTo>
                  <a:cubicBezTo>
                    <a:pt x="515" y="997"/>
                    <a:pt x="997" y="547"/>
                    <a:pt x="1575" y="547"/>
                  </a:cubicBezTo>
                  <a:close/>
                  <a:moveTo>
                    <a:pt x="1575" y="0"/>
                  </a:moveTo>
                  <a:cubicBezTo>
                    <a:pt x="707" y="0"/>
                    <a:pt x="0" y="707"/>
                    <a:pt x="0" y="1575"/>
                  </a:cubicBezTo>
                  <a:cubicBezTo>
                    <a:pt x="0" y="2443"/>
                    <a:pt x="707" y="3150"/>
                    <a:pt x="1575" y="3150"/>
                  </a:cubicBezTo>
                  <a:cubicBezTo>
                    <a:pt x="2443" y="3150"/>
                    <a:pt x="3150" y="2443"/>
                    <a:pt x="3150" y="1575"/>
                  </a:cubicBezTo>
                  <a:cubicBezTo>
                    <a:pt x="3150" y="707"/>
                    <a:pt x="2443" y="0"/>
                    <a:pt x="15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9"/>
            <p:cNvSpPr/>
            <p:nvPr/>
          </p:nvSpPr>
          <p:spPr>
            <a:xfrm>
              <a:off x="3372400" y="3296650"/>
              <a:ext cx="65125" cy="65925"/>
            </a:xfrm>
            <a:custGeom>
              <a:avLst/>
              <a:gdLst/>
              <a:ahLst/>
              <a:cxnLst/>
              <a:rect l="l" t="t" r="r" b="b"/>
              <a:pathLst>
                <a:path w="2605" h="2637" extrusionOk="0">
                  <a:moveTo>
                    <a:pt x="1287" y="1"/>
                  </a:moveTo>
                  <a:cubicBezTo>
                    <a:pt x="579" y="1"/>
                    <a:pt x="1" y="612"/>
                    <a:pt x="1" y="1319"/>
                  </a:cubicBezTo>
                  <a:cubicBezTo>
                    <a:pt x="1" y="2058"/>
                    <a:pt x="579" y="2637"/>
                    <a:pt x="1287" y="2637"/>
                  </a:cubicBezTo>
                  <a:cubicBezTo>
                    <a:pt x="2026" y="2637"/>
                    <a:pt x="2605" y="2058"/>
                    <a:pt x="2605" y="1319"/>
                  </a:cubicBezTo>
                  <a:cubicBezTo>
                    <a:pt x="2605" y="612"/>
                    <a:pt x="2026" y="1"/>
                    <a:pt x="12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9"/>
            <p:cNvSpPr/>
            <p:nvPr/>
          </p:nvSpPr>
          <p:spPr>
            <a:xfrm>
              <a:off x="3365175" y="3290225"/>
              <a:ext cx="79575" cy="78775"/>
            </a:xfrm>
            <a:custGeom>
              <a:avLst/>
              <a:gdLst/>
              <a:ahLst/>
              <a:cxnLst/>
              <a:rect l="l" t="t" r="r" b="b"/>
              <a:pathLst>
                <a:path w="3183" h="3151" extrusionOk="0">
                  <a:moveTo>
                    <a:pt x="1576" y="547"/>
                  </a:moveTo>
                  <a:cubicBezTo>
                    <a:pt x="2154" y="547"/>
                    <a:pt x="2636" y="997"/>
                    <a:pt x="2636" y="1576"/>
                  </a:cubicBezTo>
                  <a:cubicBezTo>
                    <a:pt x="2636" y="2155"/>
                    <a:pt x="2154" y="2637"/>
                    <a:pt x="1576" y="2637"/>
                  </a:cubicBezTo>
                  <a:cubicBezTo>
                    <a:pt x="1029" y="2637"/>
                    <a:pt x="547" y="2155"/>
                    <a:pt x="547" y="1576"/>
                  </a:cubicBezTo>
                  <a:cubicBezTo>
                    <a:pt x="547" y="997"/>
                    <a:pt x="1029" y="547"/>
                    <a:pt x="1576" y="547"/>
                  </a:cubicBezTo>
                  <a:close/>
                  <a:moveTo>
                    <a:pt x="1576" y="1"/>
                  </a:moveTo>
                  <a:cubicBezTo>
                    <a:pt x="708" y="1"/>
                    <a:pt x="1" y="708"/>
                    <a:pt x="1" y="1576"/>
                  </a:cubicBezTo>
                  <a:cubicBezTo>
                    <a:pt x="1" y="2444"/>
                    <a:pt x="708" y="3151"/>
                    <a:pt x="1576" y="3151"/>
                  </a:cubicBezTo>
                  <a:cubicBezTo>
                    <a:pt x="2476" y="3151"/>
                    <a:pt x="3183" y="2444"/>
                    <a:pt x="3183" y="1576"/>
                  </a:cubicBezTo>
                  <a:cubicBezTo>
                    <a:pt x="3183" y="708"/>
                    <a:pt x="2476"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9"/>
            <p:cNvSpPr/>
            <p:nvPr/>
          </p:nvSpPr>
          <p:spPr>
            <a:xfrm>
              <a:off x="3557250" y="3213900"/>
              <a:ext cx="65900" cy="65900"/>
            </a:xfrm>
            <a:custGeom>
              <a:avLst/>
              <a:gdLst/>
              <a:ahLst/>
              <a:cxnLst/>
              <a:rect l="l" t="t" r="r" b="b"/>
              <a:pathLst>
                <a:path w="2636" h="2636" extrusionOk="0">
                  <a:moveTo>
                    <a:pt x="1318" y="0"/>
                  </a:moveTo>
                  <a:cubicBezTo>
                    <a:pt x="611" y="0"/>
                    <a:pt x="0" y="579"/>
                    <a:pt x="0" y="1318"/>
                  </a:cubicBezTo>
                  <a:cubicBezTo>
                    <a:pt x="0" y="2057"/>
                    <a:pt x="611" y="2636"/>
                    <a:pt x="1318" y="2636"/>
                  </a:cubicBezTo>
                  <a:cubicBezTo>
                    <a:pt x="2057" y="2636"/>
                    <a:pt x="2636" y="2057"/>
                    <a:pt x="2636" y="1318"/>
                  </a:cubicBezTo>
                  <a:cubicBezTo>
                    <a:pt x="2636" y="579"/>
                    <a:pt x="2057"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9"/>
            <p:cNvSpPr/>
            <p:nvPr/>
          </p:nvSpPr>
          <p:spPr>
            <a:xfrm>
              <a:off x="3550800" y="3207450"/>
              <a:ext cx="78800" cy="78800"/>
            </a:xfrm>
            <a:custGeom>
              <a:avLst/>
              <a:gdLst/>
              <a:ahLst/>
              <a:cxnLst/>
              <a:rect l="l" t="t" r="r" b="b"/>
              <a:pathLst>
                <a:path w="3152" h="3152" extrusionOk="0">
                  <a:moveTo>
                    <a:pt x="1576" y="547"/>
                  </a:moveTo>
                  <a:cubicBezTo>
                    <a:pt x="2155" y="547"/>
                    <a:pt x="2637" y="997"/>
                    <a:pt x="2637" y="1576"/>
                  </a:cubicBezTo>
                  <a:cubicBezTo>
                    <a:pt x="2637" y="2155"/>
                    <a:pt x="2155" y="2605"/>
                    <a:pt x="1576" y="2605"/>
                  </a:cubicBezTo>
                  <a:cubicBezTo>
                    <a:pt x="997" y="2605"/>
                    <a:pt x="547" y="2155"/>
                    <a:pt x="547" y="1576"/>
                  </a:cubicBezTo>
                  <a:cubicBezTo>
                    <a:pt x="547"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9"/>
            <p:cNvSpPr/>
            <p:nvPr/>
          </p:nvSpPr>
          <p:spPr>
            <a:xfrm>
              <a:off x="3742875" y="3186575"/>
              <a:ext cx="65125" cy="65100"/>
            </a:xfrm>
            <a:custGeom>
              <a:avLst/>
              <a:gdLst/>
              <a:ahLst/>
              <a:cxnLst/>
              <a:rect l="l" t="t" r="r" b="b"/>
              <a:pathLst>
                <a:path w="2605" h="2604" extrusionOk="0">
                  <a:moveTo>
                    <a:pt x="1318" y="0"/>
                  </a:moveTo>
                  <a:cubicBezTo>
                    <a:pt x="579" y="0"/>
                    <a:pt x="0" y="579"/>
                    <a:pt x="0" y="1318"/>
                  </a:cubicBezTo>
                  <a:cubicBezTo>
                    <a:pt x="0" y="2025"/>
                    <a:pt x="579" y="2604"/>
                    <a:pt x="1318" y="2604"/>
                  </a:cubicBezTo>
                  <a:cubicBezTo>
                    <a:pt x="2026" y="2604"/>
                    <a:pt x="2604" y="2025"/>
                    <a:pt x="2604" y="1318"/>
                  </a:cubicBezTo>
                  <a:cubicBezTo>
                    <a:pt x="2604" y="579"/>
                    <a:pt x="2026"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9"/>
            <p:cNvSpPr/>
            <p:nvPr/>
          </p:nvSpPr>
          <p:spPr>
            <a:xfrm>
              <a:off x="3736450" y="3180150"/>
              <a:ext cx="78775" cy="78775"/>
            </a:xfrm>
            <a:custGeom>
              <a:avLst/>
              <a:gdLst/>
              <a:ahLst/>
              <a:cxnLst/>
              <a:rect l="l" t="t" r="r" b="b"/>
              <a:pathLst>
                <a:path w="3151" h="3151" extrusionOk="0">
                  <a:moveTo>
                    <a:pt x="1575" y="514"/>
                  </a:moveTo>
                  <a:cubicBezTo>
                    <a:pt x="2154" y="514"/>
                    <a:pt x="2604" y="997"/>
                    <a:pt x="2604" y="1575"/>
                  </a:cubicBezTo>
                  <a:cubicBezTo>
                    <a:pt x="2604" y="2154"/>
                    <a:pt x="2154" y="2604"/>
                    <a:pt x="1575" y="2604"/>
                  </a:cubicBezTo>
                  <a:cubicBezTo>
                    <a:pt x="997" y="2604"/>
                    <a:pt x="515" y="2154"/>
                    <a:pt x="515" y="1575"/>
                  </a:cubicBezTo>
                  <a:cubicBezTo>
                    <a:pt x="515" y="997"/>
                    <a:pt x="997" y="514"/>
                    <a:pt x="1575" y="514"/>
                  </a:cubicBezTo>
                  <a:close/>
                  <a:moveTo>
                    <a:pt x="1575" y="0"/>
                  </a:moveTo>
                  <a:cubicBezTo>
                    <a:pt x="707" y="0"/>
                    <a:pt x="0" y="707"/>
                    <a:pt x="0" y="1575"/>
                  </a:cubicBezTo>
                  <a:cubicBezTo>
                    <a:pt x="0" y="2443"/>
                    <a:pt x="707" y="3150"/>
                    <a:pt x="1575" y="3150"/>
                  </a:cubicBezTo>
                  <a:cubicBezTo>
                    <a:pt x="2443" y="3150"/>
                    <a:pt x="3150" y="2443"/>
                    <a:pt x="3150" y="1575"/>
                  </a:cubicBezTo>
                  <a:cubicBezTo>
                    <a:pt x="3150" y="707"/>
                    <a:pt x="2443" y="0"/>
                    <a:pt x="15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9"/>
            <p:cNvSpPr/>
            <p:nvPr/>
          </p:nvSpPr>
          <p:spPr>
            <a:xfrm>
              <a:off x="3928500" y="3103800"/>
              <a:ext cx="65125" cy="65100"/>
            </a:xfrm>
            <a:custGeom>
              <a:avLst/>
              <a:gdLst/>
              <a:ahLst/>
              <a:cxnLst/>
              <a:rect l="l" t="t" r="r" b="b"/>
              <a:pathLst>
                <a:path w="2605" h="2604" extrusionOk="0">
                  <a:moveTo>
                    <a:pt x="1287" y="0"/>
                  </a:moveTo>
                  <a:cubicBezTo>
                    <a:pt x="579" y="0"/>
                    <a:pt x="1" y="579"/>
                    <a:pt x="1" y="1318"/>
                  </a:cubicBezTo>
                  <a:cubicBezTo>
                    <a:pt x="1" y="2025"/>
                    <a:pt x="579" y="2604"/>
                    <a:pt x="1287" y="2604"/>
                  </a:cubicBezTo>
                  <a:cubicBezTo>
                    <a:pt x="2026" y="2604"/>
                    <a:pt x="2605" y="2025"/>
                    <a:pt x="2605" y="1318"/>
                  </a:cubicBezTo>
                  <a:cubicBezTo>
                    <a:pt x="2605" y="579"/>
                    <a:pt x="2026" y="0"/>
                    <a:pt x="12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9"/>
            <p:cNvSpPr/>
            <p:nvPr/>
          </p:nvSpPr>
          <p:spPr>
            <a:xfrm>
              <a:off x="3921275" y="3096550"/>
              <a:ext cx="78775" cy="79600"/>
            </a:xfrm>
            <a:custGeom>
              <a:avLst/>
              <a:gdLst/>
              <a:ahLst/>
              <a:cxnLst/>
              <a:rect l="l" t="t" r="r" b="b"/>
              <a:pathLst>
                <a:path w="3151" h="3184" extrusionOk="0">
                  <a:moveTo>
                    <a:pt x="1576" y="547"/>
                  </a:moveTo>
                  <a:cubicBezTo>
                    <a:pt x="2154" y="547"/>
                    <a:pt x="2636" y="1030"/>
                    <a:pt x="2636" y="1608"/>
                  </a:cubicBezTo>
                  <a:cubicBezTo>
                    <a:pt x="2636" y="2155"/>
                    <a:pt x="2154" y="2637"/>
                    <a:pt x="1576" y="2637"/>
                  </a:cubicBezTo>
                  <a:cubicBezTo>
                    <a:pt x="997" y="2637"/>
                    <a:pt x="547" y="2155"/>
                    <a:pt x="547" y="1608"/>
                  </a:cubicBezTo>
                  <a:cubicBezTo>
                    <a:pt x="547" y="1030"/>
                    <a:pt x="997" y="547"/>
                    <a:pt x="1576" y="547"/>
                  </a:cubicBezTo>
                  <a:close/>
                  <a:moveTo>
                    <a:pt x="1576" y="1"/>
                  </a:moveTo>
                  <a:cubicBezTo>
                    <a:pt x="708" y="1"/>
                    <a:pt x="1" y="708"/>
                    <a:pt x="1" y="1608"/>
                  </a:cubicBezTo>
                  <a:cubicBezTo>
                    <a:pt x="1" y="2476"/>
                    <a:pt x="708" y="3183"/>
                    <a:pt x="1576" y="3183"/>
                  </a:cubicBezTo>
                  <a:cubicBezTo>
                    <a:pt x="2443" y="3183"/>
                    <a:pt x="3151" y="2476"/>
                    <a:pt x="3151" y="1608"/>
                  </a:cubicBezTo>
                  <a:cubicBezTo>
                    <a:pt x="3151" y="708"/>
                    <a:pt x="2443"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9"/>
            <p:cNvSpPr/>
            <p:nvPr/>
          </p:nvSpPr>
          <p:spPr>
            <a:xfrm>
              <a:off x="4113350" y="2992900"/>
              <a:ext cx="65900" cy="65925"/>
            </a:xfrm>
            <a:custGeom>
              <a:avLst/>
              <a:gdLst/>
              <a:ahLst/>
              <a:cxnLst/>
              <a:rect l="l" t="t" r="r" b="b"/>
              <a:pathLst>
                <a:path w="2636" h="2637" extrusionOk="0">
                  <a:moveTo>
                    <a:pt x="1318" y="0"/>
                  </a:moveTo>
                  <a:cubicBezTo>
                    <a:pt x="579" y="0"/>
                    <a:pt x="0" y="579"/>
                    <a:pt x="0" y="1318"/>
                  </a:cubicBezTo>
                  <a:cubicBezTo>
                    <a:pt x="0" y="2058"/>
                    <a:pt x="579" y="2636"/>
                    <a:pt x="1318" y="2636"/>
                  </a:cubicBezTo>
                  <a:cubicBezTo>
                    <a:pt x="2025" y="2636"/>
                    <a:pt x="2636" y="2058"/>
                    <a:pt x="2636" y="1318"/>
                  </a:cubicBezTo>
                  <a:cubicBezTo>
                    <a:pt x="2636" y="579"/>
                    <a:pt x="2025"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9"/>
            <p:cNvSpPr/>
            <p:nvPr/>
          </p:nvSpPr>
          <p:spPr>
            <a:xfrm>
              <a:off x="4106900" y="2986475"/>
              <a:ext cx="78800" cy="78775"/>
            </a:xfrm>
            <a:custGeom>
              <a:avLst/>
              <a:gdLst/>
              <a:ahLst/>
              <a:cxnLst/>
              <a:rect l="l" t="t" r="r" b="b"/>
              <a:pathLst>
                <a:path w="3152" h="3151" extrusionOk="0">
                  <a:moveTo>
                    <a:pt x="1576" y="547"/>
                  </a:moveTo>
                  <a:cubicBezTo>
                    <a:pt x="2155" y="547"/>
                    <a:pt x="2605" y="997"/>
                    <a:pt x="2605" y="1575"/>
                  </a:cubicBezTo>
                  <a:cubicBezTo>
                    <a:pt x="2605" y="2154"/>
                    <a:pt x="2155" y="2604"/>
                    <a:pt x="1576" y="2604"/>
                  </a:cubicBezTo>
                  <a:cubicBezTo>
                    <a:pt x="997" y="2604"/>
                    <a:pt x="547" y="2154"/>
                    <a:pt x="547" y="1575"/>
                  </a:cubicBezTo>
                  <a:cubicBezTo>
                    <a:pt x="547" y="997"/>
                    <a:pt x="997" y="547"/>
                    <a:pt x="1576" y="547"/>
                  </a:cubicBezTo>
                  <a:close/>
                  <a:moveTo>
                    <a:pt x="1576" y="0"/>
                  </a:moveTo>
                  <a:cubicBezTo>
                    <a:pt x="708" y="0"/>
                    <a:pt x="1" y="707"/>
                    <a:pt x="1" y="1575"/>
                  </a:cubicBezTo>
                  <a:cubicBezTo>
                    <a:pt x="1" y="2443"/>
                    <a:pt x="708" y="3150"/>
                    <a:pt x="1576" y="3150"/>
                  </a:cubicBezTo>
                  <a:cubicBezTo>
                    <a:pt x="2444" y="3150"/>
                    <a:pt x="3151" y="2443"/>
                    <a:pt x="3151" y="1575"/>
                  </a:cubicBezTo>
                  <a:cubicBezTo>
                    <a:pt x="3151" y="707"/>
                    <a:pt x="2444" y="0"/>
                    <a:pt x="1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9"/>
            <p:cNvSpPr/>
            <p:nvPr/>
          </p:nvSpPr>
          <p:spPr>
            <a:xfrm>
              <a:off x="4298975" y="3048350"/>
              <a:ext cx="65125" cy="65925"/>
            </a:xfrm>
            <a:custGeom>
              <a:avLst/>
              <a:gdLst/>
              <a:ahLst/>
              <a:cxnLst/>
              <a:rect l="l" t="t" r="r" b="b"/>
              <a:pathLst>
                <a:path w="2605" h="2637" extrusionOk="0">
                  <a:moveTo>
                    <a:pt x="1318" y="0"/>
                  </a:moveTo>
                  <a:cubicBezTo>
                    <a:pt x="579" y="0"/>
                    <a:pt x="0" y="579"/>
                    <a:pt x="0" y="1318"/>
                  </a:cubicBezTo>
                  <a:cubicBezTo>
                    <a:pt x="0" y="2025"/>
                    <a:pt x="579" y="2636"/>
                    <a:pt x="1318" y="2636"/>
                  </a:cubicBezTo>
                  <a:cubicBezTo>
                    <a:pt x="2026" y="2636"/>
                    <a:pt x="2604" y="2025"/>
                    <a:pt x="2604" y="1318"/>
                  </a:cubicBezTo>
                  <a:cubicBezTo>
                    <a:pt x="2604" y="579"/>
                    <a:pt x="2026"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9"/>
            <p:cNvSpPr/>
            <p:nvPr/>
          </p:nvSpPr>
          <p:spPr>
            <a:xfrm>
              <a:off x="4292550" y="3041925"/>
              <a:ext cx="78775" cy="78775"/>
            </a:xfrm>
            <a:custGeom>
              <a:avLst/>
              <a:gdLst/>
              <a:ahLst/>
              <a:cxnLst/>
              <a:rect l="l" t="t" r="r" b="b"/>
              <a:pathLst>
                <a:path w="3151" h="3151" extrusionOk="0">
                  <a:moveTo>
                    <a:pt x="1575" y="514"/>
                  </a:moveTo>
                  <a:cubicBezTo>
                    <a:pt x="2122" y="514"/>
                    <a:pt x="2604" y="997"/>
                    <a:pt x="2604" y="1575"/>
                  </a:cubicBezTo>
                  <a:cubicBezTo>
                    <a:pt x="2604" y="2154"/>
                    <a:pt x="2122" y="2604"/>
                    <a:pt x="1575" y="2604"/>
                  </a:cubicBezTo>
                  <a:cubicBezTo>
                    <a:pt x="997" y="2604"/>
                    <a:pt x="515" y="2154"/>
                    <a:pt x="515" y="1575"/>
                  </a:cubicBezTo>
                  <a:cubicBezTo>
                    <a:pt x="515" y="997"/>
                    <a:pt x="997" y="514"/>
                    <a:pt x="1575" y="514"/>
                  </a:cubicBezTo>
                  <a:close/>
                  <a:moveTo>
                    <a:pt x="1575" y="0"/>
                  </a:moveTo>
                  <a:cubicBezTo>
                    <a:pt x="675" y="0"/>
                    <a:pt x="0" y="707"/>
                    <a:pt x="0" y="1575"/>
                  </a:cubicBezTo>
                  <a:cubicBezTo>
                    <a:pt x="0" y="2443"/>
                    <a:pt x="675" y="3150"/>
                    <a:pt x="1575" y="3150"/>
                  </a:cubicBezTo>
                  <a:cubicBezTo>
                    <a:pt x="2443" y="3150"/>
                    <a:pt x="3150" y="2443"/>
                    <a:pt x="3150" y="1575"/>
                  </a:cubicBezTo>
                  <a:cubicBezTo>
                    <a:pt x="3150" y="707"/>
                    <a:pt x="2443" y="0"/>
                    <a:pt x="15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9"/>
            <p:cNvSpPr/>
            <p:nvPr/>
          </p:nvSpPr>
          <p:spPr>
            <a:xfrm>
              <a:off x="4483800" y="3159250"/>
              <a:ext cx="65925" cy="65100"/>
            </a:xfrm>
            <a:custGeom>
              <a:avLst/>
              <a:gdLst/>
              <a:ahLst/>
              <a:cxnLst/>
              <a:rect l="l" t="t" r="r" b="b"/>
              <a:pathLst>
                <a:path w="2637" h="2604" extrusionOk="0">
                  <a:moveTo>
                    <a:pt x="1319" y="0"/>
                  </a:moveTo>
                  <a:cubicBezTo>
                    <a:pt x="611" y="0"/>
                    <a:pt x="1" y="579"/>
                    <a:pt x="1" y="1286"/>
                  </a:cubicBezTo>
                  <a:cubicBezTo>
                    <a:pt x="1" y="2025"/>
                    <a:pt x="611" y="2604"/>
                    <a:pt x="1319" y="2604"/>
                  </a:cubicBezTo>
                  <a:cubicBezTo>
                    <a:pt x="2058" y="2604"/>
                    <a:pt x="2636" y="2025"/>
                    <a:pt x="2636" y="1286"/>
                  </a:cubicBezTo>
                  <a:cubicBezTo>
                    <a:pt x="2636" y="579"/>
                    <a:pt x="2058"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9"/>
            <p:cNvSpPr/>
            <p:nvPr/>
          </p:nvSpPr>
          <p:spPr>
            <a:xfrm>
              <a:off x="4477375" y="3152000"/>
              <a:ext cx="78775" cy="78800"/>
            </a:xfrm>
            <a:custGeom>
              <a:avLst/>
              <a:gdLst/>
              <a:ahLst/>
              <a:cxnLst/>
              <a:rect l="l" t="t" r="r" b="b"/>
              <a:pathLst>
                <a:path w="3151" h="3152" extrusionOk="0">
                  <a:moveTo>
                    <a:pt x="1576" y="547"/>
                  </a:moveTo>
                  <a:cubicBezTo>
                    <a:pt x="2154" y="547"/>
                    <a:pt x="2636" y="997"/>
                    <a:pt x="2636" y="1576"/>
                  </a:cubicBezTo>
                  <a:cubicBezTo>
                    <a:pt x="2636" y="2155"/>
                    <a:pt x="2154" y="2637"/>
                    <a:pt x="1576" y="2637"/>
                  </a:cubicBezTo>
                  <a:cubicBezTo>
                    <a:pt x="997" y="2637"/>
                    <a:pt x="547" y="2155"/>
                    <a:pt x="547" y="1576"/>
                  </a:cubicBezTo>
                  <a:cubicBezTo>
                    <a:pt x="547" y="997"/>
                    <a:pt x="997" y="547"/>
                    <a:pt x="1576" y="547"/>
                  </a:cubicBezTo>
                  <a:close/>
                  <a:moveTo>
                    <a:pt x="1576" y="1"/>
                  </a:moveTo>
                  <a:cubicBezTo>
                    <a:pt x="708" y="1"/>
                    <a:pt x="0" y="708"/>
                    <a:pt x="0" y="1576"/>
                  </a:cubicBezTo>
                  <a:cubicBezTo>
                    <a:pt x="0" y="2444"/>
                    <a:pt x="708" y="3151"/>
                    <a:pt x="1576" y="3151"/>
                  </a:cubicBezTo>
                  <a:cubicBezTo>
                    <a:pt x="2443" y="3151"/>
                    <a:pt x="3151" y="2444"/>
                    <a:pt x="3151" y="1576"/>
                  </a:cubicBezTo>
                  <a:cubicBezTo>
                    <a:pt x="3151" y="708"/>
                    <a:pt x="2443"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9"/>
            <p:cNvSpPr/>
            <p:nvPr/>
          </p:nvSpPr>
          <p:spPr>
            <a:xfrm>
              <a:off x="4669450" y="2579025"/>
              <a:ext cx="65900" cy="65125"/>
            </a:xfrm>
            <a:custGeom>
              <a:avLst/>
              <a:gdLst/>
              <a:ahLst/>
              <a:cxnLst/>
              <a:rect l="l" t="t" r="r" b="b"/>
              <a:pathLst>
                <a:path w="2636" h="2605" extrusionOk="0">
                  <a:moveTo>
                    <a:pt x="1318" y="1"/>
                  </a:moveTo>
                  <a:cubicBezTo>
                    <a:pt x="579" y="1"/>
                    <a:pt x="0" y="580"/>
                    <a:pt x="0" y="1287"/>
                  </a:cubicBezTo>
                  <a:cubicBezTo>
                    <a:pt x="0" y="2026"/>
                    <a:pt x="579" y="2605"/>
                    <a:pt x="1318" y="2605"/>
                  </a:cubicBezTo>
                  <a:cubicBezTo>
                    <a:pt x="2025" y="2605"/>
                    <a:pt x="2636" y="2026"/>
                    <a:pt x="2636" y="1287"/>
                  </a:cubicBezTo>
                  <a:cubicBezTo>
                    <a:pt x="2636" y="580"/>
                    <a:pt x="2025" y="1"/>
                    <a:pt x="1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9"/>
            <p:cNvSpPr/>
            <p:nvPr/>
          </p:nvSpPr>
          <p:spPr>
            <a:xfrm>
              <a:off x="4663000" y="2571800"/>
              <a:ext cx="78800" cy="78775"/>
            </a:xfrm>
            <a:custGeom>
              <a:avLst/>
              <a:gdLst/>
              <a:ahLst/>
              <a:cxnLst/>
              <a:rect l="l" t="t" r="r" b="b"/>
              <a:pathLst>
                <a:path w="3152" h="3151" extrusionOk="0">
                  <a:moveTo>
                    <a:pt x="1576" y="547"/>
                  </a:moveTo>
                  <a:cubicBezTo>
                    <a:pt x="2155" y="547"/>
                    <a:pt x="2605" y="997"/>
                    <a:pt x="2605" y="1576"/>
                  </a:cubicBezTo>
                  <a:cubicBezTo>
                    <a:pt x="2605" y="2154"/>
                    <a:pt x="2155" y="2636"/>
                    <a:pt x="1576" y="2636"/>
                  </a:cubicBezTo>
                  <a:cubicBezTo>
                    <a:pt x="997" y="2636"/>
                    <a:pt x="515" y="2154"/>
                    <a:pt x="515" y="1576"/>
                  </a:cubicBezTo>
                  <a:cubicBezTo>
                    <a:pt x="515" y="997"/>
                    <a:pt x="997" y="547"/>
                    <a:pt x="1576" y="547"/>
                  </a:cubicBezTo>
                  <a:close/>
                  <a:moveTo>
                    <a:pt x="1576" y="1"/>
                  </a:moveTo>
                  <a:cubicBezTo>
                    <a:pt x="708" y="1"/>
                    <a:pt x="1" y="708"/>
                    <a:pt x="1" y="1576"/>
                  </a:cubicBezTo>
                  <a:cubicBezTo>
                    <a:pt x="1" y="2476"/>
                    <a:pt x="708" y="3151"/>
                    <a:pt x="1576" y="3151"/>
                  </a:cubicBezTo>
                  <a:cubicBezTo>
                    <a:pt x="2444" y="3151"/>
                    <a:pt x="3151" y="2476"/>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9"/>
            <p:cNvSpPr/>
            <p:nvPr/>
          </p:nvSpPr>
          <p:spPr>
            <a:xfrm>
              <a:off x="4855075" y="2496275"/>
              <a:ext cx="65125" cy="65100"/>
            </a:xfrm>
            <a:custGeom>
              <a:avLst/>
              <a:gdLst/>
              <a:ahLst/>
              <a:cxnLst/>
              <a:rect l="l" t="t" r="r" b="b"/>
              <a:pathLst>
                <a:path w="2605" h="2604" extrusionOk="0">
                  <a:moveTo>
                    <a:pt x="1286" y="0"/>
                  </a:moveTo>
                  <a:cubicBezTo>
                    <a:pt x="579" y="0"/>
                    <a:pt x="0" y="579"/>
                    <a:pt x="0" y="1286"/>
                  </a:cubicBezTo>
                  <a:cubicBezTo>
                    <a:pt x="0" y="2025"/>
                    <a:pt x="579" y="2604"/>
                    <a:pt x="1286" y="2604"/>
                  </a:cubicBezTo>
                  <a:cubicBezTo>
                    <a:pt x="2025" y="2604"/>
                    <a:pt x="2604" y="2025"/>
                    <a:pt x="2604" y="1286"/>
                  </a:cubicBezTo>
                  <a:cubicBezTo>
                    <a:pt x="2604" y="579"/>
                    <a:pt x="2025" y="0"/>
                    <a:pt x="12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9"/>
            <p:cNvSpPr/>
            <p:nvPr/>
          </p:nvSpPr>
          <p:spPr>
            <a:xfrm>
              <a:off x="4847850" y="2489025"/>
              <a:ext cx="79575" cy="78775"/>
            </a:xfrm>
            <a:custGeom>
              <a:avLst/>
              <a:gdLst/>
              <a:ahLst/>
              <a:cxnLst/>
              <a:rect l="l" t="t" r="r" b="b"/>
              <a:pathLst>
                <a:path w="3183" h="3151" extrusionOk="0">
                  <a:moveTo>
                    <a:pt x="1575" y="547"/>
                  </a:moveTo>
                  <a:cubicBezTo>
                    <a:pt x="2154" y="547"/>
                    <a:pt x="2636" y="997"/>
                    <a:pt x="2636" y="1576"/>
                  </a:cubicBezTo>
                  <a:cubicBezTo>
                    <a:pt x="2636" y="2154"/>
                    <a:pt x="2154" y="2637"/>
                    <a:pt x="1575" y="2637"/>
                  </a:cubicBezTo>
                  <a:cubicBezTo>
                    <a:pt x="1029" y="2637"/>
                    <a:pt x="547" y="2154"/>
                    <a:pt x="547" y="1576"/>
                  </a:cubicBezTo>
                  <a:cubicBezTo>
                    <a:pt x="547" y="997"/>
                    <a:pt x="1029" y="547"/>
                    <a:pt x="1575" y="547"/>
                  </a:cubicBezTo>
                  <a:close/>
                  <a:moveTo>
                    <a:pt x="1575" y="1"/>
                  </a:moveTo>
                  <a:cubicBezTo>
                    <a:pt x="707" y="1"/>
                    <a:pt x="0" y="708"/>
                    <a:pt x="0" y="1576"/>
                  </a:cubicBezTo>
                  <a:cubicBezTo>
                    <a:pt x="0" y="2444"/>
                    <a:pt x="707" y="3151"/>
                    <a:pt x="1575" y="3151"/>
                  </a:cubicBezTo>
                  <a:cubicBezTo>
                    <a:pt x="2475" y="3151"/>
                    <a:pt x="3182" y="2444"/>
                    <a:pt x="3182" y="1576"/>
                  </a:cubicBezTo>
                  <a:cubicBezTo>
                    <a:pt x="3182" y="708"/>
                    <a:pt x="2475"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9"/>
            <p:cNvSpPr/>
            <p:nvPr/>
          </p:nvSpPr>
          <p:spPr>
            <a:xfrm>
              <a:off x="5039900" y="2385375"/>
              <a:ext cx="65925" cy="65900"/>
            </a:xfrm>
            <a:custGeom>
              <a:avLst/>
              <a:gdLst/>
              <a:ahLst/>
              <a:cxnLst/>
              <a:rect l="l" t="t" r="r" b="b"/>
              <a:pathLst>
                <a:path w="2637" h="2636" extrusionOk="0">
                  <a:moveTo>
                    <a:pt x="1319" y="0"/>
                  </a:moveTo>
                  <a:cubicBezTo>
                    <a:pt x="611" y="0"/>
                    <a:pt x="1" y="579"/>
                    <a:pt x="1" y="1318"/>
                  </a:cubicBezTo>
                  <a:cubicBezTo>
                    <a:pt x="1" y="2025"/>
                    <a:pt x="611" y="2636"/>
                    <a:pt x="1319" y="2636"/>
                  </a:cubicBezTo>
                  <a:cubicBezTo>
                    <a:pt x="2058" y="2636"/>
                    <a:pt x="2636" y="2025"/>
                    <a:pt x="2636" y="1318"/>
                  </a:cubicBezTo>
                  <a:cubicBezTo>
                    <a:pt x="2636" y="579"/>
                    <a:pt x="2058"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9"/>
            <p:cNvSpPr/>
            <p:nvPr/>
          </p:nvSpPr>
          <p:spPr>
            <a:xfrm>
              <a:off x="5033475" y="2378925"/>
              <a:ext cx="78775" cy="78800"/>
            </a:xfrm>
            <a:custGeom>
              <a:avLst/>
              <a:gdLst/>
              <a:ahLst/>
              <a:cxnLst/>
              <a:rect l="l" t="t" r="r" b="b"/>
              <a:pathLst>
                <a:path w="3151" h="3152" extrusionOk="0">
                  <a:moveTo>
                    <a:pt x="1576" y="515"/>
                  </a:moveTo>
                  <a:cubicBezTo>
                    <a:pt x="2154" y="515"/>
                    <a:pt x="2604" y="997"/>
                    <a:pt x="2636" y="1576"/>
                  </a:cubicBezTo>
                  <a:cubicBezTo>
                    <a:pt x="2604" y="2155"/>
                    <a:pt x="2154" y="2605"/>
                    <a:pt x="1576" y="2605"/>
                  </a:cubicBezTo>
                  <a:cubicBezTo>
                    <a:pt x="997" y="2605"/>
                    <a:pt x="547" y="2155"/>
                    <a:pt x="547" y="1576"/>
                  </a:cubicBezTo>
                  <a:cubicBezTo>
                    <a:pt x="547" y="997"/>
                    <a:pt x="997" y="515"/>
                    <a:pt x="1576" y="515"/>
                  </a:cubicBezTo>
                  <a:close/>
                  <a:moveTo>
                    <a:pt x="1576" y="1"/>
                  </a:moveTo>
                  <a:cubicBezTo>
                    <a:pt x="708" y="1"/>
                    <a:pt x="0" y="708"/>
                    <a:pt x="0" y="1576"/>
                  </a:cubicBezTo>
                  <a:cubicBezTo>
                    <a:pt x="0" y="2444"/>
                    <a:pt x="708" y="3151"/>
                    <a:pt x="1576" y="3151"/>
                  </a:cubicBezTo>
                  <a:cubicBezTo>
                    <a:pt x="2443" y="3151"/>
                    <a:pt x="3151" y="2444"/>
                    <a:pt x="3151" y="1576"/>
                  </a:cubicBezTo>
                  <a:cubicBezTo>
                    <a:pt x="3151" y="708"/>
                    <a:pt x="2443"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9"/>
            <p:cNvSpPr/>
            <p:nvPr/>
          </p:nvSpPr>
          <p:spPr>
            <a:xfrm>
              <a:off x="5225525" y="2496275"/>
              <a:ext cx="65125" cy="65100"/>
            </a:xfrm>
            <a:custGeom>
              <a:avLst/>
              <a:gdLst/>
              <a:ahLst/>
              <a:cxnLst/>
              <a:rect l="l" t="t" r="r" b="b"/>
              <a:pathLst>
                <a:path w="2605" h="2604" extrusionOk="0">
                  <a:moveTo>
                    <a:pt x="1319" y="0"/>
                  </a:moveTo>
                  <a:cubicBezTo>
                    <a:pt x="580" y="0"/>
                    <a:pt x="1" y="579"/>
                    <a:pt x="1" y="1286"/>
                  </a:cubicBezTo>
                  <a:cubicBezTo>
                    <a:pt x="1" y="2025"/>
                    <a:pt x="580" y="2604"/>
                    <a:pt x="1319" y="2604"/>
                  </a:cubicBezTo>
                  <a:cubicBezTo>
                    <a:pt x="2026" y="2604"/>
                    <a:pt x="2605" y="2025"/>
                    <a:pt x="2605" y="1286"/>
                  </a:cubicBezTo>
                  <a:cubicBezTo>
                    <a:pt x="2605" y="579"/>
                    <a:pt x="2026"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9"/>
            <p:cNvSpPr/>
            <p:nvPr/>
          </p:nvSpPr>
          <p:spPr>
            <a:xfrm>
              <a:off x="5219100" y="2489025"/>
              <a:ext cx="78775" cy="78775"/>
            </a:xfrm>
            <a:custGeom>
              <a:avLst/>
              <a:gdLst/>
              <a:ahLst/>
              <a:cxnLst/>
              <a:rect l="l" t="t" r="r" b="b"/>
              <a:pathLst>
                <a:path w="3151" h="3151" extrusionOk="0">
                  <a:moveTo>
                    <a:pt x="1576" y="547"/>
                  </a:moveTo>
                  <a:cubicBezTo>
                    <a:pt x="2155" y="547"/>
                    <a:pt x="2605" y="997"/>
                    <a:pt x="2605" y="1576"/>
                  </a:cubicBezTo>
                  <a:cubicBezTo>
                    <a:pt x="2605" y="2154"/>
                    <a:pt x="2155" y="2637"/>
                    <a:pt x="1576" y="2637"/>
                  </a:cubicBezTo>
                  <a:cubicBezTo>
                    <a:pt x="997" y="2637"/>
                    <a:pt x="515" y="2154"/>
                    <a:pt x="515" y="1576"/>
                  </a:cubicBezTo>
                  <a:cubicBezTo>
                    <a:pt x="515"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9"/>
            <p:cNvSpPr/>
            <p:nvPr/>
          </p:nvSpPr>
          <p:spPr>
            <a:xfrm>
              <a:off x="5411175" y="2606350"/>
              <a:ext cx="65125" cy="65925"/>
            </a:xfrm>
            <a:custGeom>
              <a:avLst/>
              <a:gdLst/>
              <a:ahLst/>
              <a:cxnLst/>
              <a:rect l="l" t="t" r="r" b="b"/>
              <a:pathLst>
                <a:path w="2605" h="2637" extrusionOk="0">
                  <a:moveTo>
                    <a:pt x="1286" y="1"/>
                  </a:moveTo>
                  <a:cubicBezTo>
                    <a:pt x="579" y="1"/>
                    <a:pt x="0" y="579"/>
                    <a:pt x="0" y="1319"/>
                  </a:cubicBezTo>
                  <a:cubicBezTo>
                    <a:pt x="0" y="2026"/>
                    <a:pt x="579" y="2637"/>
                    <a:pt x="1286" y="2637"/>
                  </a:cubicBezTo>
                  <a:cubicBezTo>
                    <a:pt x="2025" y="2637"/>
                    <a:pt x="2604" y="2026"/>
                    <a:pt x="2604" y="1319"/>
                  </a:cubicBezTo>
                  <a:cubicBezTo>
                    <a:pt x="2604" y="579"/>
                    <a:pt x="2025" y="1"/>
                    <a:pt x="12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9"/>
            <p:cNvSpPr/>
            <p:nvPr/>
          </p:nvSpPr>
          <p:spPr>
            <a:xfrm>
              <a:off x="5403950" y="2599925"/>
              <a:ext cx="78775" cy="78775"/>
            </a:xfrm>
            <a:custGeom>
              <a:avLst/>
              <a:gdLst/>
              <a:ahLst/>
              <a:cxnLst/>
              <a:rect l="l" t="t" r="r" b="b"/>
              <a:pathLst>
                <a:path w="3151" h="3151" extrusionOk="0">
                  <a:moveTo>
                    <a:pt x="1575" y="515"/>
                  </a:moveTo>
                  <a:cubicBezTo>
                    <a:pt x="2154" y="515"/>
                    <a:pt x="2636" y="997"/>
                    <a:pt x="2636" y="1576"/>
                  </a:cubicBezTo>
                  <a:cubicBezTo>
                    <a:pt x="2636" y="2154"/>
                    <a:pt x="2154" y="2604"/>
                    <a:pt x="1575" y="2604"/>
                  </a:cubicBezTo>
                  <a:cubicBezTo>
                    <a:pt x="997" y="2604"/>
                    <a:pt x="547" y="2154"/>
                    <a:pt x="547" y="1576"/>
                  </a:cubicBezTo>
                  <a:cubicBezTo>
                    <a:pt x="547" y="997"/>
                    <a:pt x="997" y="515"/>
                    <a:pt x="1575" y="515"/>
                  </a:cubicBezTo>
                  <a:close/>
                  <a:moveTo>
                    <a:pt x="1575" y="1"/>
                  </a:moveTo>
                  <a:cubicBezTo>
                    <a:pt x="707" y="1"/>
                    <a:pt x="0" y="708"/>
                    <a:pt x="0" y="1576"/>
                  </a:cubicBezTo>
                  <a:cubicBezTo>
                    <a:pt x="0" y="2444"/>
                    <a:pt x="707" y="3151"/>
                    <a:pt x="1575" y="3151"/>
                  </a:cubicBezTo>
                  <a:cubicBezTo>
                    <a:pt x="2443" y="3151"/>
                    <a:pt x="3150" y="2444"/>
                    <a:pt x="3150" y="1576"/>
                  </a:cubicBezTo>
                  <a:cubicBezTo>
                    <a:pt x="3150" y="708"/>
                    <a:pt x="2443"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9"/>
            <p:cNvSpPr/>
            <p:nvPr/>
          </p:nvSpPr>
          <p:spPr>
            <a:xfrm>
              <a:off x="5747875" y="1384075"/>
              <a:ext cx="105300" cy="3359925"/>
            </a:xfrm>
            <a:custGeom>
              <a:avLst/>
              <a:gdLst/>
              <a:ahLst/>
              <a:cxnLst/>
              <a:rect l="l" t="t" r="r" b="b"/>
              <a:pathLst>
                <a:path w="4212" h="134397" extrusionOk="0">
                  <a:moveTo>
                    <a:pt x="1" y="0"/>
                  </a:moveTo>
                  <a:lnTo>
                    <a:pt x="1" y="134396"/>
                  </a:lnTo>
                  <a:lnTo>
                    <a:pt x="4212" y="134396"/>
                  </a:lnTo>
                  <a:lnTo>
                    <a:pt x="4212" y="0"/>
                  </a:ln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9"/>
            <p:cNvSpPr/>
            <p:nvPr/>
          </p:nvSpPr>
          <p:spPr>
            <a:xfrm>
              <a:off x="5747875" y="1797925"/>
              <a:ext cx="105300" cy="856675"/>
            </a:xfrm>
            <a:custGeom>
              <a:avLst/>
              <a:gdLst/>
              <a:ahLst/>
              <a:cxnLst/>
              <a:rect l="l" t="t" r="r" b="b"/>
              <a:pathLst>
                <a:path w="4212" h="34267" extrusionOk="0">
                  <a:moveTo>
                    <a:pt x="1" y="0"/>
                  </a:moveTo>
                  <a:lnTo>
                    <a:pt x="1" y="34267"/>
                  </a:lnTo>
                  <a:lnTo>
                    <a:pt x="4212" y="34267"/>
                  </a:lnTo>
                  <a:lnTo>
                    <a:pt x="421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9"/>
            <p:cNvSpPr/>
            <p:nvPr/>
          </p:nvSpPr>
          <p:spPr>
            <a:xfrm>
              <a:off x="1797325" y="1384075"/>
              <a:ext cx="4055850" cy="205750"/>
            </a:xfrm>
            <a:custGeom>
              <a:avLst/>
              <a:gdLst/>
              <a:ahLst/>
              <a:cxnLst/>
              <a:rect l="l" t="t" r="r" b="b"/>
              <a:pathLst>
                <a:path w="162234" h="8230" extrusionOk="0">
                  <a:moveTo>
                    <a:pt x="1" y="0"/>
                  </a:moveTo>
                  <a:lnTo>
                    <a:pt x="1" y="8229"/>
                  </a:lnTo>
                  <a:lnTo>
                    <a:pt x="162234" y="8229"/>
                  </a:lnTo>
                  <a:lnTo>
                    <a:pt x="162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9"/>
            <p:cNvSpPr/>
            <p:nvPr/>
          </p:nvSpPr>
          <p:spPr>
            <a:xfrm>
              <a:off x="1797325" y="1652475"/>
              <a:ext cx="1042325" cy="164750"/>
            </a:xfrm>
            <a:custGeom>
              <a:avLst/>
              <a:gdLst/>
              <a:ahLst/>
              <a:cxnLst/>
              <a:rect l="l" t="t" r="r" b="b"/>
              <a:pathLst>
                <a:path w="41693" h="6590" extrusionOk="0">
                  <a:moveTo>
                    <a:pt x="1" y="0"/>
                  </a:moveTo>
                  <a:lnTo>
                    <a:pt x="1" y="6590"/>
                  </a:lnTo>
                  <a:lnTo>
                    <a:pt x="40599" y="6590"/>
                  </a:lnTo>
                  <a:cubicBezTo>
                    <a:pt x="41178" y="6590"/>
                    <a:pt x="41692" y="6108"/>
                    <a:pt x="41692" y="5497"/>
                  </a:cubicBezTo>
                  <a:lnTo>
                    <a:pt x="41692" y="1061"/>
                  </a:lnTo>
                  <a:cubicBezTo>
                    <a:pt x="41692" y="482"/>
                    <a:pt x="41178" y="0"/>
                    <a:pt x="405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9"/>
            <p:cNvSpPr/>
            <p:nvPr/>
          </p:nvSpPr>
          <p:spPr>
            <a:xfrm>
              <a:off x="1927525" y="1675775"/>
              <a:ext cx="65900" cy="100475"/>
            </a:xfrm>
            <a:custGeom>
              <a:avLst/>
              <a:gdLst/>
              <a:ahLst/>
              <a:cxnLst/>
              <a:rect l="l" t="t" r="r" b="b"/>
              <a:pathLst>
                <a:path w="2636" h="4019" extrusionOk="0">
                  <a:moveTo>
                    <a:pt x="0" y="1"/>
                  </a:moveTo>
                  <a:lnTo>
                    <a:pt x="0" y="4019"/>
                  </a:lnTo>
                  <a:lnTo>
                    <a:pt x="547" y="4019"/>
                  </a:lnTo>
                  <a:lnTo>
                    <a:pt x="547" y="1190"/>
                  </a:lnTo>
                  <a:lnTo>
                    <a:pt x="997" y="4019"/>
                  </a:lnTo>
                  <a:lnTo>
                    <a:pt x="1607" y="4019"/>
                  </a:lnTo>
                  <a:lnTo>
                    <a:pt x="2025" y="1126"/>
                  </a:lnTo>
                  <a:lnTo>
                    <a:pt x="2025" y="4019"/>
                  </a:lnTo>
                  <a:lnTo>
                    <a:pt x="2636" y="4019"/>
                  </a:lnTo>
                  <a:lnTo>
                    <a:pt x="2636" y="1"/>
                  </a:lnTo>
                  <a:lnTo>
                    <a:pt x="1768" y="1"/>
                  </a:lnTo>
                  <a:lnTo>
                    <a:pt x="1318" y="2861"/>
                  </a:lnTo>
                  <a:lnTo>
                    <a:pt x="8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9"/>
            <p:cNvSpPr/>
            <p:nvPr/>
          </p:nvSpPr>
          <p:spPr>
            <a:xfrm>
              <a:off x="2000650" y="1675775"/>
              <a:ext cx="55475" cy="100475"/>
            </a:xfrm>
            <a:custGeom>
              <a:avLst/>
              <a:gdLst/>
              <a:ahLst/>
              <a:cxnLst/>
              <a:rect l="l" t="t" r="r" b="b"/>
              <a:pathLst>
                <a:path w="2219" h="4019" extrusionOk="0">
                  <a:moveTo>
                    <a:pt x="1093" y="708"/>
                  </a:moveTo>
                  <a:lnTo>
                    <a:pt x="1382" y="2733"/>
                  </a:lnTo>
                  <a:lnTo>
                    <a:pt x="772" y="2733"/>
                  </a:lnTo>
                  <a:lnTo>
                    <a:pt x="1093" y="708"/>
                  </a:lnTo>
                  <a:close/>
                  <a:moveTo>
                    <a:pt x="643" y="1"/>
                  </a:moveTo>
                  <a:lnTo>
                    <a:pt x="0" y="4019"/>
                  </a:lnTo>
                  <a:lnTo>
                    <a:pt x="579" y="4019"/>
                  </a:lnTo>
                  <a:lnTo>
                    <a:pt x="707" y="3279"/>
                  </a:lnTo>
                  <a:lnTo>
                    <a:pt x="1479" y="3279"/>
                  </a:lnTo>
                  <a:lnTo>
                    <a:pt x="1575" y="4019"/>
                  </a:lnTo>
                  <a:lnTo>
                    <a:pt x="2218" y="4019"/>
                  </a:lnTo>
                  <a:lnTo>
                    <a:pt x="15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9"/>
            <p:cNvSpPr/>
            <p:nvPr/>
          </p:nvSpPr>
          <p:spPr>
            <a:xfrm>
              <a:off x="2063325" y="1675775"/>
              <a:ext cx="49050" cy="100475"/>
            </a:xfrm>
            <a:custGeom>
              <a:avLst/>
              <a:gdLst/>
              <a:ahLst/>
              <a:cxnLst/>
              <a:rect l="l" t="t" r="r" b="b"/>
              <a:pathLst>
                <a:path w="1962" h="4019" extrusionOk="0">
                  <a:moveTo>
                    <a:pt x="933" y="579"/>
                  </a:moveTo>
                  <a:cubicBezTo>
                    <a:pt x="1158" y="579"/>
                    <a:pt x="1254" y="708"/>
                    <a:pt x="1254" y="997"/>
                  </a:cubicBezTo>
                  <a:lnTo>
                    <a:pt x="1254" y="1383"/>
                  </a:lnTo>
                  <a:cubicBezTo>
                    <a:pt x="1254" y="1704"/>
                    <a:pt x="1126" y="1801"/>
                    <a:pt x="868" y="1801"/>
                  </a:cubicBezTo>
                  <a:lnTo>
                    <a:pt x="643" y="1801"/>
                  </a:lnTo>
                  <a:lnTo>
                    <a:pt x="643" y="579"/>
                  </a:lnTo>
                  <a:close/>
                  <a:moveTo>
                    <a:pt x="1" y="1"/>
                  </a:moveTo>
                  <a:lnTo>
                    <a:pt x="1" y="4019"/>
                  </a:lnTo>
                  <a:lnTo>
                    <a:pt x="643" y="4019"/>
                  </a:lnTo>
                  <a:lnTo>
                    <a:pt x="643" y="2379"/>
                  </a:lnTo>
                  <a:lnTo>
                    <a:pt x="868" y="2379"/>
                  </a:lnTo>
                  <a:cubicBezTo>
                    <a:pt x="1126" y="2379"/>
                    <a:pt x="1254" y="2508"/>
                    <a:pt x="1254" y="2894"/>
                  </a:cubicBezTo>
                  <a:lnTo>
                    <a:pt x="1254" y="3536"/>
                  </a:lnTo>
                  <a:cubicBezTo>
                    <a:pt x="1254" y="3858"/>
                    <a:pt x="1286" y="3922"/>
                    <a:pt x="1318" y="4019"/>
                  </a:cubicBezTo>
                  <a:lnTo>
                    <a:pt x="1961" y="4019"/>
                  </a:lnTo>
                  <a:cubicBezTo>
                    <a:pt x="1897" y="3858"/>
                    <a:pt x="1897" y="3729"/>
                    <a:pt x="1897" y="3536"/>
                  </a:cubicBezTo>
                  <a:lnTo>
                    <a:pt x="1897" y="2926"/>
                  </a:lnTo>
                  <a:cubicBezTo>
                    <a:pt x="1897" y="2508"/>
                    <a:pt x="1801" y="2186"/>
                    <a:pt x="1479" y="2058"/>
                  </a:cubicBezTo>
                  <a:cubicBezTo>
                    <a:pt x="1768" y="1929"/>
                    <a:pt x="1897" y="1672"/>
                    <a:pt x="1897" y="1254"/>
                  </a:cubicBezTo>
                  <a:lnTo>
                    <a:pt x="1897" y="933"/>
                  </a:lnTo>
                  <a:cubicBezTo>
                    <a:pt x="1897" y="322"/>
                    <a:pt x="1608"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9"/>
            <p:cNvSpPr/>
            <p:nvPr/>
          </p:nvSpPr>
          <p:spPr>
            <a:xfrm>
              <a:off x="2119575" y="1674975"/>
              <a:ext cx="47450" cy="102075"/>
            </a:xfrm>
            <a:custGeom>
              <a:avLst/>
              <a:gdLst/>
              <a:ahLst/>
              <a:cxnLst/>
              <a:rect l="l" t="t" r="r" b="b"/>
              <a:pathLst>
                <a:path w="1898" h="4083" extrusionOk="0">
                  <a:moveTo>
                    <a:pt x="965" y="0"/>
                  </a:moveTo>
                  <a:cubicBezTo>
                    <a:pt x="322" y="0"/>
                    <a:pt x="1" y="354"/>
                    <a:pt x="1" y="997"/>
                  </a:cubicBezTo>
                  <a:lnTo>
                    <a:pt x="1" y="3086"/>
                  </a:lnTo>
                  <a:cubicBezTo>
                    <a:pt x="1" y="3729"/>
                    <a:pt x="322" y="4083"/>
                    <a:pt x="965" y="4083"/>
                  </a:cubicBezTo>
                  <a:cubicBezTo>
                    <a:pt x="1576" y="4083"/>
                    <a:pt x="1897" y="3729"/>
                    <a:pt x="1897" y="3086"/>
                  </a:cubicBezTo>
                  <a:lnTo>
                    <a:pt x="1897" y="2540"/>
                  </a:lnTo>
                  <a:lnTo>
                    <a:pt x="1286" y="2540"/>
                  </a:lnTo>
                  <a:lnTo>
                    <a:pt x="1286" y="3118"/>
                  </a:lnTo>
                  <a:cubicBezTo>
                    <a:pt x="1286" y="3408"/>
                    <a:pt x="1158" y="3504"/>
                    <a:pt x="965" y="3504"/>
                  </a:cubicBezTo>
                  <a:cubicBezTo>
                    <a:pt x="772" y="3504"/>
                    <a:pt x="644" y="3408"/>
                    <a:pt x="644" y="3118"/>
                  </a:cubicBezTo>
                  <a:lnTo>
                    <a:pt x="644" y="965"/>
                  </a:lnTo>
                  <a:cubicBezTo>
                    <a:pt x="644" y="675"/>
                    <a:pt x="772" y="579"/>
                    <a:pt x="965" y="579"/>
                  </a:cubicBezTo>
                  <a:cubicBezTo>
                    <a:pt x="1158" y="579"/>
                    <a:pt x="1286" y="675"/>
                    <a:pt x="1286" y="965"/>
                  </a:cubicBezTo>
                  <a:lnTo>
                    <a:pt x="1286" y="1383"/>
                  </a:lnTo>
                  <a:lnTo>
                    <a:pt x="1897" y="1383"/>
                  </a:lnTo>
                  <a:lnTo>
                    <a:pt x="1897" y="997"/>
                  </a:lnTo>
                  <a:cubicBezTo>
                    <a:pt x="1897" y="354"/>
                    <a:pt x="1576" y="0"/>
                    <a:pt x="9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9"/>
            <p:cNvSpPr/>
            <p:nvPr/>
          </p:nvSpPr>
          <p:spPr>
            <a:xfrm>
              <a:off x="2176625" y="1675775"/>
              <a:ext cx="49850" cy="100475"/>
            </a:xfrm>
            <a:custGeom>
              <a:avLst/>
              <a:gdLst/>
              <a:ahLst/>
              <a:cxnLst/>
              <a:rect l="l" t="t" r="r" b="b"/>
              <a:pathLst>
                <a:path w="1994" h="4019" extrusionOk="0">
                  <a:moveTo>
                    <a:pt x="1" y="1"/>
                  </a:moveTo>
                  <a:lnTo>
                    <a:pt x="1" y="4019"/>
                  </a:lnTo>
                  <a:lnTo>
                    <a:pt x="612" y="4019"/>
                  </a:lnTo>
                  <a:lnTo>
                    <a:pt x="612" y="2315"/>
                  </a:lnTo>
                  <a:lnTo>
                    <a:pt x="1351" y="2315"/>
                  </a:lnTo>
                  <a:lnTo>
                    <a:pt x="1351" y="4019"/>
                  </a:lnTo>
                  <a:lnTo>
                    <a:pt x="1994" y="4019"/>
                  </a:lnTo>
                  <a:lnTo>
                    <a:pt x="1994" y="1"/>
                  </a:lnTo>
                  <a:lnTo>
                    <a:pt x="1351" y="1"/>
                  </a:lnTo>
                  <a:lnTo>
                    <a:pt x="1351" y="1736"/>
                  </a:lnTo>
                  <a:lnTo>
                    <a:pt x="612" y="1736"/>
                  </a:lnTo>
                  <a:lnTo>
                    <a:pt x="6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9"/>
            <p:cNvSpPr/>
            <p:nvPr/>
          </p:nvSpPr>
          <p:spPr>
            <a:xfrm>
              <a:off x="2064125" y="1418625"/>
              <a:ext cx="2607750" cy="116550"/>
            </a:xfrm>
            <a:custGeom>
              <a:avLst/>
              <a:gdLst/>
              <a:ahLst/>
              <a:cxnLst/>
              <a:rect l="l" t="t" r="r" b="b"/>
              <a:pathLst>
                <a:path w="104310" h="4662" extrusionOk="0">
                  <a:moveTo>
                    <a:pt x="1" y="0"/>
                  </a:moveTo>
                  <a:lnTo>
                    <a:pt x="1" y="4661"/>
                  </a:lnTo>
                  <a:lnTo>
                    <a:pt x="104309" y="4661"/>
                  </a:lnTo>
                  <a:lnTo>
                    <a:pt x="1043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9"/>
            <p:cNvSpPr/>
            <p:nvPr/>
          </p:nvSpPr>
          <p:spPr>
            <a:xfrm>
              <a:off x="2016725" y="3505600"/>
              <a:ext cx="176800" cy="81200"/>
            </a:xfrm>
            <a:custGeom>
              <a:avLst/>
              <a:gdLst/>
              <a:ahLst/>
              <a:cxnLst/>
              <a:rect l="l" t="t" r="r" b="b"/>
              <a:pathLst>
                <a:path w="7072" h="3248" extrusionOk="0">
                  <a:moveTo>
                    <a:pt x="0" y="1"/>
                  </a:moveTo>
                  <a:lnTo>
                    <a:pt x="0"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9"/>
            <p:cNvSpPr/>
            <p:nvPr/>
          </p:nvSpPr>
          <p:spPr>
            <a:xfrm>
              <a:off x="2202350"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9"/>
            <p:cNvSpPr/>
            <p:nvPr/>
          </p:nvSpPr>
          <p:spPr>
            <a:xfrm>
              <a:off x="2387975" y="3505600"/>
              <a:ext cx="176825" cy="81200"/>
            </a:xfrm>
            <a:custGeom>
              <a:avLst/>
              <a:gdLst/>
              <a:ahLst/>
              <a:cxnLst/>
              <a:rect l="l" t="t" r="r" b="b"/>
              <a:pathLst>
                <a:path w="7073" h="3248" extrusionOk="0">
                  <a:moveTo>
                    <a:pt x="1" y="1"/>
                  </a:moveTo>
                  <a:lnTo>
                    <a:pt x="1" y="3247"/>
                  </a:lnTo>
                  <a:lnTo>
                    <a:pt x="7073" y="3247"/>
                  </a:lnTo>
                  <a:lnTo>
                    <a:pt x="70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9"/>
            <p:cNvSpPr/>
            <p:nvPr/>
          </p:nvSpPr>
          <p:spPr>
            <a:xfrm>
              <a:off x="2573625"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9"/>
            <p:cNvSpPr/>
            <p:nvPr/>
          </p:nvSpPr>
          <p:spPr>
            <a:xfrm>
              <a:off x="2759250"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9"/>
            <p:cNvSpPr/>
            <p:nvPr/>
          </p:nvSpPr>
          <p:spPr>
            <a:xfrm>
              <a:off x="2944875" y="3505600"/>
              <a:ext cx="176025" cy="81200"/>
            </a:xfrm>
            <a:custGeom>
              <a:avLst/>
              <a:gdLst/>
              <a:ahLst/>
              <a:cxnLst/>
              <a:rect l="l" t="t" r="r" b="b"/>
              <a:pathLst>
                <a:path w="7041" h="3248" extrusionOk="0">
                  <a:moveTo>
                    <a:pt x="1" y="1"/>
                  </a:moveTo>
                  <a:lnTo>
                    <a:pt x="1" y="3247"/>
                  </a:lnTo>
                  <a:lnTo>
                    <a:pt x="7041" y="3247"/>
                  </a:lnTo>
                  <a:lnTo>
                    <a:pt x="70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9"/>
            <p:cNvSpPr/>
            <p:nvPr/>
          </p:nvSpPr>
          <p:spPr>
            <a:xfrm>
              <a:off x="3130525" y="3505600"/>
              <a:ext cx="176000" cy="81200"/>
            </a:xfrm>
            <a:custGeom>
              <a:avLst/>
              <a:gdLst/>
              <a:ahLst/>
              <a:cxnLst/>
              <a:rect l="l" t="t" r="r" b="b"/>
              <a:pathLst>
                <a:path w="7040" h="3248" extrusionOk="0">
                  <a:moveTo>
                    <a:pt x="0" y="1"/>
                  </a:moveTo>
                  <a:lnTo>
                    <a:pt x="0"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9"/>
            <p:cNvSpPr/>
            <p:nvPr/>
          </p:nvSpPr>
          <p:spPr>
            <a:xfrm>
              <a:off x="3316150"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9"/>
            <p:cNvSpPr/>
            <p:nvPr/>
          </p:nvSpPr>
          <p:spPr>
            <a:xfrm>
              <a:off x="3501800" y="3505600"/>
              <a:ext cx="176000" cy="81200"/>
            </a:xfrm>
            <a:custGeom>
              <a:avLst/>
              <a:gdLst/>
              <a:ahLst/>
              <a:cxnLst/>
              <a:rect l="l" t="t" r="r" b="b"/>
              <a:pathLst>
                <a:path w="7040" h="3248" extrusionOk="0">
                  <a:moveTo>
                    <a:pt x="0" y="1"/>
                  </a:moveTo>
                  <a:lnTo>
                    <a:pt x="0"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9"/>
            <p:cNvSpPr/>
            <p:nvPr/>
          </p:nvSpPr>
          <p:spPr>
            <a:xfrm>
              <a:off x="3686625"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9"/>
            <p:cNvSpPr/>
            <p:nvPr/>
          </p:nvSpPr>
          <p:spPr>
            <a:xfrm>
              <a:off x="3872250" y="3505600"/>
              <a:ext cx="176825" cy="81200"/>
            </a:xfrm>
            <a:custGeom>
              <a:avLst/>
              <a:gdLst/>
              <a:ahLst/>
              <a:cxnLst/>
              <a:rect l="l" t="t" r="r" b="b"/>
              <a:pathLst>
                <a:path w="7073" h="3248" extrusionOk="0">
                  <a:moveTo>
                    <a:pt x="1" y="1"/>
                  </a:moveTo>
                  <a:lnTo>
                    <a:pt x="1"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9"/>
            <p:cNvSpPr/>
            <p:nvPr/>
          </p:nvSpPr>
          <p:spPr>
            <a:xfrm>
              <a:off x="4057900" y="3505600"/>
              <a:ext cx="176800" cy="81200"/>
            </a:xfrm>
            <a:custGeom>
              <a:avLst/>
              <a:gdLst/>
              <a:ahLst/>
              <a:cxnLst/>
              <a:rect l="l" t="t" r="r" b="b"/>
              <a:pathLst>
                <a:path w="7072"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9"/>
            <p:cNvSpPr/>
            <p:nvPr/>
          </p:nvSpPr>
          <p:spPr>
            <a:xfrm>
              <a:off x="4243525"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9"/>
            <p:cNvSpPr/>
            <p:nvPr/>
          </p:nvSpPr>
          <p:spPr>
            <a:xfrm>
              <a:off x="4429150" y="3505600"/>
              <a:ext cx="176825" cy="81200"/>
            </a:xfrm>
            <a:custGeom>
              <a:avLst/>
              <a:gdLst/>
              <a:ahLst/>
              <a:cxnLst/>
              <a:rect l="l" t="t" r="r" b="b"/>
              <a:pathLst>
                <a:path w="7073" h="3248" extrusionOk="0">
                  <a:moveTo>
                    <a:pt x="1" y="1"/>
                  </a:moveTo>
                  <a:lnTo>
                    <a:pt x="1" y="3247"/>
                  </a:lnTo>
                  <a:lnTo>
                    <a:pt x="7073" y="3247"/>
                  </a:lnTo>
                  <a:lnTo>
                    <a:pt x="7073" y="1"/>
                  </a:lnTo>
                  <a:close/>
                </a:path>
              </a:pathLst>
            </a:cu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9"/>
            <p:cNvSpPr/>
            <p:nvPr/>
          </p:nvSpPr>
          <p:spPr>
            <a:xfrm>
              <a:off x="4614800" y="3505600"/>
              <a:ext cx="176800" cy="81200"/>
            </a:xfrm>
            <a:custGeom>
              <a:avLst/>
              <a:gdLst/>
              <a:ahLst/>
              <a:cxnLst/>
              <a:rect l="l" t="t" r="r" b="b"/>
              <a:pathLst>
                <a:path w="7072" h="3248" extrusionOk="0">
                  <a:moveTo>
                    <a:pt x="0" y="1"/>
                  </a:moveTo>
                  <a:lnTo>
                    <a:pt x="0"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9"/>
            <p:cNvSpPr/>
            <p:nvPr/>
          </p:nvSpPr>
          <p:spPr>
            <a:xfrm>
              <a:off x="4800425"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9"/>
            <p:cNvSpPr/>
            <p:nvPr/>
          </p:nvSpPr>
          <p:spPr>
            <a:xfrm>
              <a:off x="4986050" y="3505600"/>
              <a:ext cx="176025" cy="81200"/>
            </a:xfrm>
            <a:custGeom>
              <a:avLst/>
              <a:gdLst/>
              <a:ahLst/>
              <a:cxnLst/>
              <a:rect l="l" t="t" r="r" b="b"/>
              <a:pathLst>
                <a:path w="7041" h="3248" extrusionOk="0">
                  <a:moveTo>
                    <a:pt x="1" y="1"/>
                  </a:moveTo>
                  <a:lnTo>
                    <a:pt x="1" y="3247"/>
                  </a:lnTo>
                  <a:lnTo>
                    <a:pt x="7041" y="3247"/>
                  </a:lnTo>
                  <a:lnTo>
                    <a:pt x="70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9"/>
            <p:cNvSpPr/>
            <p:nvPr/>
          </p:nvSpPr>
          <p:spPr>
            <a:xfrm>
              <a:off x="5171700" y="3505600"/>
              <a:ext cx="176000" cy="81200"/>
            </a:xfrm>
            <a:custGeom>
              <a:avLst/>
              <a:gdLst/>
              <a:ahLst/>
              <a:cxnLst/>
              <a:rect l="l" t="t" r="r" b="b"/>
              <a:pathLst>
                <a:path w="7040" h="3248" extrusionOk="0">
                  <a:moveTo>
                    <a:pt x="0" y="1"/>
                  </a:moveTo>
                  <a:lnTo>
                    <a:pt x="0" y="3247"/>
                  </a:lnTo>
                  <a:lnTo>
                    <a:pt x="7040" y="3247"/>
                  </a:lnTo>
                  <a:lnTo>
                    <a:pt x="70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9"/>
            <p:cNvSpPr/>
            <p:nvPr/>
          </p:nvSpPr>
          <p:spPr>
            <a:xfrm>
              <a:off x="5357325"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9"/>
            <p:cNvSpPr/>
            <p:nvPr/>
          </p:nvSpPr>
          <p:spPr>
            <a:xfrm>
              <a:off x="1902600" y="1883100"/>
              <a:ext cx="299775" cy="81200"/>
            </a:xfrm>
            <a:custGeom>
              <a:avLst/>
              <a:gdLst/>
              <a:ahLst/>
              <a:cxnLst/>
              <a:rect l="l" t="t" r="r" b="b"/>
              <a:pathLst>
                <a:path w="11991" h="3248" extrusionOk="0">
                  <a:moveTo>
                    <a:pt x="1" y="1"/>
                  </a:moveTo>
                  <a:lnTo>
                    <a:pt x="1" y="3247"/>
                  </a:lnTo>
                  <a:lnTo>
                    <a:pt x="11990" y="3247"/>
                  </a:lnTo>
                  <a:lnTo>
                    <a:pt x="119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9"/>
            <p:cNvSpPr/>
            <p:nvPr/>
          </p:nvSpPr>
          <p:spPr>
            <a:xfrm>
              <a:off x="2218425"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9"/>
            <p:cNvSpPr/>
            <p:nvPr/>
          </p:nvSpPr>
          <p:spPr>
            <a:xfrm>
              <a:off x="2534250"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9"/>
            <p:cNvSpPr/>
            <p:nvPr/>
          </p:nvSpPr>
          <p:spPr>
            <a:xfrm>
              <a:off x="2850050"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9"/>
            <p:cNvSpPr/>
            <p:nvPr/>
          </p:nvSpPr>
          <p:spPr>
            <a:xfrm>
              <a:off x="3166675"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9"/>
            <p:cNvSpPr/>
            <p:nvPr/>
          </p:nvSpPr>
          <p:spPr>
            <a:xfrm>
              <a:off x="3482500"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9"/>
            <p:cNvSpPr/>
            <p:nvPr/>
          </p:nvSpPr>
          <p:spPr>
            <a:xfrm>
              <a:off x="3798325"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9"/>
            <p:cNvSpPr/>
            <p:nvPr/>
          </p:nvSpPr>
          <p:spPr>
            <a:xfrm>
              <a:off x="4114950"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9"/>
            <p:cNvSpPr/>
            <p:nvPr/>
          </p:nvSpPr>
          <p:spPr>
            <a:xfrm>
              <a:off x="4430775"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9"/>
            <p:cNvSpPr/>
            <p:nvPr/>
          </p:nvSpPr>
          <p:spPr>
            <a:xfrm>
              <a:off x="4746575"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9"/>
            <p:cNvSpPr/>
            <p:nvPr/>
          </p:nvSpPr>
          <p:spPr>
            <a:xfrm>
              <a:off x="5063200" y="1883100"/>
              <a:ext cx="299775" cy="81200"/>
            </a:xfrm>
            <a:custGeom>
              <a:avLst/>
              <a:gdLst/>
              <a:ahLst/>
              <a:cxnLst/>
              <a:rect l="l" t="t" r="r" b="b"/>
              <a:pathLst>
                <a:path w="11991" h="3248" extrusionOk="0">
                  <a:moveTo>
                    <a:pt x="1" y="1"/>
                  </a:moveTo>
                  <a:lnTo>
                    <a:pt x="1" y="3247"/>
                  </a:lnTo>
                  <a:lnTo>
                    <a:pt x="11991" y="3247"/>
                  </a:lnTo>
                  <a:lnTo>
                    <a:pt x="119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9"/>
            <p:cNvSpPr/>
            <p:nvPr/>
          </p:nvSpPr>
          <p:spPr>
            <a:xfrm>
              <a:off x="5379025"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9"/>
            <p:cNvSpPr/>
            <p:nvPr/>
          </p:nvSpPr>
          <p:spPr>
            <a:xfrm>
              <a:off x="3290450" y="2074375"/>
              <a:ext cx="512725" cy="198500"/>
            </a:xfrm>
            <a:custGeom>
              <a:avLst/>
              <a:gdLst/>
              <a:ahLst/>
              <a:cxnLst/>
              <a:rect l="l" t="t" r="r" b="b"/>
              <a:pathLst>
                <a:path w="20509" h="7940" extrusionOk="0">
                  <a:moveTo>
                    <a:pt x="0" y="0"/>
                  </a:moveTo>
                  <a:lnTo>
                    <a:pt x="4436" y="2218"/>
                  </a:lnTo>
                  <a:lnTo>
                    <a:pt x="4436" y="6751"/>
                  </a:lnTo>
                  <a:cubicBezTo>
                    <a:pt x="4436" y="7426"/>
                    <a:pt x="4950" y="7940"/>
                    <a:pt x="5625" y="7940"/>
                  </a:cubicBezTo>
                  <a:lnTo>
                    <a:pt x="19319" y="7940"/>
                  </a:lnTo>
                  <a:cubicBezTo>
                    <a:pt x="19962" y="7940"/>
                    <a:pt x="20508" y="7426"/>
                    <a:pt x="20508" y="6751"/>
                  </a:cubicBezTo>
                  <a:lnTo>
                    <a:pt x="20508" y="1190"/>
                  </a:lnTo>
                  <a:cubicBezTo>
                    <a:pt x="20508" y="547"/>
                    <a:pt x="19962" y="0"/>
                    <a:pt x="193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9"/>
            <p:cNvSpPr/>
            <p:nvPr/>
          </p:nvSpPr>
          <p:spPr>
            <a:xfrm>
              <a:off x="3503400" y="2106500"/>
              <a:ext cx="60300" cy="131025"/>
            </a:xfrm>
            <a:custGeom>
              <a:avLst/>
              <a:gdLst/>
              <a:ahLst/>
              <a:cxnLst/>
              <a:rect l="l" t="t" r="r" b="b"/>
              <a:pathLst>
                <a:path w="2412" h="5241" extrusionOk="0">
                  <a:moveTo>
                    <a:pt x="1190" y="1"/>
                  </a:moveTo>
                  <a:cubicBezTo>
                    <a:pt x="418" y="1"/>
                    <a:pt x="0" y="483"/>
                    <a:pt x="0" y="1287"/>
                  </a:cubicBezTo>
                  <a:lnTo>
                    <a:pt x="0" y="1576"/>
                  </a:lnTo>
                  <a:lnTo>
                    <a:pt x="772" y="1576"/>
                  </a:lnTo>
                  <a:lnTo>
                    <a:pt x="772" y="1255"/>
                  </a:lnTo>
                  <a:cubicBezTo>
                    <a:pt x="772" y="869"/>
                    <a:pt x="933" y="740"/>
                    <a:pt x="1190" y="740"/>
                  </a:cubicBezTo>
                  <a:cubicBezTo>
                    <a:pt x="1447" y="740"/>
                    <a:pt x="1608" y="869"/>
                    <a:pt x="1608" y="1319"/>
                  </a:cubicBezTo>
                  <a:lnTo>
                    <a:pt x="1608" y="1608"/>
                  </a:lnTo>
                  <a:cubicBezTo>
                    <a:pt x="1608" y="2026"/>
                    <a:pt x="1415" y="2155"/>
                    <a:pt x="1125" y="2155"/>
                  </a:cubicBezTo>
                  <a:lnTo>
                    <a:pt x="804" y="2155"/>
                  </a:lnTo>
                  <a:lnTo>
                    <a:pt x="804" y="2894"/>
                  </a:lnTo>
                  <a:lnTo>
                    <a:pt x="1061" y="2894"/>
                  </a:lnTo>
                  <a:cubicBezTo>
                    <a:pt x="1447" y="2894"/>
                    <a:pt x="1608" y="3055"/>
                    <a:pt x="1608" y="3537"/>
                  </a:cubicBezTo>
                  <a:lnTo>
                    <a:pt x="1608" y="3955"/>
                  </a:lnTo>
                  <a:cubicBezTo>
                    <a:pt x="1608" y="4405"/>
                    <a:pt x="1447" y="4533"/>
                    <a:pt x="1190" y="4533"/>
                  </a:cubicBezTo>
                  <a:cubicBezTo>
                    <a:pt x="933" y="4533"/>
                    <a:pt x="772" y="4373"/>
                    <a:pt x="772" y="4019"/>
                  </a:cubicBezTo>
                  <a:lnTo>
                    <a:pt x="772" y="3537"/>
                  </a:lnTo>
                  <a:lnTo>
                    <a:pt x="0" y="3537"/>
                  </a:lnTo>
                  <a:lnTo>
                    <a:pt x="0" y="3955"/>
                  </a:lnTo>
                  <a:cubicBezTo>
                    <a:pt x="0" y="4790"/>
                    <a:pt x="418" y="5241"/>
                    <a:pt x="1190" y="5241"/>
                  </a:cubicBezTo>
                  <a:cubicBezTo>
                    <a:pt x="1993" y="5241"/>
                    <a:pt x="2411" y="4790"/>
                    <a:pt x="2411" y="3955"/>
                  </a:cubicBezTo>
                  <a:lnTo>
                    <a:pt x="2411" y="3569"/>
                  </a:lnTo>
                  <a:cubicBezTo>
                    <a:pt x="2411" y="3055"/>
                    <a:pt x="2251" y="2669"/>
                    <a:pt x="1833" y="2476"/>
                  </a:cubicBezTo>
                  <a:cubicBezTo>
                    <a:pt x="2218" y="2315"/>
                    <a:pt x="2411" y="1962"/>
                    <a:pt x="2411" y="1415"/>
                  </a:cubicBezTo>
                  <a:lnTo>
                    <a:pt x="2411" y="1287"/>
                  </a:lnTo>
                  <a:cubicBezTo>
                    <a:pt x="2411" y="483"/>
                    <a:pt x="1993" y="1"/>
                    <a:pt x="11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9"/>
            <p:cNvSpPr/>
            <p:nvPr/>
          </p:nvSpPr>
          <p:spPr>
            <a:xfrm>
              <a:off x="3575725" y="2106500"/>
              <a:ext cx="61100" cy="131025"/>
            </a:xfrm>
            <a:custGeom>
              <a:avLst/>
              <a:gdLst/>
              <a:ahLst/>
              <a:cxnLst/>
              <a:rect l="l" t="t" r="r" b="b"/>
              <a:pathLst>
                <a:path w="2444" h="5241" extrusionOk="0">
                  <a:moveTo>
                    <a:pt x="1222" y="740"/>
                  </a:moveTo>
                  <a:cubicBezTo>
                    <a:pt x="1479" y="740"/>
                    <a:pt x="1640" y="869"/>
                    <a:pt x="1640" y="1255"/>
                  </a:cubicBezTo>
                  <a:lnTo>
                    <a:pt x="1640" y="4019"/>
                  </a:lnTo>
                  <a:cubicBezTo>
                    <a:pt x="1640" y="4373"/>
                    <a:pt x="1479" y="4533"/>
                    <a:pt x="1222" y="4533"/>
                  </a:cubicBezTo>
                  <a:cubicBezTo>
                    <a:pt x="965" y="4533"/>
                    <a:pt x="804" y="4373"/>
                    <a:pt x="804" y="4019"/>
                  </a:cubicBezTo>
                  <a:lnTo>
                    <a:pt x="804" y="1255"/>
                  </a:lnTo>
                  <a:cubicBezTo>
                    <a:pt x="804" y="869"/>
                    <a:pt x="965" y="740"/>
                    <a:pt x="1222" y="740"/>
                  </a:cubicBezTo>
                  <a:close/>
                  <a:moveTo>
                    <a:pt x="1222" y="1"/>
                  </a:moveTo>
                  <a:cubicBezTo>
                    <a:pt x="418" y="1"/>
                    <a:pt x="0" y="483"/>
                    <a:pt x="0" y="1287"/>
                  </a:cubicBezTo>
                  <a:lnTo>
                    <a:pt x="0" y="3955"/>
                  </a:lnTo>
                  <a:cubicBezTo>
                    <a:pt x="0" y="4790"/>
                    <a:pt x="418" y="5241"/>
                    <a:pt x="1222" y="5241"/>
                  </a:cubicBezTo>
                  <a:cubicBezTo>
                    <a:pt x="1993" y="5241"/>
                    <a:pt x="2443" y="4790"/>
                    <a:pt x="2443" y="3955"/>
                  </a:cubicBezTo>
                  <a:lnTo>
                    <a:pt x="2443" y="1287"/>
                  </a:lnTo>
                  <a:cubicBezTo>
                    <a:pt x="2443" y="483"/>
                    <a:pt x="1993" y="1"/>
                    <a:pt x="12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9"/>
            <p:cNvSpPr/>
            <p:nvPr/>
          </p:nvSpPr>
          <p:spPr>
            <a:xfrm>
              <a:off x="3649650" y="2108125"/>
              <a:ext cx="66725" cy="128600"/>
            </a:xfrm>
            <a:custGeom>
              <a:avLst/>
              <a:gdLst/>
              <a:ahLst/>
              <a:cxnLst/>
              <a:rect l="l" t="t" r="r" b="b"/>
              <a:pathLst>
                <a:path w="2669" h="5144" extrusionOk="0">
                  <a:moveTo>
                    <a:pt x="1" y="0"/>
                  </a:moveTo>
                  <a:lnTo>
                    <a:pt x="1" y="5143"/>
                  </a:lnTo>
                  <a:lnTo>
                    <a:pt x="804" y="5143"/>
                  </a:lnTo>
                  <a:lnTo>
                    <a:pt x="804" y="3568"/>
                  </a:lnTo>
                  <a:lnTo>
                    <a:pt x="1061" y="3086"/>
                  </a:lnTo>
                  <a:lnTo>
                    <a:pt x="1833" y="5143"/>
                  </a:lnTo>
                  <a:lnTo>
                    <a:pt x="2669" y="5143"/>
                  </a:lnTo>
                  <a:lnTo>
                    <a:pt x="1544" y="2283"/>
                  </a:lnTo>
                  <a:lnTo>
                    <a:pt x="2669" y="0"/>
                  </a:lnTo>
                  <a:lnTo>
                    <a:pt x="1865" y="0"/>
                  </a:lnTo>
                  <a:lnTo>
                    <a:pt x="804" y="2250"/>
                  </a:lnTo>
                  <a:lnTo>
                    <a:pt x="8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9"/>
            <p:cNvSpPr/>
            <p:nvPr/>
          </p:nvSpPr>
          <p:spPr>
            <a:xfrm>
              <a:off x="2318075" y="3979725"/>
              <a:ext cx="69125" cy="148700"/>
            </a:xfrm>
            <a:custGeom>
              <a:avLst/>
              <a:gdLst/>
              <a:ahLst/>
              <a:cxnLst/>
              <a:rect l="l" t="t" r="r" b="b"/>
              <a:pathLst>
                <a:path w="2765" h="5948" extrusionOk="0">
                  <a:moveTo>
                    <a:pt x="161" y="1"/>
                  </a:moveTo>
                  <a:lnTo>
                    <a:pt x="0" y="3408"/>
                  </a:lnTo>
                  <a:lnTo>
                    <a:pt x="868" y="3408"/>
                  </a:lnTo>
                  <a:lnTo>
                    <a:pt x="868" y="3215"/>
                  </a:lnTo>
                  <a:cubicBezTo>
                    <a:pt x="868" y="2797"/>
                    <a:pt x="1061" y="2637"/>
                    <a:pt x="1350" y="2637"/>
                  </a:cubicBezTo>
                  <a:cubicBezTo>
                    <a:pt x="1640" y="2637"/>
                    <a:pt x="1833" y="2797"/>
                    <a:pt x="1833" y="3215"/>
                  </a:cubicBezTo>
                  <a:lnTo>
                    <a:pt x="1833" y="4533"/>
                  </a:lnTo>
                  <a:cubicBezTo>
                    <a:pt x="1833" y="4951"/>
                    <a:pt x="1640" y="5112"/>
                    <a:pt x="1350" y="5112"/>
                  </a:cubicBezTo>
                  <a:cubicBezTo>
                    <a:pt x="1061" y="5112"/>
                    <a:pt x="868" y="4951"/>
                    <a:pt x="868" y="4533"/>
                  </a:cubicBezTo>
                  <a:lnTo>
                    <a:pt x="868" y="3987"/>
                  </a:lnTo>
                  <a:lnTo>
                    <a:pt x="0" y="3987"/>
                  </a:lnTo>
                  <a:lnTo>
                    <a:pt x="0" y="4469"/>
                  </a:lnTo>
                  <a:cubicBezTo>
                    <a:pt x="0" y="5401"/>
                    <a:pt x="482" y="5948"/>
                    <a:pt x="1383" y="5948"/>
                  </a:cubicBezTo>
                  <a:cubicBezTo>
                    <a:pt x="2283" y="5948"/>
                    <a:pt x="2765" y="5401"/>
                    <a:pt x="2765" y="4469"/>
                  </a:cubicBezTo>
                  <a:lnTo>
                    <a:pt x="2765" y="3151"/>
                  </a:lnTo>
                  <a:cubicBezTo>
                    <a:pt x="2765" y="2283"/>
                    <a:pt x="2411" y="1801"/>
                    <a:pt x="1736" y="1801"/>
                  </a:cubicBezTo>
                  <a:cubicBezTo>
                    <a:pt x="1350" y="1801"/>
                    <a:pt x="1093" y="1962"/>
                    <a:pt x="932" y="2251"/>
                  </a:cubicBezTo>
                  <a:lnTo>
                    <a:pt x="997" y="837"/>
                  </a:lnTo>
                  <a:lnTo>
                    <a:pt x="2604" y="837"/>
                  </a:lnTo>
                  <a:lnTo>
                    <a:pt x="26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9"/>
            <p:cNvSpPr/>
            <p:nvPr/>
          </p:nvSpPr>
          <p:spPr>
            <a:xfrm>
              <a:off x="2400050" y="3978125"/>
              <a:ext cx="70725" cy="150300"/>
            </a:xfrm>
            <a:custGeom>
              <a:avLst/>
              <a:gdLst/>
              <a:ahLst/>
              <a:cxnLst/>
              <a:rect l="l" t="t" r="r" b="b"/>
              <a:pathLst>
                <a:path w="2829" h="6012" extrusionOk="0">
                  <a:moveTo>
                    <a:pt x="1414" y="836"/>
                  </a:moveTo>
                  <a:cubicBezTo>
                    <a:pt x="1704" y="836"/>
                    <a:pt x="1897" y="997"/>
                    <a:pt x="1897" y="1415"/>
                  </a:cubicBezTo>
                  <a:lnTo>
                    <a:pt x="1897" y="4597"/>
                  </a:lnTo>
                  <a:cubicBezTo>
                    <a:pt x="1897" y="5015"/>
                    <a:pt x="1704" y="5176"/>
                    <a:pt x="1414" y="5176"/>
                  </a:cubicBezTo>
                  <a:cubicBezTo>
                    <a:pt x="1125" y="5176"/>
                    <a:pt x="932" y="5015"/>
                    <a:pt x="932" y="4597"/>
                  </a:cubicBezTo>
                  <a:lnTo>
                    <a:pt x="932" y="1415"/>
                  </a:lnTo>
                  <a:cubicBezTo>
                    <a:pt x="932" y="997"/>
                    <a:pt x="1125" y="836"/>
                    <a:pt x="1414" y="836"/>
                  </a:cubicBezTo>
                  <a:close/>
                  <a:moveTo>
                    <a:pt x="1414" y="1"/>
                  </a:moveTo>
                  <a:cubicBezTo>
                    <a:pt x="514" y="1"/>
                    <a:pt x="0" y="515"/>
                    <a:pt x="0" y="1479"/>
                  </a:cubicBezTo>
                  <a:lnTo>
                    <a:pt x="0" y="4533"/>
                  </a:lnTo>
                  <a:cubicBezTo>
                    <a:pt x="0" y="5465"/>
                    <a:pt x="514" y="6012"/>
                    <a:pt x="1414" y="6012"/>
                  </a:cubicBezTo>
                  <a:cubicBezTo>
                    <a:pt x="2314" y="6012"/>
                    <a:pt x="2829" y="5465"/>
                    <a:pt x="2829" y="4533"/>
                  </a:cubicBezTo>
                  <a:lnTo>
                    <a:pt x="2829" y="1479"/>
                  </a:lnTo>
                  <a:cubicBezTo>
                    <a:pt x="2829" y="515"/>
                    <a:pt x="2314" y="1"/>
                    <a:pt x="1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9"/>
            <p:cNvSpPr/>
            <p:nvPr/>
          </p:nvSpPr>
          <p:spPr>
            <a:xfrm>
              <a:off x="2483625" y="3978125"/>
              <a:ext cx="70725" cy="150300"/>
            </a:xfrm>
            <a:custGeom>
              <a:avLst/>
              <a:gdLst/>
              <a:ahLst/>
              <a:cxnLst/>
              <a:rect l="l" t="t" r="r" b="b"/>
              <a:pathLst>
                <a:path w="2829" h="6012" extrusionOk="0">
                  <a:moveTo>
                    <a:pt x="1414" y="836"/>
                  </a:moveTo>
                  <a:cubicBezTo>
                    <a:pt x="1704" y="836"/>
                    <a:pt x="1897" y="997"/>
                    <a:pt x="1897" y="1415"/>
                  </a:cubicBezTo>
                  <a:lnTo>
                    <a:pt x="1897" y="4597"/>
                  </a:lnTo>
                  <a:cubicBezTo>
                    <a:pt x="1897" y="5015"/>
                    <a:pt x="1704" y="5176"/>
                    <a:pt x="1414" y="5176"/>
                  </a:cubicBezTo>
                  <a:cubicBezTo>
                    <a:pt x="1125" y="5176"/>
                    <a:pt x="932" y="5015"/>
                    <a:pt x="932" y="4597"/>
                  </a:cubicBezTo>
                  <a:lnTo>
                    <a:pt x="932" y="1415"/>
                  </a:lnTo>
                  <a:cubicBezTo>
                    <a:pt x="932" y="997"/>
                    <a:pt x="1125" y="836"/>
                    <a:pt x="1414" y="836"/>
                  </a:cubicBezTo>
                  <a:close/>
                  <a:moveTo>
                    <a:pt x="1414" y="1"/>
                  </a:moveTo>
                  <a:cubicBezTo>
                    <a:pt x="514" y="1"/>
                    <a:pt x="0" y="515"/>
                    <a:pt x="0" y="1479"/>
                  </a:cubicBezTo>
                  <a:lnTo>
                    <a:pt x="0" y="4533"/>
                  </a:lnTo>
                  <a:cubicBezTo>
                    <a:pt x="0" y="5465"/>
                    <a:pt x="514" y="6012"/>
                    <a:pt x="1414" y="6012"/>
                  </a:cubicBezTo>
                  <a:cubicBezTo>
                    <a:pt x="2314" y="6012"/>
                    <a:pt x="2829" y="5465"/>
                    <a:pt x="2829" y="4533"/>
                  </a:cubicBezTo>
                  <a:lnTo>
                    <a:pt x="2829" y="1479"/>
                  </a:lnTo>
                  <a:cubicBezTo>
                    <a:pt x="2829" y="515"/>
                    <a:pt x="2314" y="1"/>
                    <a:pt x="1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9"/>
            <p:cNvSpPr/>
            <p:nvPr/>
          </p:nvSpPr>
          <p:spPr>
            <a:xfrm>
              <a:off x="2568800" y="3979725"/>
              <a:ext cx="76375" cy="147100"/>
            </a:xfrm>
            <a:custGeom>
              <a:avLst/>
              <a:gdLst/>
              <a:ahLst/>
              <a:cxnLst/>
              <a:rect l="l" t="t" r="r" b="b"/>
              <a:pathLst>
                <a:path w="3055" h="5884" extrusionOk="0">
                  <a:moveTo>
                    <a:pt x="0" y="1"/>
                  </a:moveTo>
                  <a:lnTo>
                    <a:pt x="0" y="5883"/>
                  </a:lnTo>
                  <a:lnTo>
                    <a:pt x="933" y="5883"/>
                  </a:lnTo>
                  <a:lnTo>
                    <a:pt x="933" y="4083"/>
                  </a:lnTo>
                  <a:lnTo>
                    <a:pt x="1222" y="3537"/>
                  </a:lnTo>
                  <a:lnTo>
                    <a:pt x="2122" y="5883"/>
                  </a:lnTo>
                  <a:lnTo>
                    <a:pt x="3054" y="5883"/>
                  </a:lnTo>
                  <a:lnTo>
                    <a:pt x="1768" y="2605"/>
                  </a:lnTo>
                  <a:lnTo>
                    <a:pt x="3054" y="1"/>
                  </a:lnTo>
                  <a:lnTo>
                    <a:pt x="2154" y="1"/>
                  </a:lnTo>
                  <a:lnTo>
                    <a:pt x="933" y="2572"/>
                  </a:lnTo>
                  <a:lnTo>
                    <a:pt x="9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9"/>
            <p:cNvSpPr/>
            <p:nvPr/>
          </p:nvSpPr>
          <p:spPr>
            <a:xfrm>
              <a:off x="2310025" y="4223225"/>
              <a:ext cx="337550" cy="12875"/>
            </a:xfrm>
            <a:custGeom>
              <a:avLst/>
              <a:gdLst/>
              <a:ahLst/>
              <a:cxnLst/>
              <a:rect l="l" t="t" r="r" b="b"/>
              <a:pathLst>
                <a:path w="13502" h="515" extrusionOk="0">
                  <a:moveTo>
                    <a:pt x="1" y="1"/>
                  </a:moveTo>
                  <a:lnTo>
                    <a:pt x="1" y="515"/>
                  </a:lnTo>
                  <a:lnTo>
                    <a:pt x="13502" y="515"/>
                  </a:lnTo>
                  <a:lnTo>
                    <a:pt x="13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9"/>
            <p:cNvSpPr/>
            <p:nvPr/>
          </p:nvSpPr>
          <p:spPr>
            <a:xfrm>
              <a:off x="3584550" y="3979725"/>
              <a:ext cx="69150" cy="148700"/>
            </a:xfrm>
            <a:custGeom>
              <a:avLst/>
              <a:gdLst/>
              <a:ahLst/>
              <a:cxnLst/>
              <a:rect l="l" t="t" r="r" b="b"/>
              <a:pathLst>
                <a:path w="2766" h="5948" extrusionOk="0">
                  <a:moveTo>
                    <a:pt x="162" y="1"/>
                  </a:moveTo>
                  <a:lnTo>
                    <a:pt x="1" y="3408"/>
                  </a:lnTo>
                  <a:lnTo>
                    <a:pt x="869" y="3408"/>
                  </a:lnTo>
                  <a:lnTo>
                    <a:pt x="869" y="3215"/>
                  </a:lnTo>
                  <a:cubicBezTo>
                    <a:pt x="869" y="2797"/>
                    <a:pt x="1062" y="2637"/>
                    <a:pt x="1351" y="2637"/>
                  </a:cubicBezTo>
                  <a:cubicBezTo>
                    <a:pt x="1640" y="2637"/>
                    <a:pt x="1833" y="2797"/>
                    <a:pt x="1833" y="3215"/>
                  </a:cubicBezTo>
                  <a:lnTo>
                    <a:pt x="1833" y="4533"/>
                  </a:lnTo>
                  <a:cubicBezTo>
                    <a:pt x="1833" y="4951"/>
                    <a:pt x="1640" y="5112"/>
                    <a:pt x="1351" y="5112"/>
                  </a:cubicBezTo>
                  <a:cubicBezTo>
                    <a:pt x="1062" y="5112"/>
                    <a:pt x="869" y="4951"/>
                    <a:pt x="869" y="4533"/>
                  </a:cubicBezTo>
                  <a:lnTo>
                    <a:pt x="869" y="3987"/>
                  </a:lnTo>
                  <a:lnTo>
                    <a:pt x="1" y="3987"/>
                  </a:lnTo>
                  <a:lnTo>
                    <a:pt x="1" y="4469"/>
                  </a:lnTo>
                  <a:cubicBezTo>
                    <a:pt x="1" y="5401"/>
                    <a:pt x="451" y="5948"/>
                    <a:pt x="1383" y="5948"/>
                  </a:cubicBezTo>
                  <a:cubicBezTo>
                    <a:pt x="2283" y="5948"/>
                    <a:pt x="2765" y="5401"/>
                    <a:pt x="2765" y="4469"/>
                  </a:cubicBezTo>
                  <a:lnTo>
                    <a:pt x="2765" y="3151"/>
                  </a:lnTo>
                  <a:cubicBezTo>
                    <a:pt x="2765" y="2283"/>
                    <a:pt x="2412" y="1801"/>
                    <a:pt x="1737" y="1801"/>
                  </a:cubicBezTo>
                  <a:cubicBezTo>
                    <a:pt x="1351" y="1801"/>
                    <a:pt x="1094" y="1962"/>
                    <a:pt x="933" y="2251"/>
                  </a:cubicBezTo>
                  <a:lnTo>
                    <a:pt x="997" y="837"/>
                  </a:lnTo>
                  <a:lnTo>
                    <a:pt x="2605" y="837"/>
                  </a:lnTo>
                  <a:lnTo>
                    <a:pt x="2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9"/>
            <p:cNvSpPr/>
            <p:nvPr/>
          </p:nvSpPr>
          <p:spPr>
            <a:xfrm>
              <a:off x="3666525" y="3978125"/>
              <a:ext cx="70750" cy="150300"/>
            </a:xfrm>
            <a:custGeom>
              <a:avLst/>
              <a:gdLst/>
              <a:ahLst/>
              <a:cxnLst/>
              <a:rect l="l" t="t" r="r" b="b"/>
              <a:pathLst>
                <a:path w="2830" h="6012" extrusionOk="0">
                  <a:moveTo>
                    <a:pt x="1415" y="836"/>
                  </a:moveTo>
                  <a:cubicBezTo>
                    <a:pt x="1704" y="836"/>
                    <a:pt x="1897" y="997"/>
                    <a:pt x="1897" y="1415"/>
                  </a:cubicBezTo>
                  <a:lnTo>
                    <a:pt x="1897" y="4597"/>
                  </a:lnTo>
                  <a:cubicBezTo>
                    <a:pt x="1897" y="5015"/>
                    <a:pt x="1704" y="5176"/>
                    <a:pt x="1415" y="5176"/>
                  </a:cubicBezTo>
                  <a:cubicBezTo>
                    <a:pt x="1126" y="5176"/>
                    <a:pt x="933" y="5015"/>
                    <a:pt x="933" y="4597"/>
                  </a:cubicBezTo>
                  <a:lnTo>
                    <a:pt x="933" y="1415"/>
                  </a:lnTo>
                  <a:cubicBezTo>
                    <a:pt x="933" y="997"/>
                    <a:pt x="1126" y="836"/>
                    <a:pt x="1415" y="836"/>
                  </a:cubicBezTo>
                  <a:close/>
                  <a:moveTo>
                    <a:pt x="1415" y="1"/>
                  </a:moveTo>
                  <a:cubicBezTo>
                    <a:pt x="515" y="1"/>
                    <a:pt x="1" y="515"/>
                    <a:pt x="1" y="1479"/>
                  </a:cubicBezTo>
                  <a:lnTo>
                    <a:pt x="1" y="4533"/>
                  </a:lnTo>
                  <a:cubicBezTo>
                    <a:pt x="1" y="5465"/>
                    <a:pt x="515" y="6012"/>
                    <a:pt x="1415" y="6012"/>
                  </a:cubicBezTo>
                  <a:cubicBezTo>
                    <a:pt x="2315" y="6012"/>
                    <a:pt x="2829" y="5465"/>
                    <a:pt x="2829" y="4533"/>
                  </a:cubicBezTo>
                  <a:lnTo>
                    <a:pt x="2829" y="1479"/>
                  </a:lnTo>
                  <a:cubicBezTo>
                    <a:pt x="2829" y="515"/>
                    <a:pt x="231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9"/>
            <p:cNvSpPr/>
            <p:nvPr/>
          </p:nvSpPr>
          <p:spPr>
            <a:xfrm>
              <a:off x="3750100" y="3978125"/>
              <a:ext cx="70750" cy="150300"/>
            </a:xfrm>
            <a:custGeom>
              <a:avLst/>
              <a:gdLst/>
              <a:ahLst/>
              <a:cxnLst/>
              <a:rect l="l" t="t" r="r" b="b"/>
              <a:pathLst>
                <a:path w="2830" h="6012" extrusionOk="0">
                  <a:moveTo>
                    <a:pt x="1415" y="836"/>
                  </a:moveTo>
                  <a:cubicBezTo>
                    <a:pt x="1704" y="836"/>
                    <a:pt x="1897" y="997"/>
                    <a:pt x="1897" y="1415"/>
                  </a:cubicBezTo>
                  <a:lnTo>
                    <a:pt x="1897" y="4597"/>
                  </a:lnTo>
                  <a:cubicBezTo>
                    <a:pt x="1897" y="5015"/>
                    <a:pt x="1704" y="5176"/>
                    <a:pt x="1415" y="5176"/>
                  </a:cubicBezTo>
                  <a:cubicBezTo>
                    <a:pt x="1126" y="5176"/>
                    <a:pt x="933" y="5015"/>
                    <a:pt x="933" y="4597"/>
                  </a:cubicBezTo>
                  <a:lnTo>
                    <a:pt x="933" y="1415"/>
                  </a:lnTo>
                  <a:cubicBezTo>
                    <a:pt x="933" y="997"/>
                    <a:pt x="1126" y="836"/>
                    <a:pt x="1415" y="836"/>
                  </a:cubicBezTo>
                  <a:close/>
                  <a:moveTo>
                    <a:pt x="1415" y="1"/>
                  </a:moveTo>
                  <a:cubicBezTo>
                    <a:pt x="515" y="1"/>
                    <a:pt x="1" y="515"/>
                    <a:pt x="1" y="1479"/>
                  </a:cubicBezTo>
                  <a:lnTo>
                    <a:pt x="1" y="4533"/>
                  </a:lnTo>
                  <a:cubicBezTo>
                    <a:pt x="1" y="5465"/>
                    <a:pt x="515" y="6012"/>
                    <a:pt x="1415" y="6012"/>
                  </a:cubicBezTo>
                  <a:cubicBezTo>
                    <a:pt x="2315" y="6012"/>
                    <a:pt x="2829" y="5465"/>
                    <a:pt x="2829" y="4533"/>
                  </a:cubicBezTo>
                  <a:lnTo>
                    <a:pt x="2829" y="1479"/>
                  </a:lnTo>
                  <a:cubicBezTo>
                    <a:pt x="2829" y="515"/>
                    <a:pt x="231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9"/>
            <p:cNvSpPr/>
            <p:nvPr/>
          </p:nvSpPr>
          <p:spPr>
            <a:xfrm>
              <a:off x="3835300" y="3979725"/>
              <a:ext cx="76350" cy="147100"/>
            </a:xfrm>
            <a:custGeom>
              <a:avLst/>
              <a:gdLst/>
              <a:ahLst/>
              <a:cxnLst/>
              <a:rect l="l" t="t" r="r" b="b"/>
              <a:pathLst>
                <a:path w="3054" h="5884" extrusionOk="0">
                  <a:moveTo>
                    <a:pt x="0" y="1"/>
                  </a:moveTo>
                  <a:lnTo>
                    <a:pt x="0" y="5883"/>
                  </a:lnTo>
                  <a:lnTo>
                    <a:pt x="932" y="5883"/>
                  </a:lnTo>
                  <a:lnTo>
                    <a:pt x="932" y="4083"/>
                  </a:lnTo>
                  <a:lnTo>
                    <a:pt x="1222" y="3537"/>
                  </a:lnTo>
                  <a:lnTo>
                    <a:pt x="2122" y="5883"/>
                  </a:lnTo>
                  <a:lnTo>
                    <a:pt x="3054" y="5883"/>
                  </a:lnTo>
                  <a:lnTo>
                    <a:pt x="1768" y="2605"/>
                  </a:lnTo>
                  <a:lnTo>
                    <a:pt x="3054" y="1"/>
                  </a:lnTo>
                  <a:lnTo>
                    <a:pt x="2154" y="1"/>
                  </a:lnTo>
                  <a:lnTo>
                    <a:pt x="932" y="2572"/>
                  </a:lnTo>
                  <a:lnTo>
                    <a:pt x="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9"/>
            <p:cNvSpPr/>
            <p:nvPr/>
          </p:nvSpPr>
          <p:spPr>
            <a:xfrm>
              <a:off x="3576525" y="4223225"/>
              <a:ext cx="337550" cy="12875"/>
            </a:xfrm>
            <a:custGeom>
              <a:avLst/>
              <a:gdLst/>
              <a:ahLst/>
              <a:cxnLst/>
              <a:rect l="l" t="t" r="r" b="b"/>
              <a:pathLst>
                <a:path w="13502" h="515" extrusionOk="0">
                  <a:moveTo>
                    <a:pt x="1" y="1"/>
                  </a:moveTo>
                  <a:lnTo>
                    <a:pt x="1" y="515"/>
                  </a:lnTo>
                  <a:lnTo>
                    <a:pt x="13501" y="515"/>
                  </a:lnTo>
                  <a:lnTo>
                    <a:pt x="13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9"/>
            <p:cNvSpPr/>
            <p:nvPr/>
          </p:nvSpPr>
          <p:spPr>
            <a:xfrm>
              <a:off x="4959550" y="3979725"/>
              <a:ext cx="69125" cy="148700"/>
            </a:xfrm>
            <a:custGeom>
              <a:avLst/>
              <a:gdLst/>
              <a:ahLst/>
              <a:cxnLst/>
              <a:rect l="l" t="t" r="r" b="b"/>
              <a:pathLst>
                <a:path w="2765" h="5948" extrusionOk="0">
                  <a:moveTo>
                    <a:pt x="161" y="1"/>
                  </a:moveTo>
                  <a:lnTo>
                    <a:pt x="0" y="3408"/>
                  </a:lnTo>
                  <a:lnTo>
                    <a:pt x="868" y="3408"/>
                  </a:lnTo>
                  <a:lnTo>
                    <a:pt x="868" y="3215"/>
                  </a:lnTo>
                  <a:cubicBezTo>
                    <a:pt x="868" y="2797"/>
                    <a:pt x="1061" y="2637"/>
                    <a:pt x="1350" y="2637"/>
                  </a:cubicBezTo>
                  <a:cubicBezTo>
                    <a:pt x="1640" y="2637"/>
                    <a:pt x="1832" y="2797"/>
                    <a:pt x="1832" y="3215"/>
                  </a:cubicBezTo>
                  <a:lnTo>
                    <a:pt x="1832" y="4533"/>
                  </a:lnTo>
                  <a:cubicBezTo>
                    <a:pt x="1832" y="4951"/>
                    <a:pt x="1640" y="5112"/>
                    <a:pt x="1350" y="5112"/>
                  </a:cubicBezTo>
                  <a:cubicBezTo>
                    <a:pt x="1061" y="5112"/>
                    <a:pt x="868" y="4951"/>
                    <a:pt x="868" y="4533"/>
                  </a:cubicBezTo>
                  <a:lnTo>
                    <a:pt x="868" y="3987"/>
                  </a:lnTo>
                  <a:lnTo>
                    <a:pt x="0" y="3987"/>
                  </a:lnTo>
                  <a:lnTo>
                    <a:pt x="0" y="4469"/>
                  </a:lnTo>
                  <a:cubicBezTo>
                    <a:pt x="0" y="5401"/>
                    <a:pt x="482" y="5948"/>
                    <a:pt x="1382" y="5948"/>
                  </a:cubicBezTo>
                  <a:cubicBezTo>
                    <a:pt x="2282" y="5948"/>
                    <a:pt x="2765" y="5401"/>
                    <a:pt x="2765" y="4469"/>
                  </a:cubicBezTo>
                  <a:lnTo>
                    <a:pt x="2765" y="3151"/>
                  </a:lnTo>
                  <a:cubicBezTo>
                    <a:pt x="2765" y="2283"/>
                    <a:pt x="2411" y="1801"/>
                    <a:pt x="1736" y="1801"/>
                  </a:cubicBezTo>
                  <a:cubicBezTo>
                    <a:pt x="1350" y="1801"/>
                    <a:pt x="1093" y="1962"/>
                    <a:pt x="932" y="2251"/>
                  </a:cubicBezTo>
                  <a:lnTo>
                    <a:pt x="997" y="837"/>
                  </a:lnTo>
                  <a:lnTo>
                    <a:pt x="2604" y="837"/>
                  </a:lnTo>
                  <a:lnTo>
                    <a:pt x="26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9"/>
            <p:cNvSpPr/>
            <p:nvPr/>
          </p:nvSpPr>
          <p:spPr>
            <a:xfrm>
              <a:off x="5042325" y="3978125"/>
              <a:ext cx="69925" cy="150300"/>
            </a:xfrm>
            <a:custGeom>
              <a:avLst/>
              <a:gdLst/>
              <a:ahLst/>
              <a:cxnLst/>
              <a:rect l="l" t="t" r="r" b="b"/>
              <a:pathLst>
                <a:path w="2797" h="6012" extrusionOk="0">
                  <a:moveTo>
                    <a:pt x="1382" y="836"/>
                  </a:moveTo>
                  <a:cubicBezTo>
                    <a:pt x="1672" y="836"/>
                    <a:pt x="1864" y="997"/>
                    <a:pt x="1864" y="1415"/>
                  </a:cubicBezTo>
                  <a:lnTo>
                    <a:pt x="1864" y="4597"/>
                  </a:lnTo>
                  <a:cubicBezTo>
                    <a:pt x="1864" y="5015"/>
                    <a:pt x="1672" y="5176"/>
                    <a:pt x="1382" y="5176"/>
                  </a:cubicBezTo>
                  <a:cubicBezTo>
                    <a:pt x="1093" y="5176"/>
                    <a:pt x="900" y="5015"/>
                    <a:pt x="900" y="4597"/>
                  </a:cubicBezTo>
                  <a:lnTo>
                    <a:pt x="900" y="1415"/>
                  </a:lnTo>
                  <a:cubicBezTo>
                    <a:pt x="900" y="997"/>
                    <a:pt x="1093" y="836"/>
                    <a:pt x="1382" y="836"/>
                  </a:cubicBezTo>
                  <a:close/>
                  <a:moveTo>
                    <a:pt x="1382" y="1"/>
                  </a:moveTo>
                  <a:cubicBezTo>
                    <a:pt x="482" y="1"/>
                    <a:pt x="0" y="515"/>
                    <a:pt x="0" y="1479"/>
                  </a:cubicBezTo>
                  <a:lnTo>
                    <a:pt x="0" y="4533"/>
                  </a:lnTo>
                  <a:cubicBezTo>
                    <a:pt x="0" y="5465"/>
                    <a:pt x="482" y="6012"/>
                    <a:pt x="1382" y="6012"/>
                  </a:cubicBezTo>
                  <a:cubicBezTo>
                    <a:pt x="2314" y="6012"/>
                    <a:pt x="2797" y="5465"/>
                    <a:pt x="2797" y="4533"/>
                  </a:cubicBezTo>
                  <a:lnTo>
                    <a:pt x="2797" y="1479"/>
                  </a:lnTo>
                  <a:cubicBezTo>
                    <a:pt x="2797" y="515"/>
                    <a:pt x="2314" y="1"/>
                    <a:pt x="1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9"/>
            <p:cNvSpPr/>
            <p:nvPr/>
          </p:nvSpPr>
          <p:spPr>
            <a:xfrm>
              <a:off x="5125075" y="3978125"/>
              <a:ext cx="70750" cy="150300"/>
            </a:xfrm>
            <a:custGeom>
              <a:avLst/>
              <a:gdLst/>
              <a:ahLst/>
              <a:cxnLst/>
              <a:rect l="l" t="t" r="r" b="b"/>
              <a:pathLst>
                <a:path w="2830" h="6012" extrusionOk="0">
                  <a:moveTo>
                    <a:pt x="1415" y="836"/>
                  </a:moveTo>
                  <a:cubicBezTo>
                    <a:pt x="1705" y="836"/>
                    <a:pt x="1897" y="997"/>
                    <a:pt x="1897" y="1415"/>
                  </a:cubicBezTo>
                  <a:lnTo>
                    <a:pt x="1897" y="4597"/>
                  </a:lnTo>
                  <a:cubicBezTo>
                    <a:pt x="1897" y="5015"/>
                    <a:pt x="1705" y="5176"/>
                    <a:pt x="1415" y="5176"/>
                  </a:cubicBezTo>
                  <a:cubicBezTo>
                    <a:pt x="1126" y="5176"/>
                    <a:pt x="933" y="5015"/>
                    <a:pt x="933" y="4597"/>
                  </a:cubicBezTo>
                  <a:lnTo>
                    <a:pt x="933" y="1415"/>
                  </a:lnTo>
                  <a:cubicBezTo>
                    <a:pt x="933" y="997"/>
                    <a:pt x="1126" y="836"/>
                    <a:pt x="1415" y="836"/>
                  </a:cubicBezTo>
                  <a:close/>
                  <a:moveTo>
                    <a:pt x="1415" y="1"/>
                  </a:moveTo>
                  <a:cubicBezTo>
                    <a:pt x="515" y="1"/>
                    <a:pt x="1" y="515"/>
                    <a:pt x="1" y="1479"/>
                  </a:cubicBezTo>
                  <a:lnTo>
                    <a:pt x="1" y="4533"/>
                  </a:lnTo>
                  <a:cubicBezTo>
                    <a:pt x="1" y="5465"/>
                    <a:pt x="515" y="6012"/>
                    <a:pt x="1415" y="6012"/>
                  </a:cubicBezTo>
                  <a:cubicBezTo>
                    <a:pt x="2315" y="6012"/>
                    <a:pt x="2830" y="5465"/>
                    <a:pt x="2830" y="4533"/>
                  </a:cubicBezTo>
                  <a:lnTo>
                    <a:pt x="2830" y="1479"/>
                  </a:lnTo>
                  <a:cubicBezTo>
                    <a:pt x="2830" y="515"/>
                    <a:pt x="231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9"/>
            <p:cNvSpPr/>
            <p:nvPr/>
          </p:nvSpPr>
          <p:spPr>
            <a:xfrm>
              <a:off x="5210275" y="3979725"/>
              <a:ext cx="77175" cy="147100"/>
            </a:xfrm>
            <a:custGeom>
              <a:avLst/>
              <a:gdLst/>
              <a:ahLst/>
              <a:cxnLst/>
              <a:rect l="l" t="t" r="r" b="b"/>
              <a:pathLst>
                <a:path w="3087" h="5884" extrusionOk="0">
                  <a:moveTo>
                    <a:pt x="0" y="1"/>
                  </a:moveTo>
                  <a:lnTo>
                    <a:pt x="0" y="5883"/>
                  </a:lnTo>
                  <a:lnTo>
                    <a:pt x="932" y="5883"/>
                  </a:lnTo>
                  <a:lnTo>
                    <a:pt x="932" y="4083"/>
                  </a:lnTo>
                  <a:lnTo>
                    <a:pt x="1222" y="3537"/>
                  </a:lnTo>
                  <a:lnTo>
                    <a:pt x="2122" y="5883"/>
                  </a:lnTo>
                  <a:lnTo>
                    <a:pt x="3086" y="5883"/>
                  </a:lnTo>
                  <a:lnTo>
                    <a:pt x="1768" y="2605"/>
                  </a:lnTo>
                  <a:lnTo>
                    <a:pt x="3086" y="1"/>
                  </a:lnTo>
                  <a:lnTo>
                    <a:pt x="2154" y="1"/>
                  </a:lnTo>
                  <a:lnTo>
                    <a:pt x="932" y="2572"/>
                  </a:lnTo>
                  <a:lnTo>
                    <a:pt x="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9"/>
            <p:cNvSpPr/>
            <p:nvPr/>
          </p:nvSpPr>
          <p:spPr>
            <a:xfrm>
              <a:off x="4952300" y="4223225"/>
              <a:ext cx="336750" cy="12875"/>
            </a:xfrm>
            <a:custGeom>
              <a:avLst/>
              <a:gdLst/>
              <a:ahLst/>
              <a:cxnLst/>
              <a:rect l="l" t="t" r="r" b="b"/>
              <a:pathLst>
                <a:path w="13470" h="515" extrusionOk="0">
                  <a:moveTo>
                    <a:pt x="1" y="1"/>
                  </a:moveTo>
                  <a:lnTo>
                    <a:pt x="1" y="515"/>
                  </a:lnTo>
                  <a:lnTo>
                    <a:pt x="13469" y="515"/>
                  </a:lnTo>
                  <a:lnTo>
                    <a:pt x="134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9"/>
            <p:cNvSpPr/>
            <p:nvPr/>
          </p:nvSpPr>
          <p:spPr>
            <a:xfrm>
              <a:off x="3124100" y="3854375"/>
              <a:ext cx="13675" cy="703175"/>
            </a:xfrm>
            <a:custGeom>
              <a:avLst/>
              <a:gdLst/>
              <a:ahLst/>
              <a:cxnLst/>
              <a:rect l="l" t="t" r="r" b="b"/>
              <a:pathLst>
                <a:path w="547" h="28127" extrusionOk="0">
                  <a:moveTo>
                    <a:pt x="0" y="0"/>
                  </a:moveTo>
                  <a:lnTo>
                    <a:pt x="0" y="28127"/>
                  </a:lnTo>
                  <a:lnTo>
                    <a:pt x="547" y="28127"/>
                  </a:lnTo>
                  <a:lnTo>
                    <a:pt x="5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9"/>
            <p:cNvSpPr/>
            <p:nvPr/>
          </p:nvSpPr>
          <p:spPr>
            <a:xfrm>
              <a:off x="4502275" y="3854375"/>
              <a:ext cx="12900" cy="703175"/>
            </a:xfrm>
            <a:custGeom>
              <a:avLst/>
              <a:gdLst/>
              <a:ahLst/>
              <a:cxnLst/>
              <a:rect l="l" t="t" r="r" b="b"/>
              <a:pathLst>
                <a:path w="516" h="28127" extrusionOk="0">
                  <a:moveTo>
                    <a:pt x="1" y="0"/>
                  </a:moveTo>
                  <a:lnTo>
                    <a:pt x="1" y="28127"/>
                  </a:lnTo>
                  <a:lnTo>
                    <a:pt x="515" y="28127"/>
                  </a:lnTo>
                  <a:lnTo>
                    <a:pt x="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9"/>
            <p:cNvSpPr/>
            <p:nvPr/>
          </p:nvSpPr>
          <p:spPr>
            <a:xfrm>
              <a:off x="2361475" y="3788475"/>
              <a:ext cx="41000" cy="84400"/>
            </a:xfrm>
            <a:custGeom>
              <a:avLst/>
              <a:gdLst/>
              <a:ahLst/>
              <a:cxnLst/>
              <a:rect l="l" t="t" r="r" b="b"/>
              <a:pathLst>
                <a:path w="1640" h="3376" extrusionOk="0">
                  <a:moveTo>
                    <a:pt x="0" y="0"/>
                  </a:moveTo>
                  <a:lnTo>
                    <a:pt x="0" y="483"/>
                  </a:lnTo>
                  <a:lnTo>
                    <a:pt x="547" y="483"/>
                  </a:lnTo>
                  <a:lnTo>
                    <a:pt x="547" y="3376"/>
                  </a:lnTo>
                  <a:lnTo>
                    <a:pt x="1093" y="3376"/>
                  </a:lnTo>
                  <a:lnTo>
                    <a:pt x="1093" y="483"/>
                  </a:lnTo>
                  <a:lnTo>
                    <a:pt x="1639" y="483"/>
                  </a:lnTo>
                  <a:lnTo>
                    <a:pt x="16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9"/>
            <p:cNvSpPr/>
            <p:nvPr/>
          </p:nvSpPr>
          <p:spPr>
            <a:xfrm>
              <a:off x="2407275" y="3786875"/>
              <a:ext cx="40200" cy="86800"/>
            </a:xfrm>
            <a:custGeom>
              <a:avLst/>
              <a:gdLst/>
              <a:ahLst/>
              <a:cxnLst/>
              <a:rect l="l" t="t" r="r" b="b"/>
              <a:pathLst>
                <a:path w="1608" h="3472" extrusionOk="0">
                  <a:moveTo>
                    <a:pt x="804" y="482"/>
                  </a:moveTo>
                  <a:cubicBezTo>
                    <a:pt x="965" y="482"/>
                    <a:pt x="1093" y="579"/>
                    <a:pt x="1093" y="836"/>
                  </a:cubicBezTo>
                  <a:lnTo>
                    <a:pt x="1093" y="2636"/>
                  </a:lnTo>
                  <a:cubicBezTo>
                    <a:pt x="1093" y="2893"/>
                    <a:pt x="965" y="2990"/>
                    <a:pt x="804" y="2990"/>
                  </a:cubicBezTo>
                  <a:cubicBezTo>
                    <a:pt x="643" y="2990"/>
                    <a:pt x="547" y="2893"/>
                    <a:pt x="547" y="2636"/>
                  </a:cubicBezTo>
                  <a:lnTo>
                    <a:pt x="547" y="836"/>
                  </a:lnTo>
                  <a:cubicBezTo>
                    <a:pt x="547" y="579"/>
                    <a:pt x="643" y="482"/>
                    <a:pt x="804" y="482"/>
                  </a:cubicBezTo>
                  <a:close/>
                  <a:moveTo>
                    <a:pt x="804" y="0"/>
                  </a:moveTo>
                  <a:cubicBezTo>
                    <a:pt x="290" y="0"/>
                    <a:pt x="0" y="322"/>
                    <a:pt x="0" y="868"/>
                  </a:cubicBezTo>
                  <a:lnTo>
                    <a:pt x="0" y="2604"/>
                  </a:lnTo>
                  <a:cubicBezTo>
                    <a:pt x="0" y="3150"/>
                    <a:pt x="290" y="3472"/>
                    <a:pt x="804" y="3472"/>
                  </a:cubicBezTo>
                  <a:cubicBezTo>
                    <a:pt x="1318" y="3472"/>
                    <a:pt x="1608" y="3150"/>
                    <a:pt x="1608" y="2604"/>
                  </a:cubicBezTo>
                  <a:lnTo>
                    <a:pt x="1608" y="868"/>
                  </a:lnTo>
                  <a:cubicBezTo>
                    <a:pt x="1608" y="322"/>
                    <a:pt x="1318" y="0"/>
                    <a:pt x="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9"/>
            <p:cNvSpPr/>
            <p:nvPr/>
          </p:nvSpPr>
          <p:spPr>
            <a:xfrm>
              <a:off x="2456300" y="3788475"/>
              <a:ext cx="40200" cy="84400"/>
            </a:xfrm>
            <a:custGeom>
              <a:avLst/>
              <a:gdLst/>
              <a:ahLst/>
              <a:cxnLst/>
              <a:rect l="l" t="t" r="r" b="b"/>
              <a:pathLst>
                <a:path w="1608" h="3376" extrusionOk="0">
                  <a:moveTo>
                    <a:pt x="836" y="483"/>
                  </a:moveTo>
                  <a:cubicBezTo>
                    <a:pt x="997" y="483"/>
                    <a:pt x="1093" y="547"/>
                    <a:pt x="1093" y="804"/>
                  </a:cubicBezTo>
                  <a:lnTo>
                    <a:pt x="1093" y="2540"/>
                  </a:lnTo>
                  <a:cubicBezTo>
                    <a:pt x="1093" y="2797"/>
                    <a:pt x="997" y="2893"/>
                    <a:pt x="836" y="2893"/>
                  </a:cubicBezTo>
                  <a:lnTo>
                    <a:pt x="514" y="2893"/>
                  </a:lnTo>
                  <a:lnTo>
                    <a:pt x="514" y="483"/>
                  </a:lnTo>
                  <a:close/>
                  <a:moveTo>
                    <a:pt x="0" y="0"/>
                  </a:moveTo>
                  <a:lnTo>
                    <a:pt x="0" y="3376"/>
                  </a:lnTo>
                  <a:lnTo>
                    <a:pt x="836" y="3376"/>
                  </a:lnTo>
                  <a:cubicBezTo>
                    <a:pt x="1350" y="3376"/>
                    <a:pt x="1607" y="3054"/>
                    <a:pt x="1607" y="2540"/>
                  </a:cubicBezTo>
                  <a:lnTo>
                    <a:pt x="1607" y="804"/>
                  </a:lnTo>
                  <a:cubicBezTo>
                    <a:pt x="1607" y="290"/>
                    <a:pt x="1350"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9"/>
            <p:cNvSpPr/>
            <p:nvPr/>
          </p:nvSpPr>
          <p:spPr>
            <a:xfrm>
              <a:off x="2501300" y="3788475"/>
              <a:ext cx="46625" cy="84400"/>
            </a:xfrm>
            <a:custGeom>
              <a:avLst/>
              <a:gdLst/>
              <a:ahLst/>
              <a:cxnLst/>
              <a:rect l="l" t="t" r="r" b="b"/>
              <a:pathLst>
                <a:path w="1865" h="3376" extrusionOk="0">
                  <a:moveTo>
                    <a:pt x="900" y="579"/>
                  </a:moveTo>
                  <a:lnTo>
                    <a:pt x="1157" y="2283"/>
                  </a:lnTo>
                  <a:lnTo>
                    <a:pt x="675" y="2283"/>
                  </a:lnTo>
                  <a:lnTo>
                    <a:pt x="900" y="579"/>
                  </a:lnTo>
                  <a:close/>
                  <a:moveTo>
                    <a:pt x="547" y="0"/>
                  </a:moveTo>
                  <a:lnTo>
                    <a:pt x="0" y="3376"/>
                  </a:lnTo>
                  <a:lnTo>
                    <a:pt x="515" y="3376"/>
                  </a:lnTo>
                  <a:lnTo>
                    <a:pt x="579" y="2765"/>
                  </a:lnTo>
                  <a:lnTo>
                    <a:pt x="1254" y="2765"/>
                  </a:lnTo>
                  <a:lnTo>
                    <a:pt x="1350" y="3376"/>
                  </a:lnTo>
                  <a:lnTo>
                    <a:pt x="1865" y="3376"/>
                  </a:lnTo>
                  <a:lnTo>
                    <a:pt x="13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9"/>
            <p:cNvSpPr/>
            <p:nvPr/>
          </p:nvSpPr>
          <p:spPr>
            <a:xfrm>
              <a:off x="2549500" y="3788475"/>
              <a:ext cx="47450" cy="84400"/>
            </a:xfrm>
            <a:custGeom>
              <a:avLst/>
              <a:gdLst/>
              <a:ahLst/>
              <a:cxnLst/>
              <a:rect l="l" t="t" r="r" b="b"/>
              <a:pathLst>
                <a:path w="1898" h="3376" extrusionOk="0">
                  <a:moveTo>
                    <a:pt x="1" y="0"/>
                  </a:moveTo>
                  <a:lnTo>
                    <a:pt x="676" y="2251"/>
                  </a:lnTo>
                  <a:lnTo>
                    <a:pt x="676" y="3376"/>
                  </a:lnTo>
                  <a:lnTo>
                    <a:pt x="1222" y="3376"/>
                  </a:lnTo>
                  <a:lnTo>
                    <a:pt x="1222" y="2251"/>
                  </a:lnTo>
                  <a:lnTo>
                    <a:pt x="1897" y="0"/>
                  </a:lnTo>
                  <a:lnTo>
                    <a:pt x="1383" y="0"/>
                  </a:lnTo>
                  <a:lnTo>
                    <a:pt x="965" y="1511"/>
                  </a:lnTo>
                  <a:lnTo>
                    <a:pt x="5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9"/>
            <p:cNvSpPr/>
            <p:nvPr/>
          </p:nvSpPr>
          <p:spPr>
            <a:xfrm>
              <a:off x="3644025" y="3788475"/>
              <a:ext cx="64325" cy="84400"/>
            </a:xfrm>
            <a:custGeom>
              <a:avLst/>
              <a:gdLst/>
              <a:ahLst/>
              <a:cxnLst/>
              <a:rect l="l" t="t" r="r" b="b"/>
              <a:pathLst>
                <a:path w="2573" h="3376" extrusionOk="0">
                  <a:moveTo>
                    <a:pt x="1" y="0"/>
                  </a:moveTo>
                  <a:lnTo>
                    <a:pt x="354" y="3376"/>
                  </a:lnTo>
                  <a:lnTo>
                    <a:pt x="1094" y="3376"/>
                  </a:lnTo>
                  <a:lnTo>
                    <a:pt x="1286" y="1575"/>
                  </a:lnTo>
                  <a:lnTo>
                    <a:pt x="1479" y="3376"/>
                  </a:lnTo>
                  <a:lnTo>
                    <a:pt x="2186" y="3376"/>
                  </a:lnTo>
                  <a:lnTo>
                    <a:pt x="2572" y="0"/>
                  </a:lnTo>
                  <a:lnTo>
                    <a:pt x="2090" y="0"/>
                  </a:lnTo>
                  <a:lnTo>
                    <a:pt x="1833" y="2668"/>
                  </a:lnTo>
                  <a:lnTo>
                    <a:pt x="1576" y="0"/>
                  </a:lnTo>
                  <a:lnTo>
                    <a:pt x="1061" y="0"/>
                  </a:lnTo>
                  <a:lnTo>
                    <a:pt x="804" y="2636"/>
                  </a:lnTo>
                  <a:lnTo>
                    <a:pt x="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9"/>
            <p:cNvSpPr/>
            <p:nvPr/>
          </p:nvSpPr>
          <p:spPr>
            <a:xfrm>
              <a:off x="3714750" y="3788475"/>
              <a:ext cx="36175" cy="84400"/>
            </a:xfrm>
            <a:custGeom>
              <a:avLst/>
              <a:gdLst/>
              <a:ahLst/>
              <a:cxnLst/>
              <a:rect l="l" t="t" r="r" b="b"/>
              <a:pathLst>
                <a:path w="1447" h="3376" extrusionOk="0">
                  <a:moveTo>
                    <a:pt x="0" y="0"/>
                  </a:moveTo>
                  <a:lnTo>
                    <a:pt x="0" y="3376"/>
                  </a:lnTo>
                  <a:lnTo>
                    <a:pt x="1447" y="3376"/>
                  </a:lnTo>
                  <a:lnTo>
                    <a:pt x="1447" y="2893"/>
                  </a:lnTo>
                  <a:lnTo>
                    <a:pt x="515" y="2893"/>
                  </a:lnTo>
                  <a:lnTo>
                    <a:pt x="515" y="1897"/>
                  </a:lnTo>
                  <a:lnTo>
                    <a:pt x="1254" y="1897"/>
                  </a:lnTo>
                  <a:lnTo>
                    <a:pt x="1254" y="1415"/>
                  </a:lnTo>
                  <a:lnTo>
                    <a:pt x="515" y="1415"/>
                  </a:lnTo>
                  <a:lnTo>
                    <a:pt x="515" y="483"/>
                  </a:lnTo>
                  <a:lnTo>
                    <a:pt x="1447" y="483"/>
                  </a:lnTo>
                  <a:lnTo>
                    <a:pt x="14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9"/>
            <p:cNvSpPr/>
            <p:nvPr/>
          </p:nvSpPr>
          <p:spPr>
            <a:xfrm>
              <a:off x="3758950" y="3788475"/>
              <a:ext cx="36175" cy="84400"/>
            </a:xfrm>
            <a:custGeom>
              <a:avLst/>
              <a:gdLst/>
              <a:ahLst/>
              <a:cxnLst/>
              <a:rect l="l" t="t" r="r" b="b"/>
              <a:pathLst>
                <a:path w="1447" h="3376" extrusionOk="0">
                  <a:moveTo>
                    <a:pt x="0" y="0"/>
                  </a:moveTo>
                  <a:lnTo>
                    <a:pt x="0" y="3376"/>
                  </a:lnTo>
                  <a:lnTo>
                    <a:pt x="1447" y="3376"/>
                  </a:lnTo>
                  <a:lnTo>
                    <a:pt x="1447" y="2893"/>
                  </a:lnTo>
                  <a:lnTo>
                    <a:pt x="547" y="2893"/>
                  </a:lnTo>
                  <a:lnTo>
                    <a:pt x="547" y="1897"/>
                  </a:lnTo>
                  <a:lnTo>
                    <a:pt x="1254" y="1897"/>
                  </a:lnTo>
                  <a:lnTo>
                    <a:pt x="1254" y="1415"/>
                  </a:lnTo>
                  <a:lnTo>
                    <a:pt x="547" y="1415"/>
                  </a:lnTo>
                  <a:lnTo>
                    <a:pt x="547" y="483"/>
                  </a:lnTo>
                  <a:lnTo>
                    <a:pt x="1447" y="483"/>
                  </a:lnTo>
                  <a:lnTo>
                    <a:pt x="14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9"/>
            <p:cNvSpPr/>
            <p:nvPr/>
          </p:nvSpPr>
          <p:spPr>
            <a:xfrm>
              <a:off x="3803150" y="3788475"/>
              <a:ext cx="44225" cy="84400"/>
            </a:xfrm>
            <a:custGeom>
              <a:avLst/>
              <a:gdLst/>
              <a:ahLst/>
              <a:cxnLst/>
              <a:rect l="l" t="t" r="r" b="b"/>
              <a:pathLst>
                <a:path w="1769" h="3376" extrusionOk="0">
                  <a:moveTo>
                    <a:pt x="0" y="0"/>
                  </a:moveTo>
                  <a:lnTo>
                    <a:pt x="0" y="3376"/>
                  </a:lnTo>
                  <a:lnTo>
                    <a:pt x="547" y="3376"/>
                  </a:lnTo>
                  <a:lnTo>
                    <a:pt x="547" y="2315"/>
                  </a:lnTo>
                  <a:lnTo>
                    <a:pt x="707" y="2026"/>
                  </a:lnTo>
                  <a:lnTo>
                    <a:pt x="1222" y="3376"/>
                  </a:lnTo>
                  <a:lnTo>
                    <a:pt x="1768" y="3376"/>
                  </a:lnTo>
                  <a:lnTo>
                    <a:pt x="1029" y="1479"/>
                  </a:lnTo>
                  <a:lnTo>
                    <a:pt x="1768" y="0"/>
                  </a:lnTo>
                  <a:lnTo>
                    <a:pt x="1222" y="0"/>
                  </a:lnTo>
                  <a:lnTo>
                    <a:pt x="547" y="1447"/>
                  </a:lnTo>
                  <a:lnTo>
                    <a:pt x="5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9"/>
            <p:cNvSpPr/>
            <p:nvPr/>
          </p:nvSpPr>
          <p:spPr>
            <a:xfrm>
              <a:off x="4995700" y="3788475"/>
              <a:ext cx="56275" cy="84400"/>
            </a:xfrm>
            <a:custGeom>
              <a:avLst/>
              <a:gdLst/>
              <a:ahLst/>
              <a:cxnLst/>
              <a:rect l="l" t="t" r="r" b="b"/>
              <a:pathLst>
                <a:path w="2251" h="3376" extrusionOk="0">
                  <a:moveTo>
                    <a:pt x="1" y="0"/>
                  </a:moveTo>
                  <a:lnTo>
                    <a:pt x="1" y="3376"/>
                  </a:lnTo>
                  <a:lnTo>
                    <a:pt x="483" y="3376"/>
                  </a:lnTo>
                  <a:lnTo>
                    <a:pt x="483" y="965"/>
                  </a:lnTo>
                  <a:lnTo>
                    <a:pt x="869" y="3376"/>
                  </a:lnTo>
                  <a:lnTo>
                    <a:pt x="1383" y="3376"/>
                  </a:lnTo>
                  <a:lnTo>
                    <a:pt x="1736" y="933"/>
                  </a:lnTo>
                  <a:lnTo>
                    <a:pt x="1736" y="3376"/>
                  </a:lnTo>
                  <a:lnTo>
                    <a:pt x="2251" y="3376"/>
                  </a:lnTo>
                  <a:lnTo>
                    <a:pt x="2251" y="0"/>
                  </a:lnTo>
                  <a:lnTo>
                    <a:pt x="1511" y="0"/>
                  </a:lnTo>
                  <a:lnTo>
                    <a:pt x="1126" y="2379"/>
                  </a:lnTo>
                  <a:lnTo>
                    <a:pt x="7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9"/>
            <p:cNvSpPr/>
            <p:nvPr/>
          </p:nvSpPr>
          <p:spPr>
            <a:xfrm>
              <a:off x="5060000" y="3786875"/>
              <a:ext cx="40200" cy="86800"/>
            </a:xfrm>
            <a:custGeom>
              <a:avLst/>
              <a:gdLst/>
              <a:ahLst/>
              <a:cxnLst/>
              <a:rect l="l" t="t" r="r" b="b"/>
              <a:pathLst>
                <a:path w="1608" h="3472" extrusionOk="0">
                  <a:moveTo>
                    <a:pt x="804" y="482"/>
                  </a:moveTo>
                  <a:cubicBezTo>
                    <a:pt x="997" y="482"/>
                    <a:pt x="1093" y="579"/>
                    <a:pt x="1093" y="836"/>
                  </a:cubicBezTo>
                  <a:lnTo>
                    <a:pt x="1093" y="2636"/>
                  </a:lnTo>
                  <a:cubicBezTo>
                    <a:pt x="1093" y="2893"/>
                    <a:pt x="997" y="2990"/>
                    <a:pt x="804" y="2990"/>
                  </a:cubicBezTo>
                  <a:cubicBezTo>
                    <a:pt x="643" y="2990"/>
                    <a:pt x="547" y="2893"/>
                    <a:pt x="547" y="2636"/>
                  </a:cubicBezTo>
                  <a:lnTo>
                    <a:pt x="547" y="836"/>
                  </a:lnTo>
                  <a:cubicBezTo>
                    <a:pt x="547" y="579"/>
                    <a:pt x="643" y="482"/>
                    <a:pt x="804" y="482"/>
                  </a:cubicBezTo>
                  <a:close/>
                  <a:moveTo>
                    <a:pt x="804" y="0"/>
                  </a:moveTo>
                  <a:cubicBezTo>
                    <a:pt x="290" y="0"/>
                    <a:pt x="0" y="322"/>
                    <a:pt x="0" y="868"/>
                  </a:cubicBezTo>
                  <a:lnTo>
                    <a:pt x="0" y="2604"/>
                  </a:lnTo>
                  <a:cubicBezTo>
                    <a:pt x="0" y="3150"/>
                    <a:pt x="290" y="3472"/>
                    <a:pt x="804" y="3472"/>
                  </a:cubicBezTo>
                  <a:cubicBezTo>
                    <a:pt x="1350" y="3472"/>
                    <a:pt x="1607" y="3150"/>
                    <a:pt x="1607" y="2604"/>
                  </a:cubicBezTo>
                  <a:lnTo>
                    <a:pt x="1607" y="868"/>
                  </a:lnTo>
                  <a:cubicBezTo>
                    <a:pt x="1607" y="322"/>
                    <a:pt x="1350" y="0"/>
                    <a:pt x="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9"/>
            <p:cNvSpPr/>
            <p:nvPr/>
          </p:nvSpPr>
          <p:spPr>
            <a:xfrm>
              <a:off x="5109025" y="3788475"/>
              <a:ext cx="41800" cy="84400"/>
            </a:xfrm>
            <a:custGeom>
              <a:avLst/>
              <a:gdLst/>
              <a:ahLst/>
              <a:cxnLst/>
              <a:rect l="l" t="t" r="r" b="b"/>
              <a:pathLst>
                <a:path w="1672" h="3376" extrusionOk="0">
                  <a:moveTo>
                    <a:pt x="0" y="0"/>
                  </a:moveTo>
                  <a:lnTo>
                    <a:pt x="0" y="3376"/>
                  </a:lnTo>
                  <a:lnTo>
                    <a:pt x="482" y="3376"/>
                  </a:lnTo>
                  <a:lnTo>
                    <a:pt x="482" y="933"/>
                  </a:lnTo>
                  <a:lnTo>
                    <a:pt x="1125" y="3376"/>
                  </a:lnTo>
                  <a:lnTo>
                    <a:pt x="1672" y="3376"/>
                  </a:lnTo>
                  <a:lnTo>
                    <a:pt x="1672" y="0"/>
                  </a:lnTo>
                  <a:lnTo>
                    <a:pt x="1222" y="0"/>
                  </a:lnTo>
                  <a:lnTo>
                    <a:pt x="1222" y="1993"/>
                  </a:lnTo>
                  <a:lnTo>
                    <a:pt x="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9"/>
            <p:cNvSpPr/>
            <p:nvPr/>
          </p:nvSpPr>
          <p:spPr>
            <a:xfrm>
              <a:off x="5156425" y="3788475"/>
              <a:ext cx="41000" cy="84400"/>
            </a:xfrm>
            <a:custGeom>
              <a:avLst/>
              <a:gdLst/>
              <a:ahLst/>
              <a:cxnLst/>
              <a:rect l="l" t="t" r="r" b="b"/>
              <a:pathLst>
                <a:path w="1640" h="3376" extrusionOk="0">
                  <a:moveTo>
                    <a:pt x="1" y="0"/>
                  </a:moveTo>
                  <a:lnTo>
                    <a:pt x="1" y="483"/>
                  </a:lnTo>
                  <a:lnTo>
                    <a:pt x="579" y="483"/>
                  </a:lnTo>
                  <a:lnTo>
                    <a:pt x="579" y="3376"/>
                  </a:lnTo>
                  <a:lnTo>
                    <a:pt x="1093" y="3376"/>
                  </a:lnTo>
                  <a:lnTo>
                    <a:pt x="1093" y="483"/>
                  </a:lnTo>
                  <a:lnTo>
                    <a:pt x="1640" y="483"/>
                  </a:lnTo>
                  <a:lnTo>
                    <a:pt x="16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9"/>
            <p:cNvSpPr/>
            <p:nvPr/>
          </p:nvSpPr>
          <p:spPr>
            <a:xfrm>
              <a:off x="5203850" y="3788475"/>
              <a:ext cx="41800" cy="84400"/>
            </a:xfrm>
            <a:custGeom>
              <a:avLst/>
              <a:gdLst/>
              <a:ahLst/>
              <a:cxnLst/>
              <a:rect l="l" t="t" r="r" b="b"/>
              <a:pathLst>
                <a:path w="1672" h="3376" extrusionOk="0">
                  <a:moveTo>
                    <a:pt x="0" y="0"/>
                  </a:moveTo>
                  <a:lnTo>
                    <a:pt x="0" y="3376"/>
                  </a:lnTo>
                  <a:lnTo>
                    <a:pt x="514" y="3376"/>
                  </a:lnTo>
                  <a:lnTo>
                    <a:pt x="514" y="1929"/>
                  </a:lnTo>
                  <a:lnTo>
                    <a:pt x="1125" y="1929"/>
                  </a:lnTo>
                  <a:lnTo>
                    <a:pt x="1125" y="3376"/>
                  </a:lnTo>
                  <a:lnTo>
                    <a:pt x="1672" y="3376"/>
                  </a:lnTo>
                  <a:lnTo>
                    <a:pt x="1672" y="0"/>
                  </a:lnTo>
                  <a:lnTo>
                    <a:pt x="1125" y="0"/>
                  </a:lnTo>
                  <a:lnTo>
                    <a:pt x="1125" y="1447"/>
                  </a:lnTo>
                  <a:lnTo>
                    <a:pt x="514" y="1447"/>
                  </a:lnTo>
                  <a:lnTo>
                    <a:pt x="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9"/>
            <p:cNvSpPr/>
            <p:nvPr/>
          </p:nvSpPr>
          <p:spPr>
            <a:xfrm>
              <a:off x="5501975" y="4781525"/>
              <a:ext cx="384950" cy="152150"/>
            </a:xfrm>
            <a:custGeom>
              <a:avLst/>
              <a:gdLst/>
              <a:ahLst/>
              <a:cxnLst/>
              <a:rect l="l" t="t" r="r" b="b"/>
              <a:pathLst>
                <a:path w="15398" h="6086" extrusionOk="0">
                  <a:moveTo>
                    <a:pt x="10219" y="1"/>
                  </a:moveTo>
                  <a:cubicBezTo>
                    <a:pt x="9435" y="1"/>
                    <a:pt x="8648" y="105"/>
                    <a:pt x="7908" y="234"/>
                  </a:cubicBezTo>
                  <a:cubicBezTo>
                    <a:pt x="5112" y="716"/>
                    <a:pt x="2669" y="1841"/>
                    <a:pt x="1" y="2773"/>
                  </a:cubicBezTo>
                  <a:cubicBezTo>
                    <a:pt x="1" y="2773"/>
                    <a:pt x="76" y="2748"/>
                    <a:pt x="266" y="2748"/>
                  </a:cubicBezTo>
                  <a:cubicBezTo>
                    <a:pt x="818" y="2748"/>
                    <a:pt x="2340" y="2962"/>
                    <a:pt x="5787" y="4638"/>
                  </a:cubicBezTo>
                  <a:cubicBezTo>
                    <a:pt x="7449" y="5454"/>
                    <a:pt x="9357" y="6085"/>
                    <a:pt x="11271" y="6085"/>
                  </a:cubicBezTo>
                  <a:cubicBezTo>
                    <a:pt x="11318" y="6085"/>
                    <a:pt x="11365" y="6085"/>
                    <a:pt x="11412" y="6084"/>
                  </a:cubicBezTo>
                  <a:cubicBezTo>
                    <a:pt x="12987" y="6020"/>
                    <a:pt x="15398" y="5602"/>
                    <a:pt x="15301" y="3577"/>
                  </a:cubicBezTo>
                  <a:cubicBezTo>
                    <a:pt x="15301" y="3577"/>
                    <a:pt x="14594" y="1231"/>
                    <a:pt x="12505" y="395"/>
                  </a:cubicBezTo>
                  <a:cubicBezTo>
                    <a:pt x="11782" y="105"/>
                    <a:pt x="11002" y="1"/>
                    <a:pt x="102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9"/>
            <p:cNvSpPr/>
            <p:nvPr/>
          </p:nvSpPr>
          <p:spPr>
            <a:xfrm>
              <a:off x="5530100" y="4563375"/>
              <a:ext cx="360850" cy="175900"/>
            </a:xfrm>
            <a:custGeom>
              <a:avLst/>
              <a:gdLst/>
              <a:ahLst/>
              <a:cxnLst/>
              <a:rect l="l" t="t" r="r" b="b"/>
              <a:pathLst>
                <a:path w="14434" h="7036" extrusionOk="0">
                  <a:moveTo>
                    <a:pt x="5706" y="1"/>
                  </a:moveTo>
                  <a:cubicBezTo>
                    <a:pt x="3817" y="1"/>
                    <a:pt x="1947" y="203"/>
                    <a:pt x="1" y="313"/>
                  </a:cubicBezTo>
                  <a:cubicBezTo>
                    <a:pt x="1" y="313"/>
                    <a:pt x="2" y="313"/>
                    <a:pt x="5" y="313"/>
                  </a:cubicBezTo>
                  <a:cubicBezTo>
                    <a:pt x="90" y="313"/>
                    <a:pt x="1356" y="373"/>
                    <a:pt x="5015" y="3753"/>
                  </a:cubicBezTo>
                  <a:cubicBezTo>
                    <a:pt x="6397" y="5038"/>
                    <a:pt x="8101" y="6228"/>
                    <a:pt x="9966" y="6742"/>
                  </a:cubicBezTo>
                  <a:cubicBezTo>
                    <a:pt x="10551" y="6901"/>
                    <a:pt x="11261" y="7036"/>
                    <a:pt x="11945" y="7036"/>
                  </a:cubicBezTo>
                  <a:cubicBezTo>
                    <a:pt x="13064" y="7036"/>
                    <a:pt x="14114" y="6673"/>
                    <a:pt x="14434" y="5456"/>
                  </a:cubicBezTo>
                  <a:cubicBezTo>
                    <a:pt x="14434" y="5456"/>
                    <a:pt x="14434" y="3045"/>
                    <a:pt x="12666" y="1631"/>
                  </a:cubicBezTo>
                  <a:cubicBezTo>
                    <a:pt x="11444" y="667"/>
                    <a:pt x="9805" y="313"/>
                    <a:pt x="8294" y="152"/>
                  </a:cubicBezTo>
                  <a:cubicBezTo>
                    <a:pt x="7422" y="42"/>
                    <a:pt x="6562" y="1"/>
                    <a:pt x="57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9"/>
            <p:cNvSpPr/>
            <p:nvPr/>
          </p:nvSpPr>
          <p:spPr>
            <a:xfrm>
              <a:off x="5963250" y="4563150"/>
              <a:ext cx="171200" cy="366975"/>
            </a:xfrm>
            <a:custGeom>
              <a:avLst/>
              <a:gdLst/>
              <a:ahLst/>
              <a:cxnLst/>
              <a:rect l="l" t="t" r="r" b="b"/>
              <a:pathLst>
                <a:path w="6848" h="14679" extrusionOk="0">
                  <a:moveTo>
                    <a:pt x="6847" y="1"/>
                  </a:moveTo>
                  <a:cubicBezTo>
                    <a:pt x="4983" y="2090"/>
                    <a:pt x="3054" y="3954"/>
                    <a:pt x="1576" y="6365"/>
                  </a:cubicBezTo>
                  <a:cubicBezTo>
                    <a:pt x="772" y="7683"/>
                    <a:pt x="1" y="9162"/>
                    <a:pt x="1" y="10737"/>
                  </a:cubicBezTo>
                  <a:cubicBezTo>
                    <a:pt x="33" y="12987"/>
                    <a:pt x="1929" y="14498"/>
                    <a:pt x="1929" y="14498"/>
                  </a:cubicBezTo>
                  <a:cubicBezTo>
                    <a:pt x="2213" y="14622"/>
                    <a:pt x="2485" y="14678"/>
                    <a:pt x="2744" y="14678"/>
                  </a:cubicBezTo>
                  <a:cubicBezTo>
                    <a:pt x="4153" y="14678"/>
                    <a:pt x="5174" y="13020"/>
                    <a:pt x="5690" y="11798"/>
                  </a:cubicBezTo>
                  <a:cubicBezTo>
                    <a:pt x="6462" y="9998"/>
                    <a:pt x="6558" y="7940"/>
                    <a:pt x="6430" y="6044"/>
                  </a:cubicBezTo>
                  <a:cubicBezTo>
                    <a:pt x="6044" y="910"/>
                    <a:pt x="6844" y="4"/>
                    <a:pt x="68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9"/>
            <p:cNvSpPr/>
            <p:nvPr/>
          </p:nvSpPr>
          <p:spPr>
            <a:xfrm>
              <a:off x="6172200" y="4849250"/>
              <a:ext cx="349575" cy="202350"/>
            </a:xfrm>
            <a:custGeom>
              <a:avLst/>
              <a:gdLst/>
              <a:ahLst/>
              <a:cxnLst/>
              <a:rect l="l" t="t" r="r" b="b"/>
              <a:pathLst>
                <a:path w="13983" h="8094" extrusionOk="0">
                  <a:moveTo>
                    <a:pt x="13983" y="0"/>
                  </a:moveTo>
                  <a:cubicBezTo>
                    <a:pt x="13983" y="0"/>
                    <a:pt x="13983" y="0"/>
                    <a:pt x="13983" y="0"/>
                  </a:cubicBezTo>
                  <a:lnTo>
                    <a:pt x="13983" y="0"/>
                  </a:lnTo>
                  <a:cubicBezTo>
                    <a:pt x="13983" y="0"/>
                    <a:pt x="13983" y="0"/>
                    <a:pt x="13983" y="0"/>
                  </a:cubicBezTo>
                  <a:close/>
                  <a:moveTo>
                    <a:pt x="13983" y="0"/>
                  </a:moveTo>
                  <a:cubicBezTo>
                    <a:pt x="11186" y="161"/>
                    <a:pt x="8518" y="129"/>
                    <a:pt x="5754" y="772"/>
                  </a:cubicBezTo>
                  <a:cubicBezTo>
                    <a:pt x="4275" y="1157"/>
                    <a:pt x="2668" y="1672"/>
                    <a:pt x="1575" y="2765"/>
                  </a:cubicBezTo>
                  <a:cubicBezTo>
                    <a:pt x="0" y="4372"/>
                    <a:pt x="257" y="6783"/>
                    <a:pt x="257" y="6783"/>
                  </a:cubicBezTo>
                  <a:cubicBezTo>
                    <a:pt x="641" y="7768"/>
                    <a:pt x="1468" y="8094"/>
                    <a:pt x="2381" y="8094"/>
                  </a:cubicBezTo>
                  <a:cubicBezTo>
                    <a:pt x="3226" y="8094"/>
                    <a:pt x="4144" y="7815"/>
                    <a:pt x="4854" y="7522"/>
                  </a:cubicBezTo>
                  <a:cubicBezTo>
                    <a:pt x="6654" y="6783"/>
                    <a:pt x="8197" y="5433"/>
                    <a:pt x="9418" y="3986"/>
                  </a:cubicBezTo>
                  <a:cubicBezTo>
                    <a:pt x="12783" y="77"/>
                    <a:pt x="13975" y="1"/>
                    <a:pt x="1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9"/>
            <p:cNvSpPr/>
            <p:nvPr/>
          </p:nvSpPr>
          <p:spPr>
            <a:xfrm>
              <a:off x="6055675" y="4428950"/>
              <a:ext cx="163950" cy="374500"/>
            </a:xfrm>
            <a:custGeom>
              <a:avLst/>
              <a:gdLst/>
              <a:ahLst/>
              <a:cxnLst/>
              <a:rect l="l" t="t" r="r" b="b"/>
              <a:pathLst>
                <a:path w="6558" h="14980" extrusionOk="0">
                  <a:moveTo>
                    <a:pt x="1254" y="1"/>
                  </a:moveTo>
                  <a:cubicBezTo>
                    <a:pt x="1254" y="1"/>
                    <a:pt x="1254" y="1"/>
                    <a:pt x="1254" y="1"/>
                  </a:cubicBezTo>
                  <a:lnTo>
                    <a:pt x="1254" y="1"/>
                  </a:lnTo>
                  <a:cubicBezTo>
                    <a:pt x="1254" y="1"/>
                    <a:pt x="1254" y="1"/>
                    <a:pt x="1254" y="1"/>
                  </a:cubicBezTo>
                  <a:close/>
                  <a:moveTo>
                    <a:pt x="1254" y="1"/>
                  </a:moveTo>
                  <a:lnTo>
                    <a:pt x="1254" y="1"/>
                  </a:lnTo>
                  <a:cubicBezTo>
                    <a:pt x="740" y="2797"/>
                    <a:pt x="32" y="5369"/>
                    <a:pt x="0" y="8197"/>
                  </a:cubicBezTo>
                  <a:cubicBezTo>
                    <a:pt x="0" y="9740"/>
                    <a:pt x="129" y="11412"/>
                    <a:pt x="932" y="12730"/>
                  </a:cubicBezTo>
                  <a:cubicBezTo>
                    <a:pt x="2090" y="14658"/>
                    <a:pt x="4500" y="14980"/>
                    <a:pt x="4500" y="14980"/>
                  </a:cubicBezTo>
                  <a:cubicBezTo>
                    <a:pt x="6493" y="14723"/>
                    <a:pt x="6558" y="12280"/>
                    <a:pt x="6333" y="10737"/>
                  </a:cubicBezTo>
                  <a:cubicBezTo>
                    <a:pt x="6076" y="8808"/>
                    <a:pt x="5111" y="6976"/>
                    <a:pt x="4018" y="5401"/>
                  </a:cubicBezTo>
                  <a:cubicBezTo>
                    <a:pt x="1044" y="1212"/>
                    <a:pt x="1252" y="13"/>
                    <a:pt x="1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9"/>
            <p:cNvSpPr/>
            <p:nvPr/>
          </p:nvSpPr>
          <p:spPr>
            <a:xfrm>
              <a:off x="6315225" y="4531000"/>
              <a:ext cx="371300" cy="201600"/>
            </a:xfrm>
            <a:custGeom>
              <a:avLst/>
              <a:gdLst/>
              <a:ahLst/>
              <a:cxnLst/>
              <a:rect l="l" t="t" r="r" b="b"/>
              <a:pathLst>
                <a:path w="14852" h="8064" extrusionOk="0">
                  <a:moveTo>
                    <a:pt x="14852" y="1"/>
                  </a:moveTo>
                  <a:cubicBezTo>
                    <a:pt x="14851" y="1"/>
                    <a:pt x="14851" y="2"/>
                    <a:pt x="14851" y="2"/>
                  </a:cubicBezTo>
                  <a:lnTo>
                    <a:pt x="14851" y="2"/>
                  </a:lnTo>
                  <a:cubicBezTo>
                    <a:pt x="14851" y="1"/>
                    <a:pt x="14852" y="1"/>
                    <a:pt x="14852" y="1"/>
                  </a:cubicBezTo>
                  <a:close/>
                  <a:moveTo>
                    <a:pt x="14851" y="2"/>
                  </a:moveTo>
                  <a:lnTo>
                    <a:pt x="14851" y="2"/>
                  </a:lnTo>
                  <a:cubicBezTo>
                    <a:pt x="14821" y="35"/>
                    <a:pt x="13983" y="905"/>
                    <a:pt x="8905" y="1126"/>
                  </a:cubicBezTo>
                  <a:cubicBezTo>
                    <a:pt x="7008" y="1190"/>
                    <a:pt x="4983" y="1544"/>
                    <a:pt x="3280" y="2540"/>
                  </a:cubicBezTo>
                  <a:cubicBezTo>
                    <a:pt x="1897" y="3312"/>
                    <a:pt x="1" y="4823"/>
                    <a:pt x="1030" y="6591"/>
                  </a:cubicBezTo>
                  <a:cubicBezTo>
                    <a:pt x="1030" y="6591"/>
                    <a:pt x="2530" y="8063"/>
                    <a:pt x="4524" y="8063"/>
                  </a:cubicBezTo>
                  <a:cubicBezTo>
                    <a:pt x="4674" y="8063"/>
                    <a:pt x="4828" y="8055"/>
                    <a:pt x="4983" y="8037"/>
                  </a:cubicBezTo>
                  <a:cubicBezTo>
                    <a:pt x="6558" y="7844"/>
                    <a:pt x="7941" y="6944"/>
                    <a:pt x="9130" y="5980"/>
                  </a:cubicBezTo>
                  <a:cubicBezTo>
                    <a:pt x="11380" y="4244"/>
                    <a:pt x="12987" y="2091"/>
                    <a:pt x="14851"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9"/>
            <p:cNvSpPr/>
            <p:nvPr/>
          </p:nvSpPr>
          <p:spPr>
            <a:xfrm>
              <a:off x="6243725" y="4308400"/>
              <a:ext cx="213775" cy="345150"/>
            </a:xfrm>
            <a:custGeom>
              <a:avLst/>
              <a:gdLst/>
              <a:ahLst/>
              <a:cxnLst/>
              <a:rect l="l" t="t" r="r" b="b"/>
              <a:pathLst>
                <a:path w="8551" h="13806" extrusionOk="0">
                  <a:moveTo>
                    <a:pt x="8550" y="1"/>
                  </a:moveTo>
                  <a:cubicBezTo>
                    <a:pt x="8550" y="1"/>
                    <a:pt x="8550" y="1"/>
                    <a:pt x="8550" y="1"/>
                  </a:cubicBezTo>
                  <a:lnTo>
                    <a:pt x="8550" y="1"/>
                  </a:lnTo>
                  <a:cubicBezTo>
                    <a:pt x="8550" y="1"/>
                    <a:pt x="8550" y="1"/>
                    <a:pt x="8550" y="1"/>
                  </a:cubicBezTo>
                  <a:close/>
                  <a:moveTo>
                    <a:pt x="8550" y="1"/>
                  </a:moveTo>
                  <a:cubicBezTo>
                    <a:pt x="8550" y="12"/>
                    <a:pt x="8469" y="1238"/>
                    <a:pt x="4597" y="4598"/>
                  </a:cubicBezTo>
                  <a:cubicBezTo>
                    <a:pt x="3182" y="5851"/>
                    <a:pt x="1800" y="7426"/>
                    <a:pt x="1093" y="9226"/>
                  </a:cubicBezTo>
                  <a:cubicBezTo>
                    <a:pt x="514" y="10705"/>
                    <a:pt x="0" y="13084"/>
                    <a:pt x="1897" y="13791"/>
                  </a:cubicBezTo>
                  <a:cubicBezTo>
                    <a:pt x="1897" y="13791"/>
                    <a:pt x="2038" y="13806"/>
                    <a:pt x="2275" y="13806"/>
                  </a:cubicBezTo>
                  <a:cubicBezTo>
                    <a:pt x="3016" y="13806"/>
                    <a:pt x="4689" y="13658"/>
                    <a:pt x="5882" y="12441"/>
                  </a:cubicBezTo>
                  <a:cubicBezTo>
                    <a:pt x="6975" y="11348"/>
                    <a:pt x="7490" y="9741"/>
                    <a:pt x="7843" y="8262"/>
                  </a:cubicBezTo>
                  <a:cubicBezTo>
                    <a:pt x="8454" y="5498"/>
                    <a:pt x="8390" y="2830"/>
                    <a:pt x="8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9"/>
            <p:cNvSpPr/>
            <p:nvPr/>
          </p:nvSpPr>
          <p:spPr>
            <a:xfrm>
              <a:off x="5842700" y="4681450"/>
              <a:ext cx="240325" cy="567025"/>
            </a:xfrm>
            <a:custGeom>
              <a:avLst/>
              <a:gdLst/>
              <a:ahLst/>
              <a:cxnLst/>
              <a:rect l="l" t="t" r="r" b="b"/>
              <a:pathLst>
                <a:path w="9613" h="22681" extrusionOk="0">
                  <a:moveTo>
                    <a:pt x="333" y="1"/>
                  </a:moveTo>
                  <a:cubicBezTo>
                    <a:pt x="297" y="1"/>
                    <a:pt x="260" y="9"/>
                    <a:pt x="226" y="26"/>
                  </a:cubicBezTo>
                  <a:cubicBezTo>
                    <a:pt x="65" y="58"/>
                    <a:pt x="1" y="219"/>
                    <a:pt x="65" y="380"/>
                  </a:cubicBezTo>
                  <a:lnTo>
                    <a:pt x="4887" y="12241"/>
                  </a:lnTo>
                  <a:lnTo>
                    <a:pt x="9066" y="22495"/>
                  </a:lnTo>
                  <a:cubicBezTo>
                    <a:pt x="9090" y="22614"/>
                    <a:pt x="9184" y="22680"/>
                    <a:pt x="9284" y="22680"/>
                  </a:cubicBezTo>
                  <a:cubicBezTo>
                    <a:pt x="9319" y="22680"/>
                    <a:pt x="9354" y="22672"/>
                    <a:pt x="9387" y="22656"/>
                  </a:cubicBezTo>
                  <a:cubicBezTo>
                    <a:pt x="9548" y="22592"/>
                    <a:pt x="9612" y="22431"/>
                    <a:pt x="9548" y="22302"/>
                  </a:cubicBezTo>
                  <a:lnTo>
                    <a:pt x="5369" y="12048"/>
                  </a:lnTo>
                  <a:lnTo>
                    <a:pt x="547" y="155"/>
                  </a:lnTo>
                  <a:cubicBezTo>
                    <a:pt x="524" y="61"/>
                    <a:pt x="431" y="1"/>
                    <a:pt x="3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9"/>
            <p:cNvSpPr/>
            <p:nvPr/>
          </p:nvSpPr>
          <p:spPr>
            <a:xfrm>
              <a:off x="6091825" y="4613150"/>
              <a:ext cx="231475" cy="591025"/>
            </a:xfrm>
            <a:custGeom>
              <a:avLst/>
              <a:gdLst/>
              <a:ahLst/>
              <a:cxnLst/>
              <a:rect l="l" t="t" r="r" b="b"/>
              <a:pathLst>
                <a:path w="9259" h="23641" extrusionOk="0">
                  <a:moveTo>
                    <a:pt x="8970" y="1"/>
                  </a:moveTo>
                  <a:cubicBezTo>
                    <a:pt x="8858" y="1"/>
                    <a:pt x="8759" y="60"/>
                    <a:pt x="8712" y="154"/>
                  </a:cubicBezTo>
                  <a:lnTo>
                    <a:pt x="4244" y="8962"/>
                  </a:lnTo>
                  <a:lnTo>
                    <a:pt x="4212" y="9026"/>
                  </a:lnTo>
                  <a:lnTo>
                    <a:pt x="33" y="23298"/>
                  </a:lnTo>
                  <a:cubicBezTo>
                    <a:pt x="1" y="23427"/>
                    <a:pt x="65" y="23588"/>
                    <a:pt x="226" y="23620"/>
                  </a:cubicBezTo>
                  <a:cubicBezTo>
                    <a:pt x="254" y="23634"/>
                    <a:pt x="284" y="23640"/>
                    <a:pt x="313" y="23640"/>
                  </a:cubicBezTo>
                  <a:cubicBezTo>
                    <a:pt x="419" y="23640"/>
                    <a:pt x="522" y="23560"/>
                    <a:pt x="547" y="23459"/>
                  </a:cubicBezTo>
                  <a:lnTo>
                    <a:pt x="4726" y="9187"/>
                  </a:lnTo>
                  <a:lnTo>
                    <a:pt x="9194" y="379"/>
                  </a:lnTo>
                  <a:cubicBezTo>
                    <a:pt x="9258" y="251"/>
                    <a:pt x="9226" y="90"/>
                    <a:pt x="9098" y="26"/>
                  </a:cubicBezTo>
                  <a:cubicBezTo>
                    <a:pt x="9055" y="9"/>
                    <a:pt x="9011" y="1"/>
                    <a:pt x="8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9"/>
            <p:cNvSpPr/>
            <p:nvPr/>
          </p:nvSpPr>
          <p:spPr>
            <a:xfrm>
              <a:off x="6132000" y="4990325"/>
              <a:ext cx="118975" cy="73500"/>
            </a:xfrm>
            <a:custGeom>
              <a:avLst/>
              <a:gdLst/>
              <a:ahLst/>
              <a:cxnLst/>
              <a:rect l="l" t="t" r="r" b="b"/>
              <a:pathLst>
                <a:path w="4759" h="2940" extrusionOk="0">
                  <a:moveTo>
                    <a:pt x="4475" y="0"/>
                  </a:moveTo>
                  <a:cubicBezTo>
                    <a:pt x="4430" y="0"/>
                    <a:pt x="4383" y="15"/>
                    <a:pt x="4340" y="47"/>
                  </a:cubicBezTo>
                  <a:lnTo>
                    <a:pt x="162" y="2425"/>
                  </a:lnTo>
                  <a:cubicBezTo>
                    <a:pt x="33" y="2522"/>
                    <a:pt x="1" y="2683"/>
                    <a:pt x="65" y="2811"/>
                  </a:cubicBezTo>
                  <a:cubicBezTo>
                    <a:pt x="108" y="2897"/>
                    <a:pt x="194" y="2940"/>
                    <a:pt x="284" y="2940"/>
                  </a:cubicBezTo>
                  <a:cubicBezTo>
                    <a:pt x="330" y="2940"/>
                    <a:pt x="376" y="2929"/>
                    <a:pt x="419" y="2908"/>
                  </a:cubicBezTo>
                  <a:lnTo>
                    <a:pt x="4598" y="497"/>
                  </a:lnTo>
                  <a:cubicBezTo>
                    <a:pt x="4726" y="432"/>
                    <a:pt x="4758" y="272"/>
                    <a:pt x="4694" y="143"/>
                  </a:cubicBezTo>
                  <a:cubicBezTo>
                    <a:pt x="4651" y="57"/>
                    <a:pt x="4565" y="0"/>
                    <a:pt x="4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9"/>
            <p:cNvSpPr/>
            <p:nvPr/>
          </p:nvSpPr>
          <p:spPr>
            <a:xfrm>
              <a:off x="6144075" y="4717625"/>
              <a:ext cx="67525" cy="129850"/>
            </a:xfrm>
            <a:custGeom>
              <a:avLst/>
              <a:gdLst/>
              <a:ahLst/>
              <a:cxnLst/>
              <a:rect l="l" t="t" r="r" b="b"/>
              <a:pathLst>
                <a:path w="2701" h="5194" extrusionOk="0">
                  <a:moveTo>
                    <a:pt x="301" y="0"/>
                  </a:moveTo>
                  <a:cubicBezTo>
                    <a:pt x="264" y="0"/>
                    <a:pt x="227" y="8"/>
                    <a:pt x="193" y="26"/>
                  </a:cubicBezTo>
                  <a:cubicBezTo>
                    <a:pt x="64" y="90"/>
                    <a:pt x="0" y="251"/>
                    <a:pt x="64" y="379"/>
                  </a:cubicBezTo>
                  <a:lnTo>
                    <a:pt x="2122" y="5008"/>
                  </a:lnTo>
                  <a:cubicBezTo>
                    <a:pt x="2169" y="5127"/>
                    <a:pt x="2270" y="5193"/>
                    <a:pt x="2371" y="5193"/>
                  </a:cubicBezTo>
                  <a:cubicBezTo>
                    <a:pt x="2407" y="5193"/>
                    <a:pt x="2442" y="5185"/>
                    <a:pt x="2475" y="5169"/>
                  </a:cubicBezTo>
                  <a:cubicBezTo>
                    <a:pt x="2636" y="5104"/>
                    <a:pt x="2700" y="4944"/>
                    <a:pt x="2636" y="4815"/>
                  </a:cubicBezTo>
                  <a:lnTo>
                    <a:pt x="547" y="154"/>
                  </a:lnTo>
                  <a:cubicBezTo>
                    <a:pt x="500" y="60"/>
                    <a:pt x="401"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9"/>
            <p:cNvSpPr/>
            <p:nvPr/>
          </p:nvSpPr>
          <p:spPr>
            <a:xfrm>
              <a:off x="6261400" y="4661375"/>
              <a:ext cx="142250" cy="70375"/>
            </a:xfrm>
            <a:custGeom>
              <a:avLst/>
              <a:gdLst/>
              <a:ahLst/>
              <a:cxnLst/>
              <a:rect l="l" t="t" r="r" b="b"/>
              <a:pathLst>
                <a:path w="5690" h="2815" extrusionOk="0">
                  <a:moveTo>
                    <a:pt x="5380" y="0"/>
                  </a:moveTo>
                  <a:cubicBezTo>
                    <a:pt x="5343" y="0"/>
                    <a:pt x="5306" y="8"/>
                    <a:pt x="5272" y="25"/>
                  </a:cubicBezTo>
                  <a:lnTo>
                    <a:pt x="193" y="2276"/>
                  </a:lnTo>
                  <a:cubicBezTo>
                    <a:pt x="64" y="2340"/>
                    <a:pt x="0" y="2501"/>
                    <a:pt x="64" y="2629"/>
                  </a:cubicBezTo>
                  <a:cubicBezTo>
                    <a:pt x="88" y="2748"/>
                    <a:pt x="183" y="2815"/>
                    <a:pt x="296" y="2815"/>
                  </a:cubicBezTo>
                  <a:cubicBezTo>
                    <a:pt x="335" y="2815"/>
                    <a:pt x="377" y="2807"/>
                    <a:pt x="418" y="2790"/>
                  </a:cubicBezTo>
                  <a:lnTo>
                    <a:pt x="5497" y="508"/>
                  </a:lnTo>
                  <a:cubicBezTo>
                    <a:pt x="5625" y="443"/>
                    <a:pt x="5690" y="283"/>
                    <a:pt x="5625" y="154"/>
                  </a:cubicBezTo>
                  <a:cubicBezTo>
                    <a:pt x="5578" y="60"/>
                    <a:pt x="5480" y="0"/>
                    <a:pt x="5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9"/>
            <p:cNvSpPr/>
            <p:nvPr/>
          </p:nvSpPr>
          <p:spPr>
            <a:xfrm>
              <a:off x="5983350" y="4849900"/>
              <a:ext cx="59475" cy="189975"/>
            </a:xfrm>
            <a:custGeom>
              <a:avLst/>
              <a:gdLst/>
              <a:ahLst/>
              <a:cxnLst/>
              <a:rect l="l" t="t" r="r" b="b"/>
              <a:pathLst>
                <a:path w="2379" h="7599" extrusionOk="0">
                  <a:moveTo>
                    <a:pt x="2070" y="0"/>
                  </a:moveTo>
                  <a:cubicBezTo>
                    <a:pt x="1953" y="0"/>
                    <a:pt x="1828" y="87"/>
                    <a:pt x="1800" y="199"/>
                  </a:cubicBezTo>
                  <a:lnTo>
                    <a:pt x="32" y="7271"/>
                  </a:lnTo>
                  <a:cubicBezTo>
                    <a:pt x="0" y="7400"/>
                    <a:pt x="97" y="7560"/>
                    <a:pt x="225" y="7592"/>
                  </a:cubicBezTo>
                  <a:cubicBezTo>
                    <a:pt x="246" y="7597"/>
                    <a:pt x="267" y="7599"/>
                    <a:pt x="287" y="7599"/>
                  </a:cubicBezTo>
                  <a:cubicBezTo>
                    <a:pt x="419" y="7599"/>
                    <a:pt x="523" y="7511"/>
                    <a:pt x="579" y="7400"/>
                  </a:cubicBezTo>
                  <a:lnTo>
                    <a:pt x="2315" y="328"/>
                  </a:lnTo>
                  <a:cubicBezTo>
                    <a:pt x="2379" y="199"/>
                    <a:pt x="2282" y="38"/>
                    <a:pt x="2122" y="6"/>
                  </a:cubicBezTo>
                  <a:cubicBezTo>
                    <a:pt x="2105" y="2"/>
                    <a:pt x="2087" y="0"/>
                    <a:pt x="2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9"/>
            <p:cNvSpPr/>
            <p:nvPr/>
          </p:nvSpPr>
          <p:spPr>
            <a:xfrm>
              <a:off x="5822625" y="4838000"/>
              <a:ext cx="117350" cy="67525"/>
            </a:xfrm>
            <a:custGeom>
              <a:avLst/>
              <a:gdLst/>
              <a:ahLst/>
              <a:cxnLst/>
              <a:rect l="l" t="t" r="r" b="b"/>
              <a:pathLst>
                <a:path w="4694" h="2701" extrusionOk="0">
                  <a:moveTo>
                    <a:pt x="315" y="0"/>
                  </a:moveTo>
                  <a:cubicBezTo>
                    <a:pt x="222" y="0"/>
                    <a:pt x="129" y="43"/>
                    <a:pt x="65" y="129"/>
                  </a:cubicBezTo>
                  <a:cubicBezTo>
                    <a:pt x="0" y="257"/>
                    <a:pt x="65" y="418"/>
                    <a:pt x="193" y="482"/>
                  </a:cubicBezTo>
                  <a:lnTo>
                    <a:pt x="4276" y="2668"/>
                  </a:lnTo>
                  <a:cubicBezTo>
                    <a:pt x="4318" y="2690"/>
                    <a:pt x="4365" y="2700"/>
                    <a:pt x="4410" y="2700"/>
                  </a:cubicBezTo>
                  <a:cubicBezTo>
                    <a:pt x="4501" y="2700"/>
                    <a:pt x="4586" y="2657"/>
                    <a:pt x="4629" y="2572"/>
                  </a:cubicBezTo>
                  <a:cubicBezTo>
                    <a:pt x="4693" y="2443"/>
                    <a:pt x="4661" y="2282"/>
                    <a:pt x="4533" y="2186"/>
                  </a:cubicBezTo>
                  <a:lnTo>
                    <a:pt x="450" y="32"/>
                  </a:lnTo>
                  <a:cubicBezTo>
                    <a:pt x="407"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9"/>
            <p:cNvSpPr/>
            <p:nvPr/>
          </p:nvSpPr>
          <p:spPr>
            <a:xfrm>
              <a:off x="5951200" y="5157025"/>
              <a:ext cx="268425" cy="212975"/>
            </a:xfrm>
            <a:custGeom>
              <a:avLst/>
              <a:gdLst/>
              <a:ahLst/>
              <a:cxnLst/>
              <a:rect l="l" t="t" r="r" b="b"/>
              <a:pathLst>
                <a:path w="10737" h="8519" extrusionOk="0">
                  <a:moveTo>
                    <a:pt x="0" y="0"/>
                  </a:moveTo>
                  <a:lnTo>
                    <a:pt x="1608" y="8519"/>
                  </a:lnTo>
                  <a:lnTo>
                    <a:pt x="9129" y="8519"/>
                  </a:lnTo>
                  <a:lnTo>
                    <a:pt x="107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9"/>
            <p:cNvSpPr/>
            <p:nvPr/>
          </p:nvSpPr>
          <p:spPr>
            <a:xfrm>
              <a:off x="5943975" y="5150600"/>
              <a:ext cx="282875" cy="225825"/>
            </a:xfrm>
            <a:custGeom>
              <a:avLst/>
              <a:gdLst/>
              <a:ahLst/>
              <a:cxnLst/>
              <a:rect l="l" t="t" r="r" b="b"/>
              <a:pathLst>
                <a:path w="11315" h="9033" extrusionOk="0">
                  <a:moveTo>
                    <a:pt x="10704" y="547"/>
                  </a:moveTo>
                  <a:lnTo>
                    <a:pt x="9198" y="8519"/>
                  </a:lnTo>
                  <a:lnTo>
                    <a:pt x="2122" y="8519"/>
                  </a:lnTo>
                  <a:lnTo>
                    <a:pt x="611" y="547"/>
                  </a:lnTo>
                  <a:close/>
                  <a:moveTo>
                    <a:pt x="289" y="0"/>
                  </a:moveTo>
                  <a:cubicBezTo>
                    <a:pt x="193" y="0"/>
                    <a:pt x="129" y="32"/>
                    <a:pt x="64" y="97"/>
                  </a:cubicBezTo>
                  <a:cubicBezTo>
                    <a:pt x="32" y="161"/>
                    <a:pt x="0" y="257"/>
                    <a:pt x="0" y="322"/>
                  </a:cubicBezTo>
                  <a:lnTo>
                    <a:pt x="1640" y="8840"/>
                  </a:lnTo>
                  <a:cubicBezTo>
                    <a:pt x="1640" y="8937"/>
                    <a:pt x="1768" y="9033"/>
                    <a:pt x="1897" y="9033"/>
                  </a:cubicBezTo>
                  <a:lnTo>
                    <a:pt x="9418" y="9033"/>
                  </a:lnTo>
                  <a:cubicBezTo>
                    <a:pt x="9547" y="9033"/>
                    <a:pt x="9643" y="8937"/>
                    <a:pt x="9676" y="8840"/>
                  </a:cubicBezTo>
                  <a:lnTo>
                    <a:pt x="11283" y="322"/>
                  </a:lnTo>
                  <a:cubicBezTo>
                    <a:pt x="11315" y="257"/>
                    <a:pt x="11283" y="161"/>
                    <a:pt x="11219" y="97"/>
                  </a:cubicBezTo>
                  <a:cubicBezTo>
                    <a:pt x="11186" y="32"/>
                    <a:pt x="11090" y="0"/>
                    <a:pt x="110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9"/>
            <p:cNvSpPr/>
            <p:nvPr/>
          </p:nvSpPr>
          <p:spPr>
            <a:xfrm>
              <a:off x="3847350" y="4310825"/>
              <a:ext cx="341550" cy="994100"/>
            </a:xfrm>
            <a:custGeom>
              <a:avLst/>
              <a:gdLst/>
              <a:ahLst/>
              <a:cxnLst/>
              <a:rect l="l" t="t" r="r" b="b"/>
              <a:pathLst>
                <a:path w="13662" h="39764" extrusionOk="0">
                  <a:moveTo>
                    <a:pt x="10897" y="0"/>
                  </a:moveTo>
                  <a:lnTo>
                    <a:pt x="0" y="30441"/>
                  </a:lnTo>
                  <a:lnTo>
                    <a:pt x="2315" y="39763"/>
                  </a:lnTo>
                  <a:lnTo>
                    <a:pt x="9740" y="35102"/>
                  </a:lnTo>
                  <a:lnTo>
                    <a:pt x="13662" y="3215"/>
                  </a:lnTo>
                  <a:lnTo>
                    <a:pt x="108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9"/>
            <p:cNvSpPr/>
            <p:nvPr/>
          </p:nvSpPr>
          <p:spPr>
            <a:xfrm>
              <a:off x="3840100" y="4304400"/>
              <a:ext cx="356025" cy="1007475"/>
            </a:xfrm>
            <a:custGeom>
              <a:avLst/>
              <a:gdLst/>
              <a:ahLst/>
              <a:cxnLst/>
              <a:rect l="l" t="t" r="r" b="b"/>
              <a:pathLst>
                <a:path w="14241" h="40299" extrusionOk="0">
                  <a:moveTo>
                    <a:pt x="11288" y="789"/>
                  </a:moveTo>
                  <a:lnTo>
                    <a:pt x="13694" y="3568"/>
                  </a:lnTo>
                  <a:lnTo>
                    <a:pt x="9773" y="35198"/>
                  </a:lnTo>
                  <a:lnTo>
                    <a:pt x="2765" y="39602"/>
                  </a:lnTo>
                  <a:lnTo>
                    <a:pt x="547" y="30730"/>
                  </a:lnTo>
                  <a:lnTo>
                    <a:pt x="11288" y="789"/>
                  </a:lnTo>
                  <a:close/>
                  <a:moveTo>
                    <a:pt x="11155" y="0"/>
                  </a:moveTo>
                  <a:cubicBezTo>
                    <a:pt x="11059" y="32"/>
                    <a:pt x="10994" y="97"/>
                    <a:pt x="10962" y="193"/>
                  </a:cubicBezTo>
                  <a:lnTo>
                    <a:pt x="33" y="30634"/>
                  </a:lnTo>
                  <a:cubicBezTo>
                    <a:pt x="1" y="30666"/>
                    <a:pt x="1" y="30730"/>
                    <a:pt x="33" y="30762"/>
                  </a:cubicBezTo>
                  <a:lnTo>
                    <a:pt x="2347" y="40084"/>
                  </a:lnTo>
                  <a:cubicBezTo>
                    <a:pt x="2380" y="40181"/>
                    <a:pt x="2412" y="40245"/>
                    <a:pt x="2508" y="40277"/>
                  </a:cubicBezTo>
                  <a:cubicBezTo>
                    <a:pt x="2535" y="40291"/>
                    <a:pt x="2567" y="40298"/>
                    <a:pt x="2602" y="40298"/>
                  </a:cubicBezTo>
                  <a:cubicBezTo>
                    <a:pt x="2652" y="40298"/>
                    <a:pt x="2709" y="40283"/>
                    <a:pt x="2765" y="40245"/>
                  </a:cubicBezTo>
                  <a:lnTo>
                    <a:pt x="10191" y="35584"/>
                  </a:lnTo>
                  <a:cubicBezTo>
                    <a:pt x="10255" y="35552"/>
                    <a:pt x="10287" y="35488"/>
                    <a:pt x="10287" y="35391"/>
                  </a:cubicBezTo>
                  <a:lnTo>
                    <a:pt x="14241" y="3504"/>
                  </a:lnTo>
                  <a:cubicBezTo>
                    <a:pt x="14241" y="3440"/>
                    <a:pt x="14209" y="3343"/>
                    <a:pt x="14177" y="3311"/>
                  </a:cubicBezTo>
                  <a:lnTo>
                    <a:pt x="11412" y="97"/>
                  </a:lnTo>
                  <a:cubicBezTo>
                    <a:pt x="11348" y="32"/>
                    <a:pt x="11251" y="0"/>
                    <a:pt x="11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9"/>
            <p:cNvSpPr/>
            <p:nvPr/>
          </p:nvSpPr>
          <p:spPr>
            <a:xfrm>
              <a:off x="3691825" y="5009525"/>
              <a:ext cx="308225" cy="332350"/>
            </a:xfrm>
            <a:custGeom>
              <a:avLst/>
              <a:gdLst/>
              <a:ahLst/>
              <a:cxnLst/>
              <a:rect l="l" t="t" r="r" b="b"/>
              <a:pathLst>
                <a:path w="12329" h="13294" extrusionOk="0">
                  <a:moveTo>
                    <a:pt x="5783" y="0"/>
                  </a:moveTo>
                  <a:cubicBezTo>
                    <a:pt x="3319" y="0"/>
                    <a:pt x="0" y="1543"/>
                    <a:pt x="242" y="4100"/>
                  </a:cubicBezTo>
                  <a:cubicBezTo>
                    <a:pt x="532" y="7154"/>
                    <a:pt x="3457" y="13294"/>
                    <a:pt x="5610" y="13294"/>
                  </a:cubicBezTo>
                  <a:cubicBezTo>
                    <a:pt x="7796" y="13294"/>
                    <a:pt x="9564" y="13294"/>
                    <a:pt x="10721" y="12104"/>
                  </a:cubicBezTo>
                  <a:cubicBezTo>
                    <a:pt x="11879" y="10947"/>
                    <a:pt x="12329" y="8761"/>
                    <a:pt x="11171" y="5868"/>
                  </a:cubicBezTo>
                  <a:cubicBezTo>
                    <a:pt x="9982" y="2943"/>
                    <a:pt x="7089" y="179"/>
                    <a:pt x="7089" y="179"/>
                  </a:cubicBezTo>
                  <a:cubicBezTo>
                    <a:pt x="6708" y="59"/>
                    <a:pt x="6261" y="0"/>
                    <a:pt x="57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9"/>
            <p:cNvSpPr/>
            <p:nvPr/>
          </p:nvSpPr>
          <p:spPr>
            <a:xfrm>
              <a:off x="3690650" y="5002725"/>
              <a:ext cx="303775" cy="345575"/>
            </a:xfrm>
            <a:custGeom>
              <a:avLst/>
              <a:gdLst/>
              <a:ahLst/>
              <a:cxnLst/>
              <a:rect l="l" t="t" r="r" b="b"/>
              <a:pathLst>
                <a:path w="12151" h="13823" extrusionOk="0">
                  <a:moveTo>
                    <a:pt x="5850" y="547"/>
                  </a:moveTo>
                  <a:cubicBezTo>
                    <a:pt x="6277" y="547"/>
                    <a:pt x="6674" y="576"/>
                    <a:pt x="6988" y="688"/>
                  </a:cubicBezTo>
                  <a:lnTo>
                    <a:pt x="6988" y="688"/>
                  </a:lnTo>
                  <a:cubicBezTo>
                    <a:pt x="7008" y="708"/>
                    <a:pt x="7035" y="736"/>
                    <a:pt x="7072" y="772"/>
                  </a:cubicBezTo>
                  <a:cubicBezTo>
                    <a:pt x="7618" y="1319"/>
                    <a:pt x="9965" y="3762"/>
                    <a:pt x="10961" y="6237"/>
                  </a:cubicBezTo>
                  <a:cubicBezTo>
                    <a:pt x="11411" y="7394"/>
                    <a:pt x="11636" y="8423"/>
                    <a:pt x="11636" y="9323"/>
                  </a:cubicBezTo>
                  <a:cubicBezTo>
                    <a:pt x="11636" y="10608"/>
                    <a:pt x="11218" y="11573"/>
                    <a:pt x="10576" y="12184"/>
                  </a:cubicBezTo>
                  <a:cubicBezTo>
                    <a:pt x="10061" y="12730"/>
                    <a:pt x="9386" y="12987"/>
                    <a:pt x="8550" y="13148"/>
                  </a:cubicBezTo>
                  <a:cubicBezTo>
                    <a:pt x="7747" y="13276"/>
                    <a:pt x="6750" y="13276"/>
                    <a:pt x="5657" y="13276"/>
                  </a:cubicBezTo>
                  <a:cubicBezTo>
                    <a:pt x="5465" y="13276"/>
                    <a:pt x="5240" y="13212"/>
                    <a:pt x="4950" y="13051"/>
                  </a:cubicBezTo>
                  <a:cubicBezTo>
                    <a:pt x="4500" y="12794"/>
                    <a:pt x="3986" y="12280"/>
                    <a:pt x="3504" y="11605"/>
                  </a:cubicBezTo>
                  <a:cubicBezTo>
                    <a:pt x="2797" y="10608"/>
                    <a:pt x="2089" y="9258"/>
                    <a:pt x="1543" y="7940"/>
                  </a:cubicBezTo>
                  <a:cubicBezTo>
                    <a:pt x="1029" y="6623"/>
                    <a:pt x="643" y="5305"/>
                    <a:pt x="547" y="4340"/>
                  </a:cubicBezTo>
                  <a:cubicBezTo>
                    <a:pt x="547" y="4276"/>
                    <a:pt x="547" y="4180"/>
                    <a:pt x="547" y="4115"/>
                  </a:cubicBezTo>
                  <a:cubicBezTo>
                    <a:pt x="547" y="3569"/>
                    <a:pt x="707" y="3087"/>
                    <a:pt x="1029" y="2669"/>
                  </a:cubicBezTo>
                  <a:cubicBezTo>
                    <a:pt x="1479" y="1994"/>
                    <a:pt x="2250" y="1479"/>
                    <a:pt x="3150" y="1094"/>
                  </a:cubicBezTo>
                  <a:cubicBezTo>
                    <a:pt x="4018" y="740"/>
                    <a:pt x="4982" y="547"/>
                    <a:pt x="5850" y="547"/>
                  </a:cubicBezTo>
                  <a:close/>
                  <a:moveTo>
                    <a:pt x="5850" y="1"/>
                  </a:moveTo>
                  <a:cubicBezTo>
                    <a:pt x="4597" y="1"/>
                    <a:pt x="3182" y="386"/>
                    <a:pt x="2025" y="1062"/>
                  </a:cubicBezTo>
                  <a:cubicBezTo>
                    <a:pt x="1447" y="1415"/>
                    <a:pt x="964" y="1833"/>
                    <a:pt x="579" y="2347"/>
                  </a:cubicBezTo>
                  <a:cubicBezTo>
                    <a:pt x="225" y="2862"/>
                    <a:pt x="0" y="3440"/>
                    <a:pt x="0" y="4115"/>
                  </a:cubicBezTo>
                  <a:cubicBezTo>
                    <a:pt x="0" y="4212"/>
                    <a:pt x="0" y="4308"/>
                    <a:pt x="32" y="4405"/>
                  </a:cubicBezTo>
                  <a:cubicBezTo>
                    <a:pt x="161" y="5980"/>
                    <a:pt x="997" y="8294"/>
                    <a:pt x="2025" y="10255"/>
                  </a:cubicBezTo>
                  <a:cubicBezTo>
                    <a:pt x="2572" y="11219"/>
                    <a:pt x="3150" y="12087"/>
                    <a:pt x="3761" y="12730"/>
                  </a:cubicBezTo>
                  <a:cubicBezTo>
                    <a:pt x="4050" y="13051"/>
                    <a:pt x="4372" y="13309"/>
                    <a:pt x="4693" y="13501"/>
                  </a:cubicBezTo>
                  <a:cubicBezTo>
                    <a:pt x="5015" y="13694"/>
                    <a:pt x="5336" y="13823"/>
                    <a:pt x="5657" y="13823"/>
                  </a:cubicBezTo>
                  <a:cubicBezTo>
                    <a:pt x="6750" y="13823"/>
                    <a:pt x="7747" y="13823"/>
                    <a:pt x="8647" y="13662"/>
                  </a:cubicBezTo>
                  <a:cubicBezTo>
                    <a:pt x="9547" y="13534"/>
                    <a:pt x="10318" y="13212"/>
                    <a:pt x="10961" y="12569"/>
                  </a:cubicBezTo>
                  <a:cubicBezTo>
                    <a:pt x="11701" y="11830"/>
                    <a:pt x="12151" y="10705"/>
                    <a:pt x="12151" y="9323"/>
                  </a:cubicBezTo>
                  <a:cubicBezTo>
                    <a:pt x="12151" y="8358"/>
                    <a:pt x="11958" y="7233"/>
                    <a:pt x="11443" y="6012"/>
                  </a:cubicBezTo>
                  <a:cubicBezTo>
                    <a:pt x="10254" y="3022"/>
                    <a:pt x="7329" y="258"/>
                    <a:pt x="7329" y="258"/>
                  </a:cubicBezTo>
                  <a:lnTo>
                    <a:pt x="7200" y="194"/>
                  </a:lnTo>
                  <a:cubicBezTo>
                    <a:pt x="6815" y="65"/>
                    <a:pt x="6333" y="1"/>
                    <a:pt x="58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39"/>
            <p:cNvSpPr/>
            <p:nvPr/>
          </p:nvSpPr>
          <p:spPr>
            <a:xfrm>
              <a:off x="2765675" y="5136875"/>
              <a:ext cx="160425" cy="71975"/>
            </a:xfrm>
            <a:custGeom>
              <a:avLst/>
              <a:gdLst/>
              <a:ahLst/>
              <a:cxnLst/>
              <a:rect l="l" t="t" r="r" b="b"/>
              <a:pathLst>
                <a:path w="6417" h="2879" extrusionOk="0">
                  <a:moveTo>
                    <a:pt x="5299" y="0"/>
                  </a:moveTo>
                  <a:cubicBezTo>
                    <a:pt x="5199" y="0"/>
                    <a:pt x="5083" y="11"/>
                    <a:pt x="4951" y="35"/>
                  </a:cubicBezTo>
                  <a:cubicBezTo>
                    <a:pt x="4951" y="35"/>
                    <a:pt x="1" y="2349"/>
                    <a:pt x="451" y="2799"/>
                  </a:cubicBezTo>
                  <a:cubicBezTo>
                    <a:pt x="502" y="2854"/>
                    <a:pt x="596" y="2879"/>
                    <a:pt x="725" y="2879"/>
                  </a:cubicBezTo>
                  <a:cubicBezTo>
                    <a:pt x="1646" y="2879"/>
                    <a:pt x="4302" y="1623"/>
                    <a:pt x="4951" y="1482"/>
                  </a:cubicBezTo>
                  <a:cubicBezTo>
                    <a:pt x="5629" y="1364"/>
                    <a:pt x="6416" y="0"/>
                    <a:pt x="5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9"/>
            <p:cNvSpPr/>
            <p:nvPr/>
          </p:nvSpPr>
          <p:spPr>
            <a:xfrm>
              <a:off x="2768900" y="5129700"/>
              <a:ext cx="150300" cy="86025"/>
            </a:xfrm>
            <a:custGeom>
              <a:avLst/>
              <a:gdLst/>
              <a:ahLst/>
              <a:cxnLst/>
              <a:rect l="l" t="t" r="r" b="b"/>
              <a:pathLst>
                <a:path w="6012" h="3441" extrusionOk="0">
                  <a:moveTo>
                    <a:pt x="5176" y="547"/>
                  </a:moveTo>
                  <a:cubicBezTo>
                    <a:pt x="5336" y="547"/>
                    <a:pt x="5401" y="579"/>
                    <a:pt x="5433" y="611"/>
                  </a:cubicBezTo>
                  <a:cubicBezTo>
                    <a:pt x="5433" y="611"/>
                    <a:pt x="5465" y="643"/>
                    <a:pt x="5465" y="708"/>
                  </a:cubicBezTo>
                  <a:cubicBezTo>
                    <a:pt x="5465" y="804"/>
                    <a:pt x="5368" y="1029"/>
                    <a:pt x="5240" y="1190"/>
                  </a:cubicBezTo>
                  <a:cubicBezTo>
                    <a:pt x="5079" y="1351"/>
                    <a:pt x="4886" y="1479"/>
                    <a:pt x="4758" y="1511"/>
                  </a:cubicBezTo>
                  <a:cubicBezTo>
                    <a:pt x="4565" y="1544"/>
                    <a:pt x="4276" y="1672"/>
                    <a:pt x="3922" y="1801"/>
                  </a:cubicBezTo>
                  <a:cubicBezTo>
                    <a:pt x="3376" y="1994"/>
                    <a:pt x="2700" y="2283"/>
                    <a:pt x="2058" y="2508"/>
                  </a:cubicBezTo>
                  <a:cubicBezTo>
                    <a:pt x="1768" y="2604"/>
                    <a:pt x="1447" y="2701"/>
                    <a:pt x="1190" y="2797"/>
                  </a:cubicBezTo>
                  <a:cubicBezTo>
                    <a:pt x="1018" y="2840"/>
                    <a:pt x="861" y="2869"/>
                    <a:pt x="738" y="2883"/>
                  </a:cubicBezTo>
                  <a:lnTo>
                    <a:pt x="738" y="2883"/>
                  </a:lnTo>
                  <a:cubicBezTo>
                    <a:pt x="749" y="2876"/>
                    <a:pt x="760" y="2869"/>
                    <a:pt x="772" y="2861"/>
                  </a:cubicBezTo>
                  <a:cubicBezTo>
                    <a:pt x="1222" y="2476"/>
                    <a:pt x="2283" y="1897"/>
                    <a:pt x="3215" y="1415"/>
                  </a:cubicBezTo>
                  <a:cubicBezTo>
                    <a:pt x="3665" y="1190"/>
                    <a:pt x="4115" y="965"/>
                    <a:pt x="4436" y="804"/>
                  </a:cubicBezTo>
                  <a:cubicBezTo>
                    <a:pt x="4632" y="695"/>
                    <a:pt x="4798" y="616"/>
                    <a:pt x="4886" y="576"/>
                  </a:cubicBezTo>
                  <a:lnTo>
                    <a:pt x="4886" y="576"/>
                  </a:lnTo>
                  <a:lnTo>
                    <a:pt x="4886" y="579"/>
                  </a:lnTo>
                  <a:cubicBezTo>
                    <a:pt x="4983" y="547"/>
                    <a:pt x="5079" y="547"/>
                    <a:pt x="5176" y="547"/>
                  </a:cubicBezTo>
                  <a:close/>
                  <a:moveTo>
                    <a:pt x="5176" y="1"/>
                  </a:moveTo>
                  <a:cubicBezTo>
                    <a:pt x="5047" y="1"/>
                    <a:pt x="4918" y="33"/>
                    <a:pt x="4790" y="65"/>
                  </a:cubicBezTo>
                  <a:lnTo>
                    <a:pt x="4726" y="65"/>
                  </a:lnTo>
                  <a:cubicBezTo>
                    <a:pt x="4693" y="65"/>
                    <a:pt x="3568" y="611"/>
                    <a:pt x="2411" y="1222"/>
                  </a:cubicBezTo>
                  <a:cubicBezTo>
                    <a:pt x="1865" y="1511"/>
                    <a:pt x="1286" y="1833"/>
                    <a:pt x="836" y="2122"/>
                  </a:cubicBezTo>
                  <a:cubicBezTo>
                    <a:pt x="611" y="2283"/>
                    <a:pt x="450" y="2411"/>
                    <a:pt x="290" y="2540"/>
                  </a:cubicBezTo>
                  <a:cubicBezTo>
                    <a:pt x="225" y="2604"/>
                    <a:pt x="161" y="2669"/>
                    <a:pt x="129" y="2733"/>
                  </a:cubicBezTo>
                  <a:cubicBezTo>
                    <a:pt x="65" y="2797"/>
                    <a:pt x="32" y="2894"/>
                    <a:pt x="0" y="3022"/>
                  </a:cubicBezTo>
                  <a:cubicBezTo>
                    <a:pt x="0" y="3119"/>
                    <a:pt x="65" y="3215"/>
                    <a:pt x="129" y="3279"/>
                  </a:cubicBezTo>
                  <a:cubicBezTo>
                    <a:pt x="258" y="3408"/>
                    <a:pt x="418" y="3440"/>
                    <a:pt x="579" y="3440"/>
                  </a:cubicBezTo>
                  <a:cubicBezTo>
                    <a:pt x="868" y="3440"/>
                    <a:pt x="1222" y="3344"/>
                    <a:pt x="1608" y="3215"/>
                  </a:cubicBezTo>
                  <a:cubicBezTo>
                    <a:pt x="2218" y="3022"/>
                    <a:pt x="2925" y="2765"/>
                    <a:pt x="3536" y="2508"/>
                  </a:cubicBezTo>
                  <a:cubicBezTo>
                    <a:pt x="3858" y="2411"/>
                    <a:pt x="4147" y="2283"/>
                    <a:pt x="4372" y="2219"/>
                  </a:cubicBezTo>
                  <a:cubicBezTo>
                    <a:pt x="4597" y="2122"/>
                    <a:pt x="4790" y="2058"/>
                    <a:pt x="4886" y="2026"/>
                  </a:cubicBezTo>
                  <a:cubicBezTo>
                    <a:pt x="5176" y="1961"/>
                    <a:pt x="5433" y="1769"/>
                    <a:pt x="5626" y="1544"/>
                  </a:cubicBezTo>
                  <a:cubicBezTo>
                    <a:pt x="5851" y="1286"/>
                    <a:pt x="5979" y="997"/>
                    <a:pt x="5979" y="708"/>
                  </a:cubicBezTo>
                  <a:cubicBezTo>
                    <a:pt x="6011" y="515"/>
                    <a:pt x="5915" y="322"/>
                    <a:pt x="5786" y="193"/>
                  </a:cubicBezTo>
                  <a:cubicBezTo>
                    <a:pt x="5626" y="65"/>
                    <a:pt x="5401" y="1"/>
                    <a:pt x="5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9"/>
            <p:cNvSpPr/>
            <p:nvPr/>
          </p:nvSpPr>
          <p:spPr>
            <a:xfrm>
              <a:off x="2849250" y="5096175"/>
              <a:ext cx="87625" cy="156775"/>
            </a:xfrm>
            <a:custGeom>
              <a:avLst/>
              <a:gdLst/>
              <a:ahLst/>
              <a:cxnLst/>
              <a:rect l="l" t="t" r="r" b="b"/>
              <a:pathLst>
                <a:path w="3505" h="6271" extrusionOk="0">
                  <a:moveTo>
                    <a:pt x="2823" y="0"/>
                  </a:moveTo>
                  <a:cubicBezTo>
                    <a:pt x="2347" y="0"/>
                    <a:pt x="1770" y="91"/>
                    <a:pt x="1608" y="506"/>
                  </a:cubicBezTo>
                  <a:cubicBezTo>
                    <a:pt x="1319" y="1213"/>
                    <a:pt x="1" y="5167"/>
                    <a:pt x="162" y="6035"/>
                  </a:cubicBezTo>
                  <a:cubicBezTo>
                    <a:pt x="186" y="6200"/>
                    <a:pt x="254" y="6271"/>
                    <a:pt x="351" y="6271"/>
                  </a:cubicBezTo>
                  <a:cubicBezTo>
                    <a:pt x="766" y="6271"/>
                    <a:pt x="1718" y="4995"/>
                    <a:pt x="2187" y="4267"/>
                  </a:cubicBezTo>
                  <a:cubicBezTo>
                    <a:pt x="2765" y="3399"/>
                    <a:pt x="3505" y="56"/>
                    <a:pt x="3505" y="56"/>
                  </a:cubicBezTo>
                  <a:cubicBezTo>
                    <a:pt x="3505" y="56"/>
                    <a:pt x="3195" y="0"/>
                    <a:pt x="2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9"/>
            <p:cNvSpPr/>
            <p:nvPr/>
          </p:nvSpPr>
          <p:spPr>
            <a:xfrm>
              <a:off x="2846050" y="5089525"/>
              <a:ext cx="98050" cy="170375"/>
            </a:xfrm>
            <a:custGeom>
              <a:avLst/>
              <a:gdLst/>
              <a:ahLst/>
              <a:cxnLst/>
              <a:rect l="l" t="t" r="r" b="b"/>
              <a:pathLst>
                <a:path w="3922" h="6815" extrusionOk="0">
                  <a:moveTo>
                    <a:pt x="2795" y="541"/>
                  </a:moveTo>
                  <a:cubicBezTo>
                    <a:pt x="2839" y="541"/>
                    <a:pt x="2882" y="543"/>
                    <a:pt x="2925" y="547"/>
                  </a:cubicBezTo>
                  <a:lnTo>
                    <a:pt x="3302" y="547"/>
                  </a:lnTo>
                  <a:cubicBezTo>
                    <a:pt x="3285" y="622"/>
                    <a:pt x="3266" y="709"/>
                    <a:pt x="3247" y="804"/>
                  </a:cubicBezTo>
                  <a:cubicBezTo>
                    <a:pt x="3118" y="1286"/>
                    <a:pt x="2958" y="2058"/>
                    <a:pt x="2732" y="2765"/>
                  </a:cubicBezTo>
                  <a:cubicBezTo>
                    <a:pt x="2636" y="3118"/>
                    <a:pt x="2507" y="3440"/>
                    <a:pt x="2411" y="3729"/>
                  </a:cubicBezTo>
                  <a:cubicBezTo>
                    <a:pt x="2282" y="4018"/>
                    <a:pt x="2186" y="4276"/>
                    <a:pt x="2090" y="4404"/>
                  </a:cubicBezTo>
                  <a:cubicBezTo>
                    <a:pt x="1865" y="4758"/>
                    <a:pt x="1511" y="5240"/>
                    <a:pt x="1190" y="5626"/>
                  </a:cubicBezTo>
                  <a:cubicBezTo>
                    <a:pt x="997" y="5819"/>
                    <a:pt x="836" y="6011"/>
                    <a:pt x="707" y="6108"/>
                  </a:cubicBezTo>
                  <a:cubicBezTo>
                    <a:pt x="643" y="6172"/>
                    <a:pt x="579" y="6204"/>
                    <a:pt x="547" y="6236"/>
                  </a:cubicBezTo>
                  <a:cubicBezTo>
                    <a:pt x="547" y="6236"/>
                    <a:pt x="547" y="6172"/>
                    <a:pt x="547" y="6140"/>
                  </a:cubicBezTo>
                  <a:cubicBezTo>
                    <a:pt x="547" y="5883"/>
                    <a:pt x="611" y="5465"/>
                    <a:pt x="707" y="4983"/>
                  </a:cubicBezTo>
                  <a:cubicBezTo>
                    <a:pt x="1061" y="3504"/>
                    <a:pt x="1800" y="1350"/>
                    <a:pt x="1993" y="868"/>
                  </a:cubicBezTo>
                  <a:cubicBezTo>
                    <a:pt x="1993" y="804"/>
                    <a:pt x="2025" y="772"/>
                    <a:pt x="2090" y="708"/>
                  </a:cubicBezTo>
                  <a:cubicBezTo>
                    <a:pt x="2229" y="624"/>
                    <a:pt x="2513" y="541"/>
                    <a:pt x="2795" y="541"/>
                  </a:cubicBezTo>
                  <a:close/>
                  <a:moveTo>
                    <a:pt x="2925" y="0"/>
                  </a:moveTo>
                  <a:cubicBezTo>
                    <a:pt x="2700" y="0"/>
                    <a:pt x="2411" y="33"/>
                    <a:pt x="2122" y="97"/>
                  </a:cubicBezTo>
                  <a:cubicBezTo>
                    <a:pt x="1993" y="161"/>
                    <a:pt x="1865" y="225"/>
                    <a:pt x="1768" y="290"/>
                  </a:cubicBezTo>
                  <a:cubicBezTo>
                    <a:pt x="1640" y="386"/>
                    <a:pt x="1543" y="515"/>
                    <a:pt x="1479" y="675"/>
                  </a:cubicBezTo>
                  <a:cubicBezTo>
                    <a:pt x="1350" y="1029"/>
                    <a:pt x="965" y="2090"/>
                    <a:pt x="643" y="3215"/>
                  </a:cubicBezTo>
                  <a:cubicBezTo>
                    <a:pt x="482" y="3761"/>
                    <a:pt x="322" y="4340"/>
                    <a:pt x="193" y="4854"/>
                  </a:cubicBezTo>
                  <a:cubicBezTo>
                    <a:pt x="97" y="5368"/>
                    <a:pt x="0" y="5819"/>
                    <a:pt x="0" y="6140"/>
                  </a:cubicBezTo>
                  <a:cubicBezTo>
                    <a:pt x="0" y="6204"/>
                    <a:pt x="0" y="6269"/>
                    <a:pt x="32" y="6333"/>
                  </a:cubicBezTo>
                  <a:cubicBezTo>
                    <a:pt x="32" y="6461"/>
                    <a:pt x="65" y="6558"/>
                    <a:pt x="161" y="6654"/>
                  </a:cubicBezTo>
                  <a:cubicBezTo>
                    <a:pt x="225" y="6751"/>
                    <a:pt x="354" y="6815"/>
                    <a:pt x="482" y="6815"/>
                  </a:cubicBezTo>
                  <a:cubicBezTo>
                    <a:pt x="611" y="6815"/>
                    <a:pt x="707" y="6751"/>
                    <a:pt x="772" y="6719"/>
                  </a:cubicBezTo>
                  <a:cubicBezTo>
                    <a:pt x="1093" y="6526"/>
                    <a:pt x="1415" y="6204"/>
                    <a:pt x="1704" y="5819"/>
                  </a:cubicBezTo>
                  <a:cubicBezTo>
                    <a:pt x="2025" y="5433"/>
                    <a:pt x="2347" y="5015"/>
                    <a:pt x="2540" y="4693"/>
                  </a:cubicBezTo>
                  <a:cubicBezTo>
                    <a:pt x="2700" y="4436"/>
                    <a:pt x="2861" y="4051"/>
                    <a:pt x="3022" y="3601"/>
                  </a:cubicBezTo>
                  <a:cubicBezTo>
                    <a:pt x="3472" y="2283"/>
                    <a:pt x="3890" y="386"/>
                    <a:pt x="3890" y="386"/>
                  </a:cubicBezTo>
                  <a:cubicBezTo>
                    <a:pt x="3922" y="322"/>
                    <a:pt x="3890" y="225"/>
                    <a:pt x="3858" y="161"/>
                  </a:cubicBezTo>
                  <a:cubicBezTo>
                    <a:pt x="3825" y="129"/>
                    <a:pt x="3761" y="65"/>
                    <a:pt x="3665" y="65"/>
                  </a:cubicBezTo>
                  <a:cubicBezTo>
                    <a:pt x="3665" y="65"/>
                    <a:pt x="3343" y="0"/>
                    <a:pt x="2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9"/>
            <p:cNvSpPr/>
            <p:nvPr/>
          </p:nvSpPr>
          <p:spPr>
            <a:xfrm>
              <a:off x="2864525" y="5089350"/>
              <a:ext cx="148700" cy="160125"/>
            </a:xfrm>
            <a:custGeom>
              <a:avLst/>
              <a:gdLst/>
              <a:ahLst/>
              <a:cxnLst/>
              <a:rect l="l" t="t" r="r" b="b"/>
              <a:pathLst>
                <a:path w="5948" h="6405" extrusionOk="0">
                  <a:moveTo>
                    <a:pt x="3885" y="0"/>
                  </a:moveTo>
                  <a:cubicBezTo>
                    <a:pt x="3433" y="0"/>
                    <a:pt x="3044" y="82"/>
                    <a:pt x="2894" y="329"/>
                  </a:cubicBezTo>
                  <a:cubicBezTo>
                    <a:pt x="2444" y="1068"/>
                    <a:pt x="129" y="6147"/>
                    <a:pt x="129" y="6147"/>
                  </a:cubicBezTo>
                  <a:cubicBezTo>
                    <a:pt x="129" y="6147"/>
                    <a:pt x="1" y="6404"/>
                    <a:pt x="305" y="6404"/>
                  </a:cubicBezTo>
                  <a:cubicBezTo>
                    <a:pt x="458" y="6404"/>
                    <a:pt x="718" y="6340"/>
                    <a:pt x="1158" y="6147"/>
                  </a:cubicBezTo>
                  <a:cubicBezTo>
                    <a:pt x="2444" y="5568"/>
                    <a:pt x="5947" y="329"/>
                    <a:pt x="5947" y="329"/>
                  </a:cubicBezTo>
                  <a:cubicBezTo>
                    <a:pt x="5947" y="329"/>
                    <a:pt x="4790" y="0"/>
                    <a:pt x="3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9"/>
            <p:cNvSpPr/>
            <p:nvPr/>
          </p:nvSpPr>
          <p:spPr>
            <a:xfrm>
              <a:off x="2860500" y="5083100"/>
              <a:ext cx="159950" cy="173600"/>
            </a:xfrm>
            <a:custGeom>
              <a:avLst/>
              <a:gdLst/>
              <a:ahLst/>
              <a:cxnLst/>
              <a:rect l="l" t="t" r="r" b="b"/>
              <a:pathLst>
                <a:path w="6398" h="6944" extrusionOk="0">
                  <a:moveTo>
                    <a:pt x="4051" y="515"/>
                  </a:moveTo>
                  <a:cubicBezTo>
                    <a:pt x="4469" y="515"/>
                    <a:pt x="4983" y="611"/>
                    <a:pt x="5369" y="675"/>
                  </a:cubicBezTo>
                  <a:cubicBezTo>
                    <a:pt x="5479" y="694"/>
                    <a:pt x="5579" y="723"/>
                    <a:pt x="5669" y="750"/>
                  </a:cubicBezTo>
                  <a:lnTo>
                    <a:pt x="5669" y="750"/>
                  </a:lnTo>
                  <a:cubicBezTo>
                    <a:pt x="5579" y="888"/>
                    <a:pt x="5466" y="1060"/>
                    <a:pt x="5337" y="1254"/>
                  </a:cubicBezTo>
                  <a:cubicBezTo>
                    <a:pt x="4790" y="1993"/>
                    <a:pt x="3987" y="3150"/>
                    <a:pt x="3183" y="4147"/>
                  </a:cubicBezTo>
                  <a:cubicBezTo>
                    <a:pt x="2797" y="4629"/>
                    <a:pt x="2412" y="5111"/>
                    <a:pt x="2058" y="5465"/>
                  </a:cubicBezTo>
                  <a:cubicBezTo>
                    <a:pt x="1704" y="5818"/>
                    <a:pt x="1383" y="6076"/>
                    <a:pt x="1190" y="6172"/>
                  </a:cubicBezTo>
                  <a:cubicBezTo>
                    <a:pt x="906" y="6303"/>
                    <a:pt x="712" y="6360"/>
                    <a:pt x="585" y="6383"/>
                  </a:cubicBezTo>
                  <a:lnTo>
                    <a:pt x="585" y="6383"/>
                  </a:lnTo>
                  <a:cubicBezTo>
                    <a:pt x="653" y="6244"/>
                    <a:pt x="765" y="6012"/>
                    <a:pt x="901" y="5722"/>
                  </a:cubicBezTo>
                  <a:cubicBezTo>
                    <a:pt x="1222" y="4983"/>
                    <a:pt x="1769" y="3858"/>
                    <a:pt x="2219" y="2861"/>
                  </a:cubicBezTo>
                  <a:cubicBezTo>
                    <a:pt x="2476" y="2347"/>
                    <a:pt x="2701" y="1897"/>
                    <a:pt x="2862" y="1511"/>
                  </a:cubicBezTo>
                  <a:cubicBezTo>
                    <a:pt x="3055" y="1125"/>
                    <a:pt x="3215" y="836"/>
                    <a:pt x="3280" y="707"/>
                  </a:cubicBezTo>
                  <a:cubicBezTo>
                    <a:pt x="3312" y="675"/>
                    <a:pt x="3376" y="611"/>
                    <a:pt x="3505" y="579"/>
                  </a:cubicBezTo>
                  <a:cubicBezTo>
                    <a:pt x="3633" y="547"/>
                    <a:pt x="3826" y="515"/>
                    <a:pt x="4051" y="515"/>
                  </a:cubicBezTo>
                  <a:close/>
                  <a:moveTo>
                    <a:pt x="4051" y="0"/>
                  </a:moveTo>
                  <a:cubicBezTo>
                    <a:pt x="3794" y="0"/>
                    <a:pt x="3569" y="0"/>
                    <a:pt x="3344" y="64"/>
                  </a:cubicBezTo>
                  <a:cubicBezTo>
                    <a:pt x="3151" y="129"/>
                    <a:pt x="2958" y="225"/>
                    <a:pt x="2830" y="450"/>
                  </a:cubicBezTo>
                  <a:cubicBezTo>
                    <a:pt x="2701" y="643"/>
                    <a:pt x="2476" y="1093"/>
                    <a:pt x="2187" y="1672"/>
                  </a:cubicBezTo>
                  <a:cubicBezTo>
                    <a:pt x="1351" y="3440"/>
                    <a:pt x="33" y="6301"/>
                    <a:pt x="33" y="6301"/>
                  </a:cubicBezTo>
                  <a:cubicBezTo>
                    <a:pt x="33" y="6301"/>
                    <a:pt x="1" y="6365"/>
                    <a:pt x="1" y="6526"/>
                  </a:cubicBezTo>
                  <a:cubicBezTo>
                    <a:pt x="1" y="6590"/>
                    <a:pt x="1" y="6718"/>
                    <a:pt x="129" y="6815"/>
                  </a:cubicBezTo>
                  <a:cubicBezTo>
                    <a:pt x="226" y="6911"/>
                    <a:pt x="354" y="6943"/>
                    <a:pt x="451" y="6943"/>
                  </a:cubicBezTo>
                  <a:cubicBezTo>
                    <a:pt x="676" y="6943"/>
                    <a:pt x="965" y="6847"/>
                    <a:pt x="1415" y="6654"/>
                  </a:cubicBezTo>
                  <a:cubicBezTo>
                    <a:pt x="1833" y="6461"/>
                    <a:pt x="2283" y="6011"/>
                    <a:pt x="2797" y="5433"/>
                  </a:cubicBezTo>
                  <a:cubicBezTo>
                    <a:pt x="4372" y="3697"/>
                    <a:pt x="6333" y="740"/>
                    <a:pt x="6333" y="740"/>
                  </a:cubicBezTo>
                  <a:cubicBezTo>
                    <a:pt x="6398" y="643"/>
                    <a:pt x="6398" y="579"/>
                    <a:pt x="6365" y="482"/>
                  </a:cubicBezTo>
                  <a:cubicBezTo>
                    <a:pt x="6333" y="418"/>
                    <a:pt x="6269" y="354"/>
                    <a:pt x="6173" y="322"/>
                  </a:cubicBezTo>
                  <a:cubicBezTo>
                    <a:pt x="6173" y="322"/>
                    <a:pt x="5015" y="0"/>
                    <a:pt x="40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9"/>
            <p:cNvSpPr/>
            <p:nvPr/>
          </p:nvSpPr>
          <p:spPr>
            <a:xfrm>
              <a:off x="2874975" y="5075450"/>
              <a:ext cx="1043925" cy="240775"/>
            </a:xfrm>
            <a:custGeom>
              <a:avLst/>
              <a:gdLst/>
              <a:ahLst/>
              <a:cxnLst/>
              <a:rect l="l" t="t" r="r" b="b"/>
              <a:pathLst>
                <a:path w="41757" h="9631" extrusionOk="0">
                  <a:moveTo>
                    <a:pt x="7148" y="0"/>
                  </a:moveTo>
                  <a:cubicBezTo>
                    <a:pt x="5926" y="0"/>
                    <a:pt x="4749" y="946"/>
                    <a:pt x="4211" y="1753"/>
                  </a:cubicBezTo>
                  <a:cubicBezTo>
                    <a:pt x="3633" y="2621"/>
                    <a:pt x="0" y="7282"/>
                    <a:pt x="0" y="7282"/>
                  </a:cubicBezTo>
                  <a:lnTo>
                    <a:pt x="868" y="7571"/>
                  </a:lnTo>
                  <a:lnTo>
                    <a:pt x="5979" y="3521"/>
                  </a:lnTo>
                  <a:cubicBezTo>
                    <a:pt x="5979" y="3521"/>
                    <a:pt x="8744" y="3360"/>
                    <a:pt x="9612" y="3360"/>
                  </a:cubicBezTo>
                  <a:cubicBezTo>
                    <a:pt x="10480" y="3360"/>
                    <a:pt x="7136" y="5256"/>
                    <a:pt x="6108" y="5417"/>
                  </a:cubicBezTo>
                  <a:cubicBezTo>
                    <a:pt x="5111" y="5546"/>
                    <a:pt x="3922" y="5706"/>
                    <a:pt x="4083" y="6285"/>
                  </a:cubicBezTo>
                  <a:cubicBezTo>
                    <a:pt x="4211" y="6864"/>
                    <a:pt x="6847" y="6992"/>
                    <a:pt x="7426" y="6992"/>
                  </a:cubicBezTo>
                  <a:cubicBezTo>
                    <a:pt x="8004" y="6992"/>
                    <a:pt x="12087" y="5546"/>
                    <a:pt x="12087" y="5546"/>
                  </a:cubicBezTo>
                  <a:cubicBezTo>
                    <a:pt x="12087" y="5546"/>
                    <a:pt x="13115" y="5546"/>
                    <a:pt x="14401" y="5706"/>
                  </a:cubicBezTo>
                  <a:cubicBezTo>
                    <a:pt x="14479" y="5714"/>
                    <a:pt x="14560" y="5718"/>
                    <a:pt x="14644" y="5718"/>
                  </a:cubicBezTo>
                  <a:cubicBezTo>
                    <a:pt x="15987" y="5718"/>
                    <a:pt x="18066" y="4806"/>
                    <a:pt x="18066" y="4806"/>
                  </a:cubicBezTo>
                  <a:cubicBezTo>
                    <a:pt x="18066" y="4806"/>
                    <a:pt x="38208" y="9631"/>
                    <a:pt x="40116" y="9631"/>
                  </a:cubicBezTo>
                  <a:cubicBezTo>
                    <a:pt x="40141" y="9631"/>
                    <a:pt x="40162" y="9630"/>
                    <a:pt x="40181" y="9628"/>
                  </a:cubicBezTo>
                  <a:cubicBezTo>
                    <a:pt x="41660" y="9467"/>
                    <a:pt x="41756" y="1849"/>
                    <a:pt x="36838" y="885"/>
                  </a:cubicBezTo>
                  <a:lnTo>
                    <a:pt x="20251" y="2492"/>
                  </a:lnTo>
                  <a:cubicBezTo>
                    <a:pt x="20251" y="2492"/>
                    <a:pt x="8744" y="145"/>
                    <a:pt x="7426" y="17"/>
                  </a:cubicBezTo>
                  <a:cubicBezTo>
                    <a:pt x="7333" y="6"/>
                    <a:pt x="7240" y="0"/>
                    <a:pt x="71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9"/>
            <p:cNvSpPr/>
            <p:nvPr/>
          </p:nvSpPr>
          <p:spPr>
            <a:xfrm>
              <a:off x="2867750" y="5068625"/>
              <a:ext cx="1040700" cy="253975"/>
            </a:xfrm>
            <a:custGeom>
              <a:avLst/>
              <a:gdLst/>
              <a:ahLst/>
              <a:cxnLst/>
              <a:rect l="l" t="t" r="r" b="b"/>
              <a:pathLst>
                <a:path w="41628" h="10159" extrusionOk="0">
                  <a:moveTo>
                    <a:pt x="9772" y="3633"/>
                  </a:moveTo>
                  <a:lnTo>
                    <a:pt x="9788" y="3638"/>
                  </a:lnTo>
                  <a:lnTo>
                    <a:pt x="9788" y="3638"/>
                  </a:lnTo>
                  <a:cubicBezTo>
                    <a:pt x="9787" y="3638"/>
                    <a:pt x="9787" y="3639"/>
                    <a:pt x="9787" y="3639"/>
                  </a:cubicBezTo>
                  <a:lnTo>
                    <a:pt x="9787" y="3639"/>
                  </a:lnTo>
                  <a:lnTo>
                    <a:pt x="9772" y="3633"/>
                  </a:lnTo>
                  <a:close/>
                  <a:moveTo>
                    <a:pt x="7683" y="547"/>
                  </a:moveTo>
                  <a:cubicBezTo>
                    <a:pt x="8004" y="579"/>
                    <a:pt x="8968" y="772"/>
                    <a:pt x="10222" y="997"/>
                  </a:cubicBezTo>
                  <a:cubicBezTo>
                    <a:pt x="12119" y="1351"/>
                    <a:pt x="14690" y="1865"/>
                    <a:pt x="16780" y="2283"/>
                  </a:cubicBezTo>
                  <a:cubicBezTo>
                    <a:pt x="17808" y="2476"/>
                    <a:pt x="18740" y="2669"/>
                    <a:pt x="19415" y="2797"/>
                  </a:cubicBezTo>
                  <a:cubicBezTo>
                    <a:pt x="20058" y="2958"/>
                    <a:pt x="20476" y="3022"/>
                    <a:pt x="20476" y="3022"/>
                  </a:cubicBezTo>
                  <a:lnTo>
                    <a:pt x="20573" y="3022"/>
                  </a:lnTo>
                  <a:lnTo>
                    <a:pt x="37116" y="1419"/>
                  </a:lnTo>
                  <a:lnTo>
                    <a:pt x="37116" y="1419"/>
                  </a:lnTo>
                  <a:cubicBezTo>
                    <a:pt x="38583" y="1713"/>
                    <a:pt x="39541" y="2642"/>
                    <a:pt x="40181" y="3794"/>
                  </a:cubicBezTo>
                  <a:cubicBezTo>
                    <a:pt x="40824" y="4951"/>
                    <a:pt x="41081" y="6333"/>
                    <a:pt x="41081" y="7458"/>
                  </a:cubicBezTo>
                  <a:cubicBezTo>
                    <a:pt x="41081" y="8133"/>
                    <a:pt x="41016" y="8680"/>
                    <a:pt x="40856" y="9065"/>
                  </a:cubicBezTo>
                  <a:cubicBezTo>
                    <a:pt x="40791" y="9258"/>
                    <a:pt x="40727" y="9419"/>
                    <a:pt x="40631" y="9515"/>
                  </a:cubicBezTo>
                  <a:cubicBezTo>
                    <a:pt x="40566" y="9612"/>
                    <a:pt x="40502" y="9612"/>
                    <a:pt x="40470" y="9644"/>
                  </a:cubicBezTo>
                  <a:lnTo>
                    <a:pt x="40406" y="9644"/>
                  </a:lnTo>
                  <a:cubicBezTo>
                    <a:pt x="40213" y="9644"/>
                    <a:pt x="39666" y="9548"/>
                    <a:pt x="38927" y="9419"/>
                  </a:cubicBezTo>
                  <a:cubicBezTo>
                    <a:pt x="36356" y="8969"/>
                    <a:pt x="31245" y="7812"/>
                    <a:pt x="26744" y="6783"/>
                  </a:cubicBezTo>
                  <a:cubicBezTo>
                    <a:pt x="24494" y="6269"/>
                    <a:pt x="22405" y="5787"/>
                    <a:pt x="20894" y="5433"/>
                  </a:cubicBezTo>
                  <a:cubicBezTo>
                    <a:pt x="19383" y="5047"/>
                    <a:pt x="18419" y="4822"/>
                    <a:pt x="18419" y="4822"/>
                  </a:cubicBezTo>
                  <a:cubicBezTo>
                    <a:pt x="18355" y="4822"/>
                    <a:pt x="18290" y="4822"/>
                    <a:pt x="18226" y="4854"/>
                  </a:cubicBezTo>
                  <a:cubicBezTo>
                    <a:pt x="18226" y="4854"/>
                    <a:pt x="18194" y="4854"/>
                    <a:pt x="18162" y="4887"/>
                  </a:cubicBezTo>
                  <a:cubicBezTo>
                    <a:pt x="17969" y="4951"/>
                    <a:pt x="17422" y="5176"/>
                    <a:pt x="16812" y="5369"/>
                  </a:cubicBezTo>
                  <a:cubicBezTo>
                    <a:pt x="16201" y="5562"/>
                    <a:pt x="15526" y="5722"/>
                    <a:pt x="14979" y="5722"/>
                  </a:cubicBezTo>
                  <a:cubicBezTo>
                    <a:pt x="14883" y="5722"/>
                    <a:pt x="14819" y="5722"/>
                    <a:pt x="14722" y="5690"/>
                  </a:cubicBezTo>
                  <a:cubicBezTo>
                    <a:pt x="13404" y="5562"/>
                    <a:pt x="12376" y="5562"/>
                    <a:pt x="12376" y="5562"/>
                  </a:cubicBezTo>
                  <a:lnTo>
                    <a:pt x="12279" y="5562"/>
                  </a:lnTo>
                  <a:cubicBezTo>
                    <a:pt x="12279" y="5562"/>
                    <a:pt x="12022" y="5658"/>
                    <a:pt x="11636" y="5787"/>
                  </a:cubicBezTo>
                  <a:cubicBezTo>
                    <a:pt x="11058" y="6012"/>
                    <a:pt x="10158" y="6301"/>
                    <a:pt x="9354" y="6558"/>
                  </a:cubicBezTo>
                  <a:cubicBezTo>
                    <a:pt x="8968" y="6687"/>
                    <a:pt x="8583" y="6815"/>
                    <a:pt x="8293" y="6880"/>
                  </a:cubicBezTo>
                  <a:cubicBezTo>
                    <a:pt x="8133" y="6912"/>
                    <a:pt x="8004" y="6944"/>
                    <a:pt x="7908" y="6976"/>
                  </a:cubicBezTo>
                  <a:cubicBezTo>
                    <a:pt x="7811" y="7008"/>
                    <a:pt x="7715" y="7008"/>
                    <a:pt x="7715" y="7008"/>
                  </a:cubicBezTo>
                  <a:cubicBezTo>
                    <a:pt x="7425" y="7008"/>
                    <a:pt x="6654" y="6976"/>
                    <a:pt x="5915" y="6880"/>
                  </a:cubicBezTo>
                  <a:cubicBezTo>
                    <a:pt x="5561" y="6815"/>
                    <a:pt x="5208" y="6751"/>
                    <a:pt x="4950" y="6655"/>
                  </a:cubicBezTo>
                  <a:cubicBezTo>
                    <a:pt x="4822" y="6622"/>
                    <a:pt x="4725" y="6558"/>
                    <a:pt x="4693" y="6526"/>
                  </a:cubicBezTo>
                  <a:lnTo>
                    <a:pt x="4629" y="6494"/>
                  </a:lnTo>
                  <a:lnTo>
                    <a:pt x="4629" y="6462"/>
                  </a:lnTo>
                  <a:cubicBezTo>
                    <a:pt x="4629" y="6430"/>
                    <a:pt x="4629" y="6430"/>
                    <a:pt x="4693" y="6365"/>
                  </a:cubicBezTo>
                  <a:cubicBezTo>
                    <a:pt x="4822" y="6269"/>
                    <a:pt x="5079" y="6172"/>
                    <a:pt x="5400" y="6108"/>
                  </a:cubicBezTo>
                  <a:cubicBezTo>
                    <a:pt x="5722" y="6044"/>
                    <a:pt x="6075" y="5979"/>
                    <a:pt x="6429" y="5947"/>
                  </a:cubicBezTo>
                  <a:cubicBezTo>
                    <a:pt x="6718" y="5883"/>
                    <a:pt x="7072" y="5787"/>
                    <a:pt x="7458" y="5594"/>
                  </a:cubicBezTo>
                  <a:cubicBezTo>
                    <a:pt x="8036" y="5369"/>
                    <a:pt x="8743" y="5015"/>
                    <a:pt x="9258" y="4662"/>
                  </a:cubicBezTo>
                  <a:cubicBezTo>
                    <a:pt x="9547" y="4501"/>
                    <a:pt x="9772" y="4340"/>
                    <a:pt x="9965" y="4212"/>
                  </a:cubicBezTo>
                  <a:cubicBezTo>
                    <a:pt x="10029" y="4147"/>
                    <a:pt x="10126" y="4083"/>
                    <a:pt x="10190" y="4019"/>
                  </a:cubicBezTo>
                  <a:lnTo>
                    <a:pt x="10254" y="3890"/>
                  </a:lnTo>
                  <a:cubicBezTo>
                    <a:pt x="10286" y="3858"/>
                    <a:pt x="10318" y="3794"/>
                    <a:pt x="10318" y="3697"/>
                  </a:cubicBezTo>
                  <a:cubicBezTo>
                    <a:pt x="10318" y="3633"/>
                    <a:pt x="10286" y="3569"/>
                    <a:pt x="10254" y="3536"/>
                  </a:cubicBezTo>
                  <a:cubicBezTo>
                    <a:pt x="10190" y="3440"/>
                    <a:pt x="10126" y="3408"/>
                    <a:pt x="10061" y="3376"/>
                  </a:cubicBezTo>
                  <a:lnTo>
                    <a:pt x="9901" y="3376"/>
                  </a:lnTo>
                  <a:cubicBezTo>
                    <a:pt x="9001" y="3376"/>
                    <a:pt x="6236" y="3504"/>
                    <a:pt x="6236" y="3504"/>
                  </a:cubicBezTo>
                  <a:cubicBezTo>
                    <a:pt x="6204" y="3504"/>
                    <a:pt x="6140" y="3536"/>
                    <a:pt x="6108" y="3569"/>
                  </a:cubicBezTo>
                  <a:lnTo>
                    <a:pt x="1093" y="7555"/>
                  </a:lnTo>
                  <a:lnTo>
                    <a:pt x="745" y="7444"/>
                  </a:lnTo>
                  <a:lnTo>
                    <a:pt x="745" y="7444"/>
                  </a:lnTo>
                  <a:cubicBezTo>
                    <a:pt x="1073" y="7011"/>
                    <a:pt x="1711" y="6173"/>
                    <a:pt x="2379" y="5304"/>
                  </a:cubicBezTo>
                  <a:cubicBezTo>
                    <a:pt x="2893" y="4662"/>
                    <a:pt x="3407" y="3987"/>
                    <a:pt x="3825" y="3440"/>
                  </a:cubicBezTo>
                  <a:cubicBezTo>
                    <a:pt x="4243" y="2861"/>
                    <a:pt x="4565" y="2411"/>
                    <a:pt x="4725" y="2186"/>
                  </a:cubicBezTo>
                  <a:cubicBezTo>
                    <a:pt x="4983" y="1801"/>
                    <a:pt x="5400" y="1383"/>
                    <a:pt x="5883" y="1061"/>
                  </a:cubicBezTo>
                  <a:cubicBezTo>
                    <a:pt x="6365" y="740"/>
                    <a:pt x="6911" y="547"/>
                    <a:pt x="7458" y="547"/>
                  </a:cubicBezTo>
                  <a:close/>
                  <a:moveTo>
                    <a:pt x="7458" y="1"/>
                  </a:moveTo>
                  <a:cubicBezTo>
                    <a:pt x="6783" y="1"/>
                    <a:pt x="6140" y="258"/>
                    <a:pt x="5593" y="611"/>
                  </a:cubicBezTo>
                  <a:cubicBezTo>
                    <a:pt x="5047" y="997"/>
                    <a:pt x="4597" y="1447"/>
                    <a:pt x="4275" y="1897"/>
                  </a:cubicBezTo>
                  <a:cubicBezTo>
                    <a:pt x="4147" y="2090"/>
                    <a:pt x="3825" y="2540"/>
                    <a:pt x="3407" y="3119"/>
                  </a:cubicBezTo>
                  <a:cubicBezTo>
                    <a:pt x="2765" y="3954"/>
                    <a:pt x="1929" y="5015"/>
                    <a:pt x="1254" y="5883"/>
                  </a:cubicBezTo>
                  <a:cubicBezTo>
                    <a:pt x="579" y="6751"/>
                    <a:pt x="64" y="7394"/>
                    <a:pt x="64" y="7394"/>
                  </a:cubicBezTo>
                  <a:cubicBezTo>
                    <a:pt x="32" y="7458"/>
                    <a:pt x="0" y="7555"/>
                    <a:pt x="32" y="7651"/>
                  </a:cubicBezTo>
                  <a:cubicBezTo>
                    <a:pt x="64" y="7715"/>
                    <a:pt x="129" y="7780"/>
                    <a:pt x="193" y="7812"/>
                  </a:cubicBezTo>
                  <a:lnTo>
                    <a:pt x="1061" y="8101"/>
                  </a:lnTo>
                  <a:cubicBezTo>
                    <a:pt x="1101" y="8114"/>
                    <a:pt x="1141" y="8122"/>
                    <a:pt x="1178" y="8122"/>
                  </a:cubicBezTo>
                  <a:cubicBezTo>
                    <a:pt x="1232" y="8122"/>
                    <a:pt x="1280" y="8107"/>
                    <a:pt x="1318" y="8069"/>
                  </a:cubicBezTo>
                  <a:lnTo>
                    <a:pt x="6353" y="4047"/>
                  </a:lnTo>
                  <a:lnTo>
                    <a:pt x="6353" y="4047"/>
                  </a:lnTo>
                  <a:cubicBezTo>
                    <a:pt x="6564" y="4038"/>
                    <a:pt x="7141" y="4012"/>
                    <a:pt x="7779" y="3987"/>
                  </a:cubicBezTo>
                  <a:cubicBezTo>
                    <a:pt x="8340" y="3963"/>
                    <a:pt x="8986" y="3923"/>
                    <a:pt x="9457" y="3903"/>
                  </a:cubicBezTo>
                  <a:lnTo>
                    <a:pt x="9457" y="3903"/>
                  </a:lnTo>
                  <a:cubicBezTo>
                    <a:pt x="9107" y="4155"/>
                    <a:pt x="8566" y="4490"/>
                    <a:pt x="8004" y="4758"/>
                  </a:cubicBezTo>
                  <a:cubicBezTo>
                    <a:pt x="7683" y="4919"/>
                    <a:pt x="7329" y="5079"/>
                    <a:pt x="7040" y="5208"/>
                  </a:cubicBezTo>
                  <a:cubicBezTo>
                    <a:pt x="6750" y="5304"/>
                    <a:pt x="6525" y="5401"/>
                    <a:pt x="6365" y="5401"/>
                  </a:cubicBezTo>
                  <a:cubicBezTo>
                    <a:pt x="5883" y="5465"/>
                    <a:pt x="5368" y="5562"/>
                    <a:pt x="4950" y="5658"/>
                  </a:cubicBezTo>
                  <a:cubicBezTo>
                    <a:pt x="4725" y="5722"/>
                    <a:pt x="4532" y="5819"/>
                    <a:pt x="4372" y="5915"/>
                  </a:cubicBezTo>
                  <a:cubicBezTo>
                    <a:pt x="4211" y="6044"/>
                    <a:pt x="4082" y="6237"/>
                    <a:pt x="4082" y="6462"/>
                  </a:cubicBezTo>
                  <a:cubicBezTo>
                    <a:pt x="4082" y="6494"/>
                    <a:pt x="4082" y="6558"/>
                    <a:pt x="4115" y="6622"/>
                  </a:cubicBezTo>
                  <a:cubicBezTo>
                    <a:pt x="4147" y="6783"/>
                    <a:pt x="4275" y="6880"/>
                    <a:pt x="4372" y="6976"/>
                  </a:cubicBezTo>
                  <a:cubicBezTo>
                    <a:pt x="4565" y="7105"/>
                    <a:pt x="4854" y="7201"/>
                    <a:pt x="5143" y="7265"/>
                  </a:cubicBezTo>
                  <a:cubicBezTo>
                    <a:pt x="6043" y="7490"/>
                    <a:pt x="7297" y="7555"/>
                    <a:pt x="7715" y="7555"/>
                  </a:cubicBezTo>
                  <a:cubicBezTo>
                    <a:pt x="7843" y="7555"/>
                    <a:pt x="7972" y="7522"/>
                    <a:pt x="8133" y="7490"/>
                  </a:cubicBezTo>
                  <a:cubicBezTo>
                    <a:pt x="8743" y="7330"/>
                    <a:pt x="9836" y="6976"/>
                    <a:pt x="10769" y="6655"/>
                  </a:cubicBezTo>
                  <a:cubicBezTo>
                    <a:pt x="11669" y="6365"/>
                    <a:pt x="12472" y="6076"/>
                    <a:pt x="12472" y="6076"/>
                  </a:cubicBezTo>
                  <a:lnTo>
                    <a:pt x="12536" y="6076"/>
                  </a:lnTo>
                  <a:cubicBezTo>
                    <a:pt x="12890" y="6108"/>
                    <a:pt x="13694" y="6140"/>
                    <a:pt x="14690" y="6237"/>
                  </a:cubicBezTo>
                  <a:lnTo>
                    <a:pt x="14979" y="6237"/>
                  </a:lnTo>
                  <a:cubicBezTo>
                    <a:pt x="15719" y="6237"/>
                    <a:pt x="16555" y="6012"/>
                    <a:pt x="17262" y="5787"/>
                  </a:cubicBezTo>
                  <a:cubicBezTo>
                    <a:pt x="17803" y="5606"/>
                    <a:pt x="18240" y="5426"/>
                    <a:pt x="18393" y="5362"/>
                  </a:cubicBezTo>
                  <a:lnTo>
                    <a:pt x="18393" y="5362"/>
                  </a:lnTo>
                  <a:cubicBezTo>
                    <a:pt x="19131" y="5541"/>
                    <a:pt x="23746" y="6658"/>
                    <a:pt x="28577" y="7747"/>
                  </a:cubicBezTo>
                  <a:cubicBezTo>
                    <a:pt x="31212" y="8358"/>
                    <a:pt x="33913" y="8969"/>
                    <a:pt x="36066" y="9419"/>
                  </a:cubicBezTo>
                  <a:cubicBezTo>
                    <a:pt x="37159" y="9644"/>
                    <a:pt x="38091" y="9837"/>
                    <a:pt x="38831" y="9965"/>
                  </a:cubicBezTo>
                  <a:cubicBezTo>
                    <a:pt x="39602" y="10094"/>
                    <a:pt x="40116" y="10158"/>
                    <a:pt x="40406" y="10158"/>
                  </a:cubicBezTo>
                  <a:lnTo>
                    <a:pt x="40502" y="10158"/>
                  </a:lnTo>
                  <a:cubicBezTo>
                    <a:pt x="40727" y="10158"/>
                    <a:pt x="40920" y="10030"/>
                    <a:pt x="41049" y="9869"/>
                  </a:cubicBezTo>
                  <a:cubicBezTo>
                    <a:pt x="41241" y="9612"/>
                    <a:pt x="41370" y="9290"/>
                    <a:pt x="41466" y="8872"/>
                  </a:cubicBezTo>
                  <a:cubicBezTo>
                    <a:pt x="41563" y="8487"/>
                    <a:pt x="41627" y="8005"/>
                    <a:pt x="41627" y="7458"/>
                  </a:cubicBezTo>
                  <a:cubicBezTo>
                    <a:pt x="41627" y="6237"/>
                    <a:pt x="41338" y="4790"/>
                    <a:pt x="40663" y="3536"/>
                  </a:cubicBezTo>
                  <a:cubicBezTo>
                    <a:pt x="39956" y="2283"/>
                    <a:pt x="38831" y="1222"/>
                    <a:pt x="37191" y="901"/>
                  </a:cubicBezTo>
                  <a:lnTo>
                    <a:pt x="37095" y="901"/>
                  </a:lnTo>
                  <a:lnTo>
                    <a:pt x="20552" y="2504"/>
                  </a:lnTo>
                  <a:lnTo>
                    <a:pt x="20552" y="2504"/>
                  </a:lnTo>
                  <a:cubicBezTo>
                    <a:pt x="20288" y="2450"/>
                    <a:pt x="17560" y="1899"/>
                    <a:pt x="14658" y="1319"/>
                  </a:cubicBezTo>
                  <a:cubicBezTo>
                    <a:pt x="13147" y="1029"/>
                    <a:pt x="11572" y="708"/>
                    <a:pt x="10318" y="483"/>
                  </a:cubicBezTo>
                  <a:cubicBezTo>
                    <a:pt x="9065" y="226"/>
                    <a:pt x="8101" y="65"/>
                    <a:pt x="7747" y="33"/>
                  </a:cubicBezTo>
                  <a:cubicBezTo>
                    <a:pt x="7650" y="1"/>
                    <a:pt x="7554" y="1"/>
                    <a:pt x="7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9"/>
            <p:cNvSpPr/>
            <p:nvPr/>
          </p:nvSpPr>
          <p:spPr>
            <a:xfrm>
              <a:off x="4233075" y="4101575"/>
              <a:ext cx="677475" cy="1267625"/>
            </a:xfrm>
            <a:custGeom>
              <a:avLst/>
              <a:gdLst/>
              <a:ahLst/>
              <a:cxnLst/>
              <a:rect l="l" t="t" r="r" b="b"/>
              <a:pathLst>
                <a:path w="27099" h="50705" extrusionOk="0">
                  <a:moveTo>
                    <a:pt x="17643" y="0"/>
                  </a:moveTo>
                  <a:cubicBezTo>
                    <a:pt x="10633" y="0"/>
                    <a:pt x="2797" y="6795"/>
                    <a:pt x="2797" y="6795"/>
                  </a:cubicBezTo>
                  <a:lnTo>
                    <a:pt x="1" y="50705"/>
                  </a:lnTo>
                  <a:lnTo>
                    <a:pt x="21087" y="50705"/>
                  </a:lnTo>
                  <a:lnTo>
                    <a:pt x="27098" y="4320"/>
                  </a:lnTo>
                  <a:cubicBezTo>
                    <a:pt x="27098" y="4320"/>
                    <a:pt x="25298" y="366"/>
                    <a:pt x="18162" y="13"/>
                  </a:cubicBezTo>
                  <a:cubicBezTo>
                    <a:pt x="17990" y="4"/>
                    <a:pt x="17817" y="0"/>
                    <a:pt x="176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9"/>
            <p:cNvSpPr/>
            <p:nvPr/>
          </p:nvSpPr>
          <p:spPr>
            <a:xfrm>
              <a:off x="4226650" y="4094650"/>
              <a:ext cx="690325" cy="1280975"/>
            </a:xfrm>
            <a:custGeom>
              <a:avLst/>
              <a:gdLst/>
              <a:ahLst/>
              <a:cxnLst/>
              <a:rect l="l" t="t" r="r" b="b"/>
              <a:pathLst>
                <a:path w="27613" h="51239" extrusionOk="0">
                  <a:moveTo>
                    <a:pt x="17905" y="547"/>
                  </a:moveTo>
                  <a:cubicBezTo>
                    <a:pt x="18066" y="547"/>
                    <a:pt x="18226" y="547"/>
                    <a:pt x="18419" y="579"/>
                  </a:cubicBezTo>
                  <a:cubicBezTo>
                    <a:pt x="21923" y="740"/>
                    <a:pt x="24109" y="1801"/>
                    <a:pt x="25395" y="2797"/>
                  </a:cubicBezTo>
                  <a:cubicBezTo>
                    <a:pt x="26037" y="3279"/>
                    <a:pt x="26487" y="3761"/>
                    <a:pt x="26745" y="4115"/>
                  </a:cubicBezTo>
                  <a:cubicBezTo>
                    <a:pt x="26873" y="4308"/>
                    <a:pt x="26970" y="4436"/>
                    <a:pt x="27034" y="4533"/>
                  </a:cubicBezTo>
                  <a:cubicBezTo>
                    <a:pt x="27060" y="4586"/>
                    <a:pt x="27065" y="4617"/>
                    <a:pt x="27084" y="4644"/>
                  </a:cubicBezTo>
                  <a:lnTo>
                    <a:pt x="27084" y="4644"/>
                  </a:lnTo>
                  <a:lnTo>
                    <a:pt x="21119" y="50692"/>
                  </a:lnTo>
                  <a:lnTo>
                    <a:pt x="547" y="50692"/>
                  </a:lnTo>
                  <a:lnTo>
                    <a:pt x="3339" y="7179"/>
                  </a:lnTo>
                  <a:lnTo>
                    <a:pt x="3339" y="7179"/>
                  </a:lnTo>
                  <a:cubicBezTo>
                    <a:pt x="3838" y="6784"/>
                    <a:pt x="5838" y="5146"/>
                    <a:pt x="8519" y="3601"/>
                  </a:cubicBezTo>
                  <a:cubicBezTo>
                    <a:pt x="11251" y="2026"/>
                    <a:pt x="14690" y="547"/>
                    <a:pt x="17905" y="547"/>
                  </a:cubicBezTo>
                  <a:close/>
                  <a:moveTo>
                    <a:pt x="17905" y="0"/>
                  </a:moveTo>
                  <a:cubicBezTo>
                    <a:pt x="14305" y="33"/>
                    <a:pt x="10576" y="1736"/>
                    <a:pt x="7715" y="3440"/>
                  </a:cubicBezTo>
                  <a:cubicBezTo>
                    <a:pt x="4854" y="5176"/>
                    <a:pt x="2893" y="6879"/>
                    <a:pt x="2893" y="6879"/>
                  </a:cubicBezTo>
                  <a:cubicBezTo>
                    <a:pt x="2829" y="6912"/>
                    <a:pt x="2797" y="7008"/>
                    <a:pt x="2797" y="7072"/>
                  </a:cubicBezTo>
                  <a:lnTo>
                    <a:pt x="0" y="50950"/>
                  </a:lnTo>
                  <a:cubicBezTo>
                    <a:pt x="0" y="51046"/>
                    <a:pt x="33" y="51110"/>
                    <a:pt x="65" y="51142"/>
                  </a:cubicBezTo>
                  <a:cubicBezTo>
                    <a:pt x="129" y="51207"/>
                    <a:pt x="193" y="51239"/>
                    <a:pt x="258" y="51239"/>
                  </a:cubicBezTo>
                  <a:lnTo>
                    <a:pt x="21344" y="51239"/>
                  </a:lnTo>
                  <a:cubicBezTo>
                    <a:pt x="21473" y="51239"/>
                    <a:pt x="21601" y="51142"/>
                    <a:pt x="21601" y="51014"/>
                  </a:cubicBezTo>
                  <a:lnTo>
                    <a:pt x="27613" y="4629"/>
                  </a:lnTo>
                  <a:cubicBezTo>
                    <a:pt x="27613" y="4565"/>
                    <a:pt x="27613" y="4501"/>
                    <a:pt x="27580" y="4469"/>
                  </a:cubicBezTo>
                  <a:cubicBezTo>
                    <a:pt x="27580" y="4436"/>
                    <a:pt x="27098" y="3408"/>
                    <a:pt x="25716" y="2347"/>
                  </a:cubicBezTo>
                  <a:cubicBezTo>
                    <a:pt x="24334" y="1286"/>
                    <a:pt x="22052" y="193"/>
                    <a:pt x="18419" y="33"/>
                  </a:cubicBezTo>
                  <a:cubicBezTo>
                    <a:pt x="18258" y="33"/>
                    <a:pt x="18066" y="0"/>
                    <a:pt x="1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9"/>
            <p:cNvSpPr/>
            <p:nvPr/>
          </p:nvSpPr>
          <p:spPr>
            <a:xfrm>
              <a:off x="4030575" y="4125175"/>
              <a:ext cx="497450" cy="1244825"/>
            </a:xfrm>
            <a:custGeom>
              <a:avLst/>
              <a:gdLst/>
              <a:ahLst/>
              <a:cxnLst/>
              <a:rect l="l" t="t" r="r" b="b"/>
              <a:pathLst>
                <a:path w="19898" h="49793" extrusionOk="0">
                  <a:moveTo>
                    <a:pt x="18869" y="1"/>
                  </a:moveTo>
                  <a:cubicBezTo>
                    <a:pt x="18869" y="1"/>
                    <a:pt x="3568" y="6430"/>
                    <a:pt x="3568" y="7426"/>
                  </a:cubicBezTo>
                  <a:cubicBezTo>
                    <a:pt x="3568" y="8455"/>
                    <a:pt x="3729" y="8037"/>
                    <a:pt x="3729" y="10062"/>
                  </a:cubicBezTo>
                  <a:cubicBezTo>
                    <a:pt x="3729" y="11959"/>
                    <a:pt x="482" y="44907"/>
                    <a:pt x="0" y="49793"/>
                  </a:cubicBezTo>
                  <a:lnTo>
                    <a:pt x="11251" y="49793"/>
                  </a:lnTo>
                  <a:cubicBezTo>
                    <a:pt x="11958" y="45260"/>
                    <a:pt x="16490" y="16748"/>
                    <a:pt x="17422" y="13116"/>
                  </a:cubicBezTo>
                  <a:cubicBezTo>
                    <a:pt x="18451" y="9194"/>
                    <a:pt x="19898" y="5851"/>
                    <a:pt x="19898" y="5851"/>
                  </a:cubicBezTo>
                  <a:lnTo>
                    <a:pt x="188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39"/>
            <p:cNvSpPr/>
            <p:nvPr/>
          </p:nvSpPr>
          <p:spPr>
            <a:xfrm>
              <a:off x="4023325" y="4118950"/>
              <a:ext cx="511125" cy="1257475"/>
            </a:xfrm>
            <a:custGeom>
              <a:avLst/>
              <a:gdLst/>
              <a:ahLst/>
              <a:cxnLst/>
              <a:rect l="l" t="t" r="r" b="b"/>
              <a:pathLst>
                <a:path w="20445" h="50299" extrusionOk="0">
                  <a:moveTo>
                    <a:pt x="4133" y="7733"/>
                  </a:moveTo>
                  <a:lnTo>
                    <a:pt x="4148" y="7740"/>
                  </a:lnTo>
                  <a:lnTo>
                    <a:pt x="4115" y="7740"/>
                  </a:lnTo>
                  <a:cubicBezTo>
                    <a:pt x="4121" y="7740"/>
                    <a:pt x="4126" y="7737"/>
                    <a:pt x="4133" y="7733"/>
                  </a:cubicBezTo>
                  <a:close/>
                  <a:moveTo>
                    <a:pt x="18958" y="635"/>
                  </a:moveTo>
                  <a:lnTo>
                    <a:pt x="19911" y="6023"/>
                  </a:lnTo>
                  <a:lnTo>
                    <a:pt x="19911" y="6023"/>
                  </a:lnTo>
                  <a:cubicBezTo>
                    <a:pt x="19736" y="6460"/>
                    <a:pt x="18414" y="9615"/>
                    <a:pt x="17455" y="13301"/>
                  </a:cubicBezTo>
                  <a:cubicBezTo>
                    <a:pt x="17198" y="14233"/>
                    <a:pt x="16748" y="16676"/>
                    <a:pt x="16170" y="19955"/>
                  </a:cubicBezTo>
                  <a:cubicBezTo>
                    <a:pt x="14532" y="29496"/>
                    <a:pt x="11908" y="45916"/>
                    <a:pt x="11318" y="49785"/>
                  </a:cubicBezTo>
                  <a:lnTo>
                    <a:pt x="578" y="49785"/>
                  </a:lnTo>
                  <a:cubicBezTo>
                    <a:pt x="871" y="46952"/>
                    <a:pt x="1768" y="37824"/>
                    <a:pt x="2605" y="29084"/>
                  </a:cubicBezTo>
                  <a:cubicBezTo>
                    <a:pt x="3022" y="24519"/>
                    <a:pt x="3472" y="20083"/>
                    <a:pt x="3762" y="16644"/>
                  </a:cubicBezTo>
                  <a:cubicBezTo>
                    <a:pt x="3922" y="14940"/>
                    <a:pt x="4051" y="13461"/>
                    <a:pt x="4148" y="12368"/>
                  </a:cubicBezTo>
                  <a:cubicBezTo>
                    <a:pt x="4244" y="11276"/>
                    <a:pt x="4276" y="10568"/>
                    <a:pt x="4276" y="10311"/>
                  </a:cubicBezTo>
                  <a:cubicBezTo>
                    <a:pt x="4276" y="9283"/>
                    <a:pt x="4244" y="8865"/>
                    <a:pt x="4212" y="8575"/>
                  </a:cubicBezTo>
                  <a:cubicBezTo>
                    <a:pt x="4181" y="8295"/>
                    <a:pt x="4149" y="8196"/>
                    <a:pt x="4148" y="7722"/>
                  </a:cubicBezTo>
                  <a:lnTo>
                    <a:pt x="4148" y="7722"/>
                  </a:lnTo>
                  <a:cubicBezTo>
                    <a:pt x="4185" y="7689"/>
                    <a:pt x="4245" y="7618"/>
                    <a:pt x="4340" y="7547"/>
                  </a:cubicBezTo>
                  <a:cubicBezTo>
                    <a:pt x="4855" y="7129"/>
                    <a:pt x="6044" y="6486"/>
                    <a:pt x="7555" y="5747"/>
                  </a:cubicBezTo>
                  <a:cubicBezTo>
                    <a:pt x="9805" y="4654"/>
                    <a:pt x="12730" y="3336"/>
                    <a:pt x="15109" y="2307"/>
                  </a:cubicBezTo>
                  <a:cubicBezTo>
                    <a:pt x="16298" y="1793"/>
                    <a:pt x="17327" y="1343"/>
                    <a:pt x="18066" y="1021"/>
                  </a:cubicBezTo>
                  <a:cubicBezTo>
                    <a:pt x="18448" y="855"/>
                    <a:pt x="18753" y="723"/>
                    <a:pt x="18958" y="635"/>
                  </a:cubicBezTo>
                  <a:close/>
                  <a:moveTo>
                    <a:pt x="19175" y="1"/>
                  </a:moveTo>
                  <a:cubicBezTo>
                    <a:pt x="19135" y="1"/>
                    <a:pt x="19095" y="9"/>
                    <a:pt x="19063" y="25"/>
                  </a:cubicBezTo>
                  <a:cubicBezTo>
                    <a:pt x="19063" y="25"/>
                    <a:pt x="15237" y="1632"/>
                    <a:pt x="11412" y="3336"/>
                  </a:cubicBezTo>
                  <a:cubicBezTo>
                    <a:pt x="9483" y="4204"/>
                    <a:pt x="7587" y="5104"/>
                    <a:pt x="6140" y="5875"/>
                  </a:cubicBezTo>
                  <a:cubicBezTo>
                    <a:pt x="5401" y="6229"/>
                    <a:pt x="4823" y="6582"/>
                    <a:pt x="4373" y="6840"/>
                  </a:cubicBezTo>
                  <a:cubicBezTo>
                    <a:pt x="4180" y="7000"/>
                    <a:pt x="3987" y="7129"/>
                    <a:pt x="3858" y="7225"/>
                  </a:cubicBezTo>
                  <a:cubicBezTo>
                    <a:pt x="3794" y="7290"/>
                    <a:pt x="3730" y="7354"/>
                    <a:pt x="3697" y="7418"/>
                  </a:cubicBezTo>
                  <a:cubicBezTo>
                    <a:pt x="3665" y="7482"/>
                    <a:pt x="3601" y="7579"/>
                    <a:pt x="3601" y="7675"/>
                  </a:cubicBezTo>
                  <a:cubicBezTo>
                    <a:pt x="3601" y="8222"/>
                    <a:pt x="3633" y="8383"/>
                    <a:pt x="3665" y="8640"/>
                  </a:cubicBezTo>
                  <a:cubicBezTo>
                    <a:pt x="3697" y="8929"/>
                    <a:pt x="3762" y="9283"/>
                    <a:pt x="3762" y="10311"/>
                  </a:cubicBezTo>
                  <a:cubicBezTo>
                    <a:pt x="3762" y="10536"/>
                    <a:pt x="3697" y="11243"/>
                    <a:pt x="3601" y="12336"/>
                  </a:cubicBezTo>
                  <a:cubicBezTo>
                    <a:pt x="2990" y="19955"/>
                    <a:pt x="451" y="45734"/>
                    <a:pt x="33" y="50010"/>
                  </a:cubicBezTo>
                  <a:cubicBezTo>
                    <a:pt x="1" y="50074"/>
                    <a:pt x="33" y="50170"/>
                    <a:pt x="97" y="50235"/>
                  </a:cubicBezTo>
                  <a:cubicBezTo>
                    <a:pt x="129" y="50267"/>
                    <a:pt x="226" y="50299"/>
                    <a:pt x="290" y="50299"/>
                  </a:cubicBezTo>
                  <a:lnTo>
                    <a:pt x="11541" y="50299"/>
                  </a:lnTo>
                  <a:cubicBezTo>
                    <a:pt x="11669" y="50299"/>
                    <a:pt x="11798" y="50203"/>
                    <a:pt x="11798" y="50074"/>
                  </a:cubicBezTo>
                  <a:cubicBezTo>
                    <a:pt x="12151" y="47824"/>
                    <a:pt x="13469" y="39563"/>
                    <a:pt x="14819" y="31398"/>
                  </a:cubicBezTo>
                  <a:cubicBezTo>
                    <a:pt x="15462" y="27316"/>
                    <a:pt x="16137" y="23298"/>
                    <a:pt x="16716" y="20019"/>
                  </a:cubicBezTo>
                  <a:cubicBezTo>
                    <a:pt x="17262" y="16772"/>
                    <a:pt x="17745" y="14329"/>
                    <a:pt x="17970" y="13429"/>
                  </a:cubicBezTo>
                  <a:cubicBezTo>
                    <a:pt x="18484" y="11468"/>
                    <a:pt x="19095" y="9668"/>
                    <a:pt x="19577" y="8350"/>
                  </a:cubicBezTo>
                  <a:cubicBezTo>
                    <a:pt x="19834" y="7675"/>
                    <a:pt x="20027" y="7161"/>
                    <a:pt x="20188" y="6775"/>
                  </a:cubicBezTo>
                  <a:cubicBezTo>
                    <a:pt x="20348" y="6390"/>
                    <a:pt x="20413" y="6197"/>
                    <a:pt x="20413" y="6197"/>
                  </a:cubicBezTo>
                  <a:cubicBezTo>
                    <a:pt x="20445" y="6132"/>
                    <a:pt x="20445" y="6100"/>
                    <a:pt x="20445" y="6036"/>
                  </a:cubicBezTo>
                  <a:lnTo>
                    <a:pt x="19416" y="218"/>
                  </a:lnTo>
                  <a:cubicBezTo>
                    <a:pt x="19416" y="121"/>
                    <a:pt x="19352" y="57"/>
                    <a:pt x="19288" y="25"/>
                  </a:cubicBezTo>
                  <a:cubicBezTo>
                    <a:pt x="19255" y="9"/>
                    <a:pt x="19215" y="1"/>
                    <a:pt x="19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9"/>
            <p:cNvSpPr/>
            <p:nvPr/>
          </p:nvSpPr>
          <p:spPr>
            <a:xfrm>
              <a:off x="4349600" y="4100275"/>
              <a:ext cx="131025" cy="192900"/>
            </a:xfrm>
            <a:custGeom>
              <a:avLst/>
              <a:gdLst/>
              <a:ahLst/>
              <a:cxnLst/>
              <a:rect l="l" t="t" r="r" b="b"/>
              <a:pathLst>
                <a:path w="5241" h="7716" extrusionOk="0">
                  <a:moveTo>
                    <a:pt x="2765" y="0"/>
                  </a:moveTo>
                  <a:lnTo>
                    <a:pt x="1" y="7715"/>
                  </a:lnTo>
                  <a:lnTo>
                    <a:pt x="5240" y="5240"/>
                  </a:lnTo>
                  <a:lnTo>
                    <a:pt x="27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9"/>
            <p:cNvSpPr/>
            <p:nvPr/>
          </p:nvSpPr>
          <p:spPr>
            <a:xfrm>
              <a:off x="4342375" y="4093050"/>
              <a:ext cx="145475" cy="206625"/>
            </a:xfrm>
            <a:custGeom>
              <a:avLst/>
              <a:gdLst/>
              <a:ahLst/>
              <a:cxnLst/>
              <a:rect l="l" t="t" r="r" b="b"/>
              <a:pathLst>
                <a:path w="5819" h="8265" extrusionOk="0">
                  <a:moveTo>
                    <a:pt x="3088" y="1001"/>
                  </a:moveTo>
                  <a:lnTo>
                    <a:pt x="5175" y="5400"/>
                  </a:lnTo>
                  <a:lnTo>
                    <a:pt x="740" y="7490"/>
                  </a:lnTo>
                  <a:lnTo>
                    <a:pt x="740" y="7490"/>
                  </a:lnTo>
                  <a:lnTo>
                    <a:pt x="3088" y="1001"/>
                  </a:lnTo>
                  <a:close/>
                  <a:moveTo>
                    <a:pt x="3054" y="0"/>
                  </a:moveTo>
                  <a:cubicBezTo>
                    <a:pt x="2925" y="32"/>
                    <a:pt x="2829" y="97"/>
                    <a:pt x="2797" y="193"/>
                  </a:cubicBezTo>
                  <a:lnTo>
                    <a:pt x="32" y="7908"/>
                  </a:lnTo>
                  <a:cubicBezTo>
                    <a:pt x="0" y="8004"/>
                    <a:pt x="32" y="8133"/>
                    <a:pt x="97" y="8197"/>
                  </a:cubicBezTo>
                  <a:cubicBezTo>
                    <a:pt x="156" y="8237"/>
                    <a:pt x="216" y="8264"/>
                    <a:pt x="275" y="8264"/>
                  </a:cubicBezTo>
                  <a:cubicBezTo>
                    <a:pt x="312" y="8264"/>
                    <a:pt x="349" y="8254"/>
                    <a:pt x="386" y="8229"/>
                  </a:cubicBezTo>
                  <a:lnTo>
                    <a:pt x="5625" y="5754"/>
                  </a:lnTo>
                  <a:cubicBezTo>
                    <a:pt x="5690" y="5722"/>
                    <a:pt x="5754" y="5690"/>
                    <a:pt x="5786" y="5625"/>
                  </a:cubicBezTo>
                  <a:cubicBezTo>
                    <a:pt x="5818" y="5529"/>
                    <a:pt x="5786" y="5465"/>
                    <a:pt x="5754" y="5400"/>
                  </a:cubicBezTo>
                  <a:lnTo>
                    <a:pt x="3279" y="161"/>
                  </a:lnTo>
                  <a:cubicBezTo>
                    <a:pt x="3247" y="64"/>
                    <a:pt x="3150" y="0"/>
                    <a:pt x="3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9"/>
            <p:cNvSpPr/>
            <p:nvPr/>
          </p:nvSpPr>
          <p:spPr>
            <a:xfrm>
              <a:off x="4418700" y="3834275"/>
              <a:ext cx="451675" cy="495050"/>
            </a:xfrm>
            <a:custGeom>
              <a:avLst/>
              <a:gdLst/>
              <a:ahLst/>
              <a:cxnLst/>
              <a:rect l="l" t="t" r="r" b="b"/>
              <a:pathLst>
                <a:path w="18067" h="19802" extrusionOk="0">
                  <a:moveTo>
                    <a:pt x="10641" y="1"/>
                  </a:moveTo>
                  <a:lnTo>
                    <a:pt x="1" y="10640"/>
                  </a:lnTo>
                  <a:lnTo>
                    <a:pt x="3505" y="19802"/>
                  </a:lnTo>
                  <a:lnTo>
                    <a:pt x="10062" y="7426"/>
                  </a:lnTo>
                  <a:lnTo>
                    <a:pt x="17198" y="7426"/>
                  </a:lnTo>
                  <a:lnTo>
                    <a:pt x="18066" y="579"/>
                  </a:lnTo>
                  <a:lnTo>
                    <a:pt x="106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9"/>
            <p:cNvSpPr/>
            <p:nvPr/>
          </p:nvSpPr>
          <p:spPr>
            <a:xfrm>
              <a:off x="4411475" y="3827525"/>
              <a:ext cx="465325" cy="508450"/>
            </a:xfrm>
            <a:custGeom>
              <a:avLst/>
              <a:gdLst/>
              <a:ahLst/>
              <a:cxnLst/>
              <a:rect l="l" t="t" r="r" b="b"/>
              <a:pathLst>
                <a:path w="18613" h="20338" extrusionOk="0">
                  <a:moveTo>
                    <a:pt x="11026" y="560"/>
                  </a:moveTo>
                  <a:lnTo>
                    <a:pt x="18032" y="1085"/>
                  </a:lnTo>
                  <a:lnTo>
                    <a:pt x="18032" y="1085"/>
                  </a:lnTo>
                  <a:lnTo>
                    <a:pt x="17230" y="7439"/>
                  </a:lnTo>
                  <a:lnTo>
                    <a:pt x="10351" y="7439"/>
                  </a:lnTo>
                  <a:cubicBezTo>
                    <a:pt x="10223" y="7439"/>
                    <a:pt x="10158" y="7471"/>
                    <a:pt x="10094" y="7567"/>
                  </a:cubicBezTo>
                  <a:lnTo>
                    <a:pt x="3826" y="19429"/>
                  </a:lnTo>
                  <a:lnTo>
                    <a:pt x="611" y="10975"/>
                  </a:lnTo>
                  <a:lnTo>
                    <a:pt x="11026" y="560"/>
                  </a:lnTo>
                  <a:close/>
                  <a:moveTo>
                    <a:pt x="10873" y="1"/>
                  </a:moveTo>
                  <a:cubicBezTo>
                    <a:pt x="10818" y="1"/>
                    <a:pt x="10760" y="31"/>
                    <a:pt x="10737" y="78"/>
                  </a:cubicBezTo>
                  <a:lnTo>
                    <a:pt x="97" y="10718"/>
                  </a:lnTo>
                  <a:cubicBezTo>
                    <a:pt x="33" y="10782"/>
                    <a:pt x="1" y="10910"/>
                    <a:pt x="33" y="11007"/>
                  </a:cubicBezTo>
                  <a:lnTo>
                    <a:pt x="3537" y="20168"/>
                  </a:lnTo>
                  <a:cubicBezTo>
                    <a:pt x="3569" y="20265"/>
                    <a:pt x="3665" y="20329"/>
                    <a:pt x="3762" y="20329"/>
                  </a:cubicBezTo>
                  <a:cubicBezTo>
                    <a:pt x="3779" y="20335"/>
                    <a:pt x="3796" y="20337"/>
                    <a:pt x="3813" y="20337"/>
                  </a:cubicBezTo>
                  <a:cubicBezTo>
                    <a:pt x="3891" y="20337"/>
                    <a:pt x="3966" y="20280"/>
                    <a:pt x="4019" y="20200"/>
                  </a:cubicBezTo>
                  <a:lnTo>
                    <a:pt x="10512" y="7953"/>
                  </a:lnTo>
                  <a:lnTo>
                    <a:pt x="17487" y="7953"/>
                  </a:lnTo>
                  <a:cubicBezTo>
                    <a:pt x="17616" y="7953"/>
                    <a:pt x="17712" y="7857"/>
                    <a:pt x="17744" y="7728"/>
                  </a:cubicBezTo>
                  <a:lnTo>
                    <a:pt x="18612" y="881"/>
                  </a:lnTo>
                  <a:cubicBezTo>
                    <a:pt x="18612" y="817"/>
                    <a:pt x="18612" y="753"/>
                    <a:pt x="18548" y="689"/>
                  </a:cubicBezTo>
                  <a:cubicBezTo>
                    <a:pt x="18516" y="624"/>
                    <a:pt x="18452" y="592"/>
                    <a:pt x="18355" y="592"/>
                  </a:cubicBezTo>
                  <a:lnTo>
                    <a:pt x="10930" y="13"/>
                  </a:lnTo>
                  <a:cubicBezTo>
                    <a:pt x="10913" y="5"/>
                    <a:pt x="10893" y="1"/>
                    <a:pt x="10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9"/>
            <p:cNvSpPr/>
            <p:nvPr/>
          </p:nvSpPr>
          <p:spPr>
            <a:xfrm>
              <a:off x="4254775" y="3175150"/>
              <a:ext cx="542450" cy="1180025"/>
            </a:xfrm>
            <a:custGeom>
              <a:avLst/>
              <a:gdLst/>
              <a:ahLst/>
              <a:cxnLst/>
              <a:rect l="l" t="t" r="r" b="b"/>
              <a:pathLst>
                <a:path w="21698" h="47201" extrusionOk="0">
                  <a:moveTo>
                    <a:pt x="11463" y="0"/>
                  </a:moveTo>
                  <a:cubicBezTo>
                    <a:pt x="8617" y="0"/>
                    <a:pt x="6106" y="1038"/>
                    <a:pt x="3922" y="2611"/>
                  </a:cubicBezTo>
                  <a:cubicBezTo>
                    <a:pt x="3922" y="2611"/>
                    <a:pt x="579" y="4668"/>
                    <a:pt x="290" y="9908"/>
                  </a:cubicBezTo>
                  <a:cubicBezTo>
                    <a:pt x="0" y="15147"/>
                    <a:pt x="1158" y="28680"/>
                    <a:pt x="1897" y="30866"/>
                  </a:cubicBezTo>
                  <a:cubicBezTo>
                    <a:pt x="2554" y="32810"/>
                    <a:pt x="5499" y="34753"/>
                    <a:pt x="8087" y="34753"/>
                  </a:cubicBezTo>
                  <a:cubicBezTo>
                    <a:pt x="8410" y="34753"/>
                    <a:pt x="8727" y="34723"/>
                    <a:pt x="9033" y="34659"/>
                  </a:cubicBezTo>
                  <a:cubicBezTo>
                    <a:pt x="9033" y="34659"/>
                    <a:pt x="10165" y="47200"/>
                    <a:pt x="11464" y="47200"/>
                  </a:cubicBezTo>
                  <a:cubicBezTo>
                    <a:pt x="11479" y="47200"/>
                    <a:pt x="11493" y="47199"/>
                    <a:pt x="11508" y="47195"/>
                  </a:cubicBezTo>
                  <a:cubicBezTo>
                    <a:pt x="12826" y="46906"/>
                    <a:pt x="19673" y="37713"/>
                    <a:pt x="19962" y="35109"/>
                  </a:cubicBezTo>
                  <a:cubicBezTo>
                    <a:pt x="20251" y="32473"/>
                    <a:pt x="20669" y="24019"/>
                    <a:pt x="20669" y="24019"/>
                  </a:cubicBezTo>
                  <a:cubicBezTo>
                    <a:pt x="20669" y="24019"/>
                    <a:pt x="21698" y="17494"/>
                    <a:pt x="21698" y="12093"/>
                  </a:cubicBezTo>
                  <a:cubicBezTo>
                    <a:pt x="21698" y="6693"/>
                    <a:pt x="20380" y="2322"/>
                    <a:pt x="15719" y="746"/>
                  </a:cubicBezTo>
                  <a:cubicBezTo>
                    <a:pt x="14225" y="231"/>
                    <a:pt x="12807" y="0"/>
                    <a:pt x="114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9"/>
            <p:cNvSpPr/>
            <p:nvPr/>
          </p:nvSpPr>
          <p:spPr>
            <a:xfrm>
              <a:off x="4333525" y="3175150"/>
              <a:ext cx="463700" cy="450850"/>
            </a:xfrm>
            <a:custGeom>
              <a:avLst/>
              <a:gdLst/>
              <a:ahLst/>
              <a:cxnLst/>
              <a:rect l="l" t="t" r="r" b="b"/>
              <a:pathLst>
                <a:path w="18548" h="18034" extrusionOk="0">
                  <a:moveTo>
                    <a:pt x="8313" y="0"/>
                  </a:moveTo>
                  <a:cubicBezTo>
                    <a:pt x="5467" y="0"/>
                    <a:pt x="2956" y="1038"/>
                    <a:pt x="772" y="2611"/>
                  </a:cubicBezTo>
                  <a:cubicBezTo>
                    <a:pt x="772" y="2611"/>
                    <a:pt x="451" y="2836"/>
                    <a:pt x="1" y="3254"/>
                  </a:cubicBezTo>
                  <a:cubicBezTo>
                    <a:pt x="226" y="3414"/>
                    <a:pt x="1929" y="4379"/>
                    <a:pt x="5497" y="4379"/>
                  </a:cubicBezTo>
                  <a:cubicBezTo>
                    <a:pt x="9322" y="4379"/>
                    <a:pt x="14305" y="3800"/>
                    <a:pt x="14305" y="3800"/>
                  </a:cubicBezTo>
                  <a:lnTo>
                    <a:pt x="14305" y="3800"/>
                  </a:lnTo>
                  <a:cubicBezTo>
                    <a:pt x="14305" y="3800"/>
                    <a:pt x="12023" y="5954"/>
                    <a:pt x="11894" y="7497"/>
                  </a:cubicBezTo>
                  <a:cubicBezTo>
                    <a:pt x="11766" y="9072"/>
                    <a:pt x="12312" y="13058"/>
                    <a:pt x="13598" y="13765"/>
                  </a:cubicBezTo>
                  <a:cubicBezTo>
                    <a:pt x="14884" y="14472"/>
                    <a:pt x="13726" y="15758"/>
                    <a:pt x="14466" y="16883"/>
                  </a:cubicBezTo>
                  <a:cubicBezTo>
                    <a:pt x="14889" y="17556"/>
                    <a:pt x="15415" y="18033"/>
                    <a:pt x="16072" y="18033"/>
                  </a:cubicBezTo>
                  <a:cubicBezTo>
                    <a:pt x="16514" y="18033"/>
                    <a:pt x="17015" y="17818"/>
                    <a:pt x="17584" y="17301"/>
                  </a:cubicBezTo>
                  <a:cubicBezTo>
                    <a:pt x="17841" y="17076"/>
                    <a:pt x="18098" y="16658"/>
                    <a:pt x="18387" y="16079"/>
                  </a:cubicBezTo>
                  <a:cubicBezTo>
                    <a:pt x="18484" y="14761"/>
                    <a:pt x="18548" y="13379"/>
                    <a:pt x="18548" y="12093"/>
                  </a:cubicBezTo>
                  <a:cubicBezTo>
                    <a:pt x="18548" y="6693"/>
                    <a:pt x="17230" y="2322"/>
                    <a:pt x="12569" y="746"/>
                  </a:cubicBezTo>
                  <a:cubicBezTo>
                    <a:pt x="11075" y="231"/>
                    <a:pt x="9657" y="0"/>
                    <a:pt x="83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9"/>
            <p:cNvSpPr/>
            <p:nvPr/>
          </p:nvSpPr>
          <p:spPr>
            <a:xfrm>
              <a:off x="4253975" y="3168075"/>
              <a:ext cx="549700" cy="1193400"/>
            </a:xfrm>
            <a:custGeom>
              <a:avLst/>
              <a:gdLst/>
              <a:ahLst/>
              <a:cxnLst/>
              <a:rect l="l" t="t" r="r" b="b"/>
              <a:pathLst>
                <a:path w="21988" h="47736" extrusionOk="0">
                  <a:moveTo>
                    <a:pt x="3829" y="2675"/>
                  </a:moveTo>
                  <a:cubicBezTo>
                    <a:pt x="3829" y="2675"/>
                    <a:pt x="3829" y="2675"/>
                    <a:pt x="3829" y="2675"/>
                  </a:cubicBezTo>
                  <a:lnTo>
                    <a:pt x="3829" y="2675"/>
                  </a:lnTo>
                  <a:lnTo>
                    <a:pt x="3829" y="2675"/>
                  </a:lnTo>
                  <a:close/>
                  <a:moveTo>
                    <a:pt x="11540" y="547"/>
                  </a:moveTo>
                  <a:cubicBezTo>
                    <a:pt x="12826" y="547"/>
                    <a:pt x="14208" y="772"/>
                    <a:pt x="15687" y="1254"/>
                  </a:cubicBezTo>
                  <a:cubicBezTo>
                    <a:pt x="17937" y="2058"/>
                    <a:pt x="19351" y="3472"/>
                    <a:pt x="20251" y="5401"/>
                  </a:cubicBezTo>
                  <a:cubicBezTo>
                    <a:pt x="21151" y="7298"/>
                    <a:pt x="21473" y="9708"/>
                    <a:pt x="21473" y="12376"/>
                  </a:cubicBezTo>
                  <a:cubicBezTo>
                    <a:pt x="21473" y="15044"/>
                    <a:pt x="21216" y="18034"/>
                    <a:pt x="20959" y="20348"/>
                  </a:cubicBezTo>
                  <a:cubicBezTo>
                    <a:pt x="20830" y="21506"/>
                    <a:pt x="20701" y="22470"/>
                    <a:pt x="20605" y="23177"/>
                  </a:cubicBezTo>
                  <a:cubicBezTo>
                    <a:pt x="20508" y="23884"/>
                    <a:pt x="20444" y="24270"/>
                    <a:pt x="20444" y="24270"/>
                  </a:cubicBezTo>
                  <a:lnTo>
                    <a:pt x="20444" y="24302"/>
                  </a:lnTo>
                  <a:cubicBezTo>
                    <a:pt x="20444" y="24302"/>
                    <a:pt x="20412" y="24816"/>
                    <a:pt x="20380" y="25652"/>
                  </a:cubicBezTo>
                  <a:cubicBezTo>
                    <a:pt x="20251" y="28159"/>
                    <a:pt x="19930" y="33399"/>
                    <a:pt x="19705" y="35360"/>
                  </a:cubicBezTo>
                  <a:cubicBezTo>
                    <a:pt x="19705" y="35649"/>
                    <a:pt x="19544" y="36067"/>
                    <a:pt x="19351" y="36549"/>
                  </a:cubicBezTo>
                  <a:cubicBezTo>
                    <a:pt x="18612" y="38253"/>
                    <a:pt x="16876" y="40889"/>
                    <a:pt x="15205" y="43107"/>
                  </a:cubicBezTo>
                  <a:cubicBezTo>
                    <a:pt x="14369" y="44232"/>
                    <a:pt x="13565" y="45260"/>
                    <a:pt x="12858" y="46000"/>
                  </a:cubicBezTo>
                  <a:cubicBezTo>
                    <a:pt x="12537" y="46353"/>
                    <a:pt x="12215" y="46675"/>
                    <a:pt x="11990" y="46868"/>
                  </a:cubicBezTo>
                  <a:cubicBezTo>
                    <a:pt x="11862" y="46996"/>
                    <a:pt x="11733" y="47060"/>
                    <a:pt x="11669" y="47125"/>
                  </a:cubicBezTo>
                  <a:cubicBezTo>
                    <a:pt x="11595" y="47174"/>
                    <a:pt x="11539" y="47205"/>
                    <a:pt x="11503" y="47216"/>
                  </a:cubicBezTo>
                  <a:lnTo>
                    <a:pt x="11503" y="47216"/>
                  </a:lnTo>
                  <a:cubicBezTo>
                    <a:pt x="11487" y="47198"/>
                    <a:pt x="11433" y="47136"/>
                    <a:pt x="11379" y="47028"/>
                  </a:cubicBezTo>
                  <a:cubicBezTo>
                    <a:pt x="11251" y="46835"/>
                    <a:pt x="11122" y="46482"/>
                    <a:pt x="10994" y="46032"/>
                  </a:cubicBezTo>
                  <a:cubicBezTo>
                    <a:pt x="10512" y="44457"/>
                    <a:pt x="10094" y="41660"/>
                    <a:pt x="9804" y="39281"/>
                  </a:cubicBezTo>
                  <a:cubicBezTo>
                    <a:pt x="9644" y="38092"/>
                    <a:pt x="9547" y="36999"/>
                    <a:pt x="9451" y="36196"/>
                  </a:cubicBezTo>
                  <a:cubicBezTo>
                    <a:pt x="9387" y="35424"/>
                    <a:pt x="9322" y="34910"/>
                    <a:pt x="9322" y="34910"/>
                  </a:cubicBezTo>
                  <a:cubicBezTo>
                    <a:pt x="9322" y="34845"/>
                    <a:pt x="9290" y="34781"/>
                    <a:pt x="9226" y="34749"/>
                  </a:cubicBezTo>
                  <a:cubicBezTo>
                    <a:pt x="9161" y="34685"/>
                    <a:pt x="9097" y="34685"/>
                    <a:pt x="9001" y="34685"/>
                  </a:cubicBezTo>
                  <a:cubicBezTo>
                    <a:pt x="8711" y="34749"/>
                    <a:pt x="8422" y="34781"/>
                    <a:pt x="8101" y="34781"/>
                  </a:cubicBezTo>
                  <a:cubicBezTo>
                    <a:pt x="6879" y="34781"/>
                    <a:pt x="5529" y="34299"/>
                    <a:pt x="4436" y="33592"/>
                  </a:cubicBezTo>
                  <a:cubicBezTo>
                    <a:pt x="3343" y="32917"/>
                    <a:pt x="2475" y="31952"/>
                    <a:pt x="2186" y="31085"/>
                  </a:cubicBezTo>
                  <a:cubicBezTo>
                    <a:pt x="2025" y="30635"/>
                    <a:pt x="1833" y="29574"/>
                    <a:pt x="1672" y="28192"/>
                  </a:cubicBezTo>
                  <a:cubicBezTo>
                    <a:pt x="1093" y="24013"/>
                    <a:pt x="547" y="16684"/>
                    <a:pt x="547" y="12151"/>
                  </a:cubicBezTo>
                  <a:cubicBezTo>
                    <a:pt x="547" y="11412"/>
                    <a:pt x="547" y="10769"/>
                    <a:pt x="579" y="10191"/>
                  </a:cubicBezTo>
                  <a:cubicBezTo>
                    <a:pt x="740" y="7651"/>
                    <a:pt x="1608" y="5883"/>
                    <a:pt x="2475" y="4758"/>
                  </a:cubicBezTo>
                  <a:cubicBezTo>
                    <a:pt x="2893" y="4180"/>
                    <a:pt x="3311" y="3762"/>
                    <a:pt x="3601" y="3505"/>
                  </a:cubicBezTo>
                  <a:cubicBezTo>
                    <a:pt x="3761" y="3376"/>
                    <a:pt x="3890" y="3280"/>
                    <a:pt x="3986" y="3215"/>
                  </a:cubicBezTo>
                  <a:lnTo>
                    <a:pt x="4083" y="3151"/>
                  </a:lnTo>
                  <a:lnTo>
                    <a:pt x="4115" y="3151"/>
                  </a:lnTo>
                  <a:lnTo>
                    <a:pt x="4115" y="3119"/>
                  </a:lnTo>
                  <a:cubicBezTo>
                    <a:pt x="6268" y="1576"/>
                    <a:pt x="8744" y="547"/>
                    <a:pt x="11540" y="547"/>
                  </a:cubicBezTo>
                  <a:close/>
                  <a:moveTo>
                    <a:pt x="11540" y="1"/>
                  </a:moveTo>
                  <a:cubicBezTo>
                    <a:pt x="8631" y="1"/>
                    <a:pt x="6039" y="1082"/>
                    <a:pt x="3829" y="2675"/>
                  </a:cubicBezTo>
                  <a:lnTo>
                    <a:pt x="3826" y="2669"/>
                  </a:lnTo>
                  <a:cubicBezTo>
                    <a:pt x="3793" y="2701"/>
                    <a:pt x="2925" y="3215"/>
                    <a:pt x="2025" y="4437"/>
                  </a:cubicBezTo>
                  <a:cubicBezTo>
                    <a:pt x="1125" y="5626"/>
                    <a:pt x="193" y="7491"/>
                    <a:pt x="65" y="10191"/>
                  </a:cubicBezTo>
                  <a:cubicBezTo>
                    <a:pt x="32" y="10737"/>
                    <a:pt x="0" y="11412"/>
                    <a:pt x="0" y="12151"/>
                  </a:cubicBezTo>
                  <a:cubicBezTo>
                    <a:pt x="0" y="15205"/>
                    <a:pt x="257" y="19480"/>
                    <a:pt x="579" y="23209"/>
                  </a:cubicBezTo>
                  <a:cubicBezTo>
                    <a:pt x="772" y="25106"/>
                    <a:pt x="933" y="26842"/>
                    <a:pt x="1125" y="28256"/>
                  </a:cubicBezTo>
                  <a:cubicBezTo>
                    <a:pt x="1318" y="29670"/>
                    <a:pt x="1511" y="30731"/>
                    <a:pt x="1672" y="31245"/>
                  </a:cubicBezTo>
                  <a:cubicBezTo>
                    <a:pt x="2025" y="32306"/>
                    <a:pt x="2958" y="33303"/>
                    <a:pt x="4147" y="34042"/>
                  </a:cubicBezTo>
                  <a:cubicBezTo>
                    <a:pt x="5336" y="34813"/>
                    <a:pt x="6751" y="35296"/>
                    <a:pt x="8101" y="35328"/>
                  </a:cubicBezTo>
                  <a:cubicBezTo>
                    <a:pt x="8354" y="35328"/>
                    <a:pt x="8591" y="35311"/>
                    <a:pt x="8836" y="35266"/>
                  </a:cubicBezTo>
                  <a:lnTo>
                    <a:pt x="8836" y="35266"/>
                  </a:lnTo>
                  <a:cubicBezTo>
                    <a:pt x="8917" y="36116"/>
                    <a:pt x="9173" y="38690"/>
                    <a:pt x="9515" y="41242"/>
                  </a:cubicBezTo>
                  <a:cubicBezTo>
                    <a:pt x="9740" y="42817"/>
                    <a:pt x="10029" y="44392"/>
                    <a:pt x="10319" y="45582"/>
                  </a:cubicBezTo>
                  <a:cubicBezTo>
                    <a:pt x="10447" y="46193"/>
                    <a:pt x="10608" y="46675"/>
                    <a:pt x="10769" y="47060"/>
                  </a:cubicBezTo>
                  <a:cubicBezTo>
                    <a:pt x="10865" y="47221"/>
                    <a:pt x="10929" y="47382"/>
                    <a:pt x="11058" y="47510"/>
                  </a:cubicBezTo>
                  <a:cubicBezTo>
                    <a:pt x="11090" y="47575"/>
                    <a:pt x="11154" y="47639"/>
                    <a:pt x="11251" y="47671"/>
                  </a:cubicBezTo>
                  <a:cubicBezTo>
                    <a:pt x="11315" y="47703"/>
                    <a:pt x="11412" y="47735"/>
                    <a:pt x="11508" y="47735"/>
                  </a:cubicBezTo>
                  <a:lnTo>
                    <a:pt x="11604" y="47735"/>
                  </a:lnTo>
                  <a:cubicBezTo>
                    <a:pt x="11733" y="47703"/>
                    <a:pt x="11862" y="47639"/>
                    <a:pt x="11990" y="47543"/>
                  </a:cubicBezTo>
                  <a:cubicBezTo>
                    <a:pt x="12505" y="47189"/>
                    <a:pt x="13212" y="46450"/>
                    <a:pt x="14047" y="45453"/>
                  </a:cubicBezTo>
                  <a:cubicBezTo>
                    <a:pt x="15301" y="43942"/>
                    <a:pt x="16780" y="41949"/>
                    <a:pt x="18001" y="40053"/>
                  </a:cubicBezTo>
                  <a:cubicBezTo>
                    <a:pt x="18612" y="39121"/>
                    <a:pt x="19126" y="38221"/>
                    <a:pt x="19544" y="37417"/>
                  </a:cubicBezTo>
                  <a:cubicBezTo>
                    <a:pt x="19930" y="36613"/>
                    <a:pt x="20187" y="35938"/>
                    <a:pt x="20251" y="35424"/>
                  </a:cubicBezTo>
                  <a:cubicBezTo>
                    <a:pt x="20530" y="32882"/>
                    <a:pt x="20959" y="24931"/>
                    <a:pt x="20989" y="24366"/>
                  </a:cubicBezTo>
                  <a:lnTo>
                    <a:pt x="20989" y="24366"/>
                  </a:lnTo>
                  <a:lnTo>
                    <a:pt x="20991" y="24366"/>
                  </a:lnTo>
                  <a:cubicBezTo>
                    <a:pt x="20991" y="24366"/>
                    <a:pt x="21987" y="17809"/>
                    <a:pt x="21987" y="12376"/>
                  </a:cubicBezTo>
                  <a:cubicBezTo>
                    <a:pt x="21987" y="9644"/>
                    <a:pt x="21666" y="7169"/>
                    <a:pt x="20734" y="5176"/>
                  </a:cubicBezTo>
                  <a:cubicBezTo>
                    <a:pt x="19801" y="3151"/>
                    <a:pt x="18258" y="1576"/>
                    <a:pt x="15848" y="772"/>
                  </a:cubicBezTo>
                  <a:cubicBezTo>
                    <a:pt x="14337" y="258"/>
                    <a:pt x="12890" y="1"/>
                    <a:pt x="115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9"/>
            <p:cNvSpPr/>
            <p:nvPr/>
          </p:nvSpPr>
          <p:spPr>
            <a:xfrm>
              <a:off x="4706400" y="3568950"/>
              <a:ext cx="116550" cy="215550"/>
            </a:xfrm>
            <a:custGeom>
              <a:avLst/>
              <a:gdLst/>
              <a:ahLst/>
              <a:cxnLst/>
              <a:rect l="l" t="t" r="r" b="b"/>
              <a:pathLst>
                <a:path w="4662" h="8622" extrusionOk="0">
                  <a:moveTo>
                    <a:pt x="3089" y="1"/>
                  </a:moveTo>
                  <a:cubicBezTo>
                    <a:pt x="1847" y="1"/>
                    <a:pt x="1" y="2899"/>
                    <a:pt x="1" y="2899"/>
                  </a:cubicBezTo>
                  <a:lnTo>
                    <a:pt x="1319" y="7849"/>
                  </a:lnTo>
                  <a:cubicBezTo>
                    <a:pt x="1550" y="8377"/>
                    <a:pt x="1849" y="8621"/>
                    <a:pt x="2171" y="8621"/>
                  </a:cubicBezTo>
                  <a:cubicBezTo>
                    <a:pt x="2654" y="8621"/>
                    <a:pt x="3190" y="8074"/>
                    <a:pt x="3633" y="7110"/>
                  </a:cubicBezTo>
                  <a:cubicBezTo>
                    <a:pt x="4372" y="5503"/>
                    <a:pt x="4662" y="1002"/>
                    <a:pt x="3504" y="135"/>
                  </a:cubicBezTo>
                  <a:cubicBezTo>
                    <a:pt x="3377" y="42"/>
                    <a:pt x="3238" y="1"/>
                    <a:pt x="30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9"/>
            <p:cNvSpPr/>
            <p:nvPr/>
          </p:nvSpPr>
          <p:spPr>
            <a:xfrm>
              <a:off x="4700775" y="3561850"/>
              <a:ext cx="118975" cy="229050"/>
            </a:xfrm>
            <a:custGeom>
              <a:avLst/>
              <a:gdLst/>
              <a:ahLst/>
              <a:cxnLst/>
              <a:rect l="l" t="t" r="r" b="b"/>
              <a:pathLst>
                <a:path w="4759" h="9162" extrusionOk="0">
                  <a:moveTo>
                    <a:pt x="3312" y="1"/>
                  </a:moveTo>
                  <a:cubicBezTo>
                    <a:pt x="2894" y="1"/>
                    <a:pt x="2508" y="226"/>
                    <a:pt x="2154" y="515"/>
                  </a:cubicBezTo>
                  <a:cubicBezTo>
                    <a:pt x="1576" y="965"/>
                    <a:pt x="1061" y="1576"/>
                    <a:pt x="676" y="2090"/>
                  </a:cubicBezTo>
                  <a:cubicBezTo>
                    <a:pt x="258" y="2604"/>
                    <a:pt x="1" y="3022"/>
                    <a:pt x="1" y="3022"/>
                  </a:cubicBezTo>
                  <a:lnTo>
                    <a:pt x="451" y="3312"/>
                  </a:lnTo>
                  <a:cubicBezTo>
                    <a:pt x="451" y="3312"/>
                    <a:pt x="483" y="3279"/>
                    <a:pt x="515" y="3215"/>
                  </a:cubicBezTo>
                  <a:cubicBezTo>
                    <a:pt x="708" y="2926"/>
                    <a:pt x="1190" y="2251"/>
                    <a:pt x="1736" y="1640"/>
                  </a:cubicBezTo>
                  <a:cubicBezTo>
                    <a:pt x="2026" y="1319"/>
                    <a:pt x="2315" y="1061"/>
                    <a:pt x="2604" y="836"/>
                  </a:cubicBezTo>
                  <a:cubicBezTo>
                    <a:pt x="2862" y="644"/>
                    <a:pt x="3119" y="547"/>
                    <a:pt x="3312" y="547"/>
                  </a:cubicBezTo>
                  <a:cubicBezTo>
                    <a:pt x="3408" y="547"/>
                    <a:pt x="3472" y="579"/>
                    <a:pt x="3569" y="611"/>
                  </a:cubicBezTo>
                  <a:cubicBezTo>
                    <a:pt x="3762" y="772"/>
                    <a:pt x="3954" y="1126"/>
                    <a:pt x="4051" y="1640"/>
                  </a:cubicBezTo>
                  <a:cubicBezTo>
                    <a:pt x="4179" y="2154"/>
                    <a:pt x="4244" y="2797"/>
                    <a:pt x="4244" y="3472"/>
                  </a:cubicBezTo>
                  <a:cubicBezTo>
                    <a:pt x="4244" y="4179"/>
                    <a:pt x="4179" y="4951"/>
                    <a:pt x="4051" y="5626"/>
                  </a:cubicBezTo>
                  <a:cubicBezTo>
                    <a:pt x="3954" y="6301"/>
                    <a:pt x="3794" y="6912"/>
                    <a:pt x="3601" y="7297"/>
                  </a:cubicBezTo>
                  <a:cubicBezTo>
                    <a:pt x="3408" y="7747"/>
                    <a:pt x="3183" y="8101"/>
                    <a:pt x="2958" y="8326"/>
                  </a:cubicBezTo>
                  <a:cubicBezTo>
                    <a:pt x="2733" y="8551"/>
                    <a:pt x="2540" y="8648"/>
                    <a:pt x="2411" y="8648"/>
                  </a:cubicBezTo>
                  <a:cubicBezTo>
                    <a:pt x="2315" y="8648"/>
                    <a:pt x="2219" y="8615"/>
                    <a:pt x="2090" y="8519"/>
                  </a:cubicBezTo>
                  <a:cubicBezTo>
                    <a:pt x="1994" y="8423"/>
                    <a:pt x="1897" y="8262"/>
                    <a:pt x="1769" y="8037"/>
                  </a:cubicBezTo>
                  <a:lnTo>
                    <a:pt x="1286" y="8230"/>
                  </a:lnTo>
                  <a:cubicBezTo>
                    <a:pt x="1415" y="8519"/>
                    <a:pt x="1576" y="8744"/>
                    <a:pt x="1769" y="8905"/>
                  </a:cubicBezTo>
                  <a:cubicBezTo>
                    <a:pt x="1929" y="9065"/>
                    <a:pt x="2154" y="9162"/>
                    <a:pt x="2411" y="9162"/>
                  </a:cubicBezTo>
                  <a:cubicBezTo>
                    <a:pt x="2733" y="9162"/>
                    <a:pt x="3054" y="8969"/>
                    <a:pt x="3344" y="8712"/>
                  </a:cubicBezTo>
                  <a:cubicBezTo>
                    <a:pt x="3633" y="8423"/>
                    <a:pt x="3890" y="8005"/>
                    <a:pt x="4115" y="7522"/>
                  </a:cubicBezTo>
                  <a:cubicBezTo>
                    <a:pt x="4308" y="7072"/>
                    <a:pt x="4469" y="6430"/>
                    <a:pt x="4597" y="5722"/>
                  </a:cubicBezTo>
                  <a:cubicBezTo>
                    <a:pt x="4694" y="5015"/>
                    <a:pt x="4758" y="4212"/>
                    <a:pt x="4758" y="3472"/>
                  </a:cubicBezTo>
                  <a:cubicBezTo>
                    <a:pt x="4758" y="2765"/>
                    <a:pt x="4726" y="2090"/>
                    <a:pt x="4565" y="1511"/>
                  </a:cubicBezTo>
                  <a:cubicBezTo>
                    <a:pt x="4437" y="965"/>
                    <a:pt x="4244" y="483"/>
                    <a:pt x="3890" y="194"/>
                  </a:cubicBezTo>
                  <a:cubicBezTo>
                    <a:pt x="3697" y="65"/>
                    <a:pt x="3504" y="1"/>
                    <a:pt x="3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9"/>
            <p:cNvSpPr/>
            <p:nvPr/>
          </p:nvSpPr>
          <p:spPr>
            <a:xfrm>
              <a:off x="4340750" y="3605550"/>
              <a:ext cx="114950" cy="202225"/>
            </a:xfrm>
            <a:custGeom>
              <a:avLst/>
              <a:gdLst/>
              <a:ahLst/>
              <a:cxnLst/>
              <a:rect l="l" t="t" r="r" b="b"/>
              <a:pathLst>
                <a:path w="4598" h="8089" extrusionOk="0">
                  <a:moveTo>
                    <a:pt x="1349" y="0"/>
                  </a:moveTo>
                  <a:cubicBezTo>
                    <a:pt x="1235" y="0"/>
                    <a:pt x="1144" y="87"/>
                    <a:pt x="1094" y="213"/>
                  </a:cubicBezTo>
                  <a:cubicBezTo>
                    <a:pt x="1094" y="213"/>
                    <a:pt x="837" y="1339"/>
                    <a:pt x="547" y="2689"/>
                  </a:cubicBezTo>
                  <a:cubicBezTo>
                    <a:pt x="290" y="4039"/>
                    <a:pt x="1" y="5614"/>
                    <a:pt x="1" y="6546"/>
                  </a:cubicBezTo>
                  <a:cubicBezTo>
                    <a:pt x="1" y="6803"/>
                    <a:pt x="1" y="7028"/>
                    <a:pt x="97" y="7221"/>
                  </a:cubicBezTo>
                  <a:cubicBezTo>
                    <a:pt x="290" y="7575"/>
                    <a:pt x="644" y="7767"/>
                    <a:pt x="1030" y="7896"/>
                  </a:cubicBezTo>
                  <a:cubicBezTo>
                    <a:pt x="1415" y="8025"/>
                    <a:pt x="1865" y="8089"/>
                    <a:pt x="2347" y="8089"/>
                  </a:cubicBezTo>
                  <a:cubicBezTo>
                    <a:pt x="3119" y="8057"/>
                    <a:pt x="3890" y="7928"/>
                    <a:pt x="4405" y="7639"/>
                  </a:cubicBezTo>
                  <a:cubicBezTo>
                    <a:pt x="4533" y="7575"/>
                    <a:pt x="4598" y="7382"/>
                    <a:pt x="4501" y="7253"/>
                  </a:cubicBezTo>
                  <a:cubicBezTo>
                    <a:pt x="4458" y="7167"/>
                    <a:pt x="4373" y="7125"/>
                    <a:pt x="4282" y="7125"/>
                  </a:cubicBezTo>
                  <a:cubicBezTo>
                    <a:pt x="4237" y="7125"/>
                    <a:pt x="4190" y="7135"/>
                    <a:pt x="4148" y="7157"/>
                  </a:cubicBezTo>
                  <a:cubicBezTo>
                    <a:pt x="3762" y="7382"/>
                    <a:pt x="3023" y="7542"/>
                    <a:pt x="2347" y="7542"/>
                  </a:cubicBezTo>
                  <a:cubicBezTo>
                    <a:pt x="1930" y="7542"/>
                    <a:pt x="1512" y="7478"/>
                    <a:pt x="1190" y="7382"/>
                  </a:cubicBezTo>
                  <a:cubicBezTo>
                    <a:pt x="869" y="7285"/>
                    <a:pt x="644" y="7125"/>
                    <a:pt x="580" y="6996"/>
                  </a:cubicBezTo>
                  <a:cubicBezTo>
                    <a:pt x="580" y="6964"/>
                    <a:pt x="547" y="6771"/>
                    <a:pt x="547" y="6546"/>
                  </a:cubicBezTo>
                  <a:cubicBezTo>
                    <a:pt x="547" y="5710"/>
                    <a:pt x="805" y="4135"/>
                    <a:pt x="1094" y="2785"/>
                  </a:cubicBezTo>
                  <a:cubicBezTo>
                    <a:pt x="1222" y="2110"/>
                    <a:pt x="1351" y="1499"/>
                    <a:pt x="1447" y="1049"/>
                  </a:cubicBezTo>
                  <a:cubicBezTo>
                    <a:pt x="1576" y="599"/>
                    <a:pt x="1640" y="342"/>
                    <a:pt x="1640" y="342"/>
                  </a:cubicBezTo>
                  <a:cubicBezTo>
                    <a:pt x="1672" y="181"/>
                    <a:pt x="1576" y="53"/>
                    <a:pt x="1447" y="21"/>
                  </a:cubicBezTo>
                  <a:cubicBezTo>
                    <a:pt x="1413" y="7"/>
                    <a:pt x="1380" y="0"/>
                    <a:pt x="13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9"/>
            <p:cNvSpPr/>
            <p:nvPr/>
          </p:nvSpPr>
          <p:spPr>
            <a:xfrm>
              <a:off x="4360050" y="3835075"/>
              <a:ext cx="135825" cy="28150"/>
            </a:xfrm>
            <a:custGeom>
              <a:avLst/>
              <a:gdLst/>
              <a:ahLst/>
              <a:cxnLst/>
              <a:rect l="l" t="t" r="r" b="b"/>
              <a:pathLst>
                <a:path w="5433" h="1126" extrusionOk="0">
                  <a:moveTo>
                    <a:pt x="5117" y="1"/>
                  </a:moveTo>
                  <a:cubicBezTo>
                    <a:pt x="5072" y="1"/>
                    <a:pt x="5026" y="12"/>
                    <a:pt x="4983" y="33"/>
                  </a:cubicBezTo>
                  <a:cubicBezTo>
                    <a:pt x="4276" y="451"/>
                    <a:pt x="3408" y="612"/>
                    <a:pt x="2604" y="612"/>
                  </a:cubicBezTo>
                  <a:cubicBezTo>
                    <a:pt x="1993" y="612"/>
                    <a:pt x="1447" y="515"/>
                    <a:pt x="1029" y="451"/>
                  </a:cubicBezTo>
                  <a:cubicBezTo>
                    <a:pt x="836" y="419"/>
                    <a:pt x="675" y="354"/>
                    <a:pt x="547" y="354"/>
                  </a:cubicBezTo>
                  <a:cubicBezTo>
                    <a:pt x="483" y="322"/>
                    <a:pt x="450" y="322"/>
                    <a:pt x="418" y="290"/>
                  </a:cubicBezTo>
                  <a:lnTo>
                    <a:pt x="386" y="290"/>
                  </a:lnTo>
                  <a:cubicBezTo>
                    <a:pt x="359" y="285"/>
                    <a:pt x="333" y="282"/>
                    <a:pt x="309" y="282"/>
                  </a:cubicBezTo>
                  <a:cubicBezTo>
                    <a:pt x="185" y="282"/>
                    <a:pt x="91" y="349"/>
                    <a:pt x="65" y="483"/>
                  </a:cubicBezTo>
                  <a:cubicBezTo>
                    <a:pt x="0" y="612"/>
                    <a:pt x="97" y="772"/>
                    <a:pt x="225" y="804"/>
                  </a:cubicBezTo>
                  <a:cubicBezTo>
                    <a:pt x="258" y="804"/>
                    <a:pt x="1318" y="1126"/>
                    <a:pt x="2604" y="1126"/>
                  </a:cubicBezTo>
                  <a:cubicBezTo>
                    <a:pt x="3472" y="1126"/>
                    <a:pt x="4436" y="997"/>
                    <a:pt x="5240" y="483"/>
                  </a:cubicBezTo>
                  <a:cubicBezTo>
                    <a:pt x="5369" y="419"/>
                    <a:pt x="5433" y="258"/>
                    <a:pt x="5336" y="129"/>
                  </a:cubicBezTo>
                  <a:cubicBezTo>
                    <a:pt x="5294" y="44"/>
                    <a:pt x="5208" y="1"/>
                    <a:pt x="5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9"/>
            <p:cNvSpPr/>
            <p:nvPr/>
          </p:nvSpPr>
          <p:spPr>
            <a:xfrm>
              <a:off x="4480600" y="3605250"/>
              <a:ext cx="28950" cy="57875"/>
            </a:xfrm>
            <a:custGeom>
              <a:avLst/>
              <a:gdLst/>
              <a:ahLst/>
              <a:cxnLst/>
              <a:rect l="l" t="t" r="r" b="b"/>
              <a:pathLst>
                <a:path w="1158" h="2315" extrusionOk="0">
                  <a:moveTo>
                    <a:pt x="579" y="0"/>
                  </a:moveTo>
                  <a:cubicBezTo>
                    <a:pt x="257" y="0"/>
                    <a:pt x="0" y="515"/>
                    <a:pt x="0" y="1158"/>
                  </a:cubicBezTo>
                  <a:cubicBezTo>
                    <a:pt x="0" y="1801"/>
                    <a:pt x="257" y="2315"/>
                    <a:pt x="579" y="2315"/>
                  </a:cubicBezTo>
                  <a:cubicBezTo>
                    <a:pt x="900" y="2315"/>
                    <a:pt x="1157" y="1801"/>
                    <a:pt x="1157" y="1158"/>
                  </a:cubicBezTo>
                  <a:cubicBezTo>
                    <a:pt x="1157" y="515"/>
                    <a:pt x="900" y="0"/>
                    <a:pt x="5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9"/>
            <p:cNvSpPr/>
            <p:nvPr/>
          </p:nvSpPr>
          <p:spPr>
            <a:xfrm>
              <a:off x="4305400" y="3586775"/>
              <a:ext cx="29750" cy="57875"/>
            </a:xfrm>
            <a:custGeom>
              <a:avLst/>
              <a:gdLst/>
              <a:ahLst/>
              <a:cxnLst/>
              <a:rect l="l" t="t" r="r" b="b"/>
              <a:pathLst>
                <a:path w="1190" h="2315" extrusionOk="0">
                  <a:moveTo>
                    <a:pt x="611" y="0"/>
                  </a:moveTo>
                  <a:cubicBezTo>
                    <a:pt x="290" y="0"/>
                    <a:pt x="1" y="514"/>
                    <a:pt x="1" y="1157"/>
                  </a:cubicBezTo>
                  <a:cubicBezTo>
                    <a:pt x="1" y="1800"/>
                    <a:pt x="290" y="2315"/>
                    <a:pt x="611" y="2315"/>
                  </a:cubicBezTo>
                  <a:cubicBezTo>
                    <a:pt x="933" y="2315"/>
                    <a:pt x="1190" y="1800"/>
                    <a:pt x="1190" y="1157"/>
                  </a:cubicBezTo>
                  <a:cubicBezTo>
                    <a:pt x="1190" y="514"/>
                    <a:pt x="933"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9"/>
            <p:cNvSpPr/>
            <p:nvPr/>
          </p:nvSpPr>
          <p:spPr>
            <a:xfrm>
              <a:off x="4276475" y="3539350"/>
              <a:ext cx="94850" cy="24950"/>
            </a:xfrm>
            <a:custGeom>
              <a:avLst/>
              <a:gdLst/>
              <a:ahLst/>
              <a:cxnLst/>
              <a:rect l="l" t="t" r="r" b="b"/>
              <a:pathLst>
                <a:path w="3794" h="998" extrusionOk="0">
                  <a:moveTo>
                    <a:pt x="1833" y="1"/>
                  </a:moveTo>
                  <a:cubicBezTo>
                    <a:pt x="804" y="1"/>
                    <a:pt x="161" y="483"/>
                    <a:pt x="129" y="515"/>
                  </a:cubicBezTo>
                  <a:cubicBezTo>
                    <a:pt x="33" y="611"/>
                    <a:pt x="0" y="772"/>
                    <a:pt x="97" y="901"/>
                  </a:cubicBezTo>
                  <a:cubicBezTo>
                    <a:pt x="153" y="957"/>
                    <a:pt x="231" y="991"/>
                    <a:pt x="305" y="991"/>
                  </a:cubicBezTo>
                  <a:cubicBezTo>
                    <a:pt x="358" y="991"/>
                    <a:pt x="410" y="973"/>
                    <a:pt x="450" y="933"/>
                  </a:cubicBezTo>
                  <a:cubicBezTo>
                    <a:pt x="483" y="933"/>
                    <a:pt x="997" y="547"/>
                    <a:pt x="1833" y="547"/>
                  </a:cubicBezTo>
                  <a:cubicBezTo>
                    <a:pt x="2250" y="547"/>
                    <a:pt x="2797" y="644"/>
                    <a:pt x="3376" y="965"/>
                  </a:cubicBezTo>
                  <a:cubicBezTo>
                    <a:pt x="3418" y="986"/>
                    <a:pt x="3465" y="997"/>
                    <a:pt x="3510" y="997"/>
                  </a:cubicBezTo>
                  <a:cubicBezTo>
                    <a:pt x="3601" y="997"/>
                    <a:pt x="3686" y="954"/>
                    <a:pt x="3729" y="869"/>
                  </a:cubicBezTo>
                  <a:cubicBezTo>
                    <a:pt x="3793" y="740"/>
                    <a:pt x="3761" y="547"/>
                    <a:pt x="3633" y="483"/>
                  </a:cubicBezTo>
                  <a:cubicBezTo>
                    <a:pt x="2958" y="129"/>
                    <a:pt x="2347"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9"/>
            <p:cNvSpPr/>
            <p:nvPr/>
          </p:nvSpPr>
          <p:spPr>
            <a:xfrm>
              <a:off x="4443625" y="3548200"/>
              <a:ext cx="135025" cy="38000"/>
            </a:xfrm>
            <a:custGeom>
              <a:avLst/>
              <a:gdLst/>
              <a:ahLst/>
              <a:cxnLst/>
              <a:rect l="l" t="t" r="r" b="b"/>
              <a:pathLst>
                <a:path w="5401" h="1520" extrusionOk="0">
                  <a:moveTo>
                    <a:pt x="2636" y="0"/>
                  </a:moveTo>
                  <a:cubicBezTo>
                    <a:pt x="1318" y="0"/>
                    <a:pt x="225" y="579"/>
                    <a:pt x="193" y="579"/>
                  </a:cubicBezTo>
                  <a:cubicBezTo>
                    <a:pt x="65" y="643"/>
                    <a:pt x="0" y="804"/>
                    <a:pt x="65" y="932"/>
                  </a:cubicBezTo>
                  <a:cubicBezTo>
                    <a:pt x="112" y="1027"/>
                    <a:pt x="211" y="1086"/>
                    <a:pt x="310" y="1086"/>
                  </a:cubicBezTo>
                  <a:cubicBezTo>
                    <a:pt x="347" y="1086"/>
                    <a:pt x="384" y="1078"/>
                    <a:pt x="418" y="1061"/>
                  </a:cubicBezTo>
                  <a:lnTo>
                    <a:pt x="450" y="1061"/>
                  </a:lnTo>
                  <a:cubicBezTo>
                    <a:pt x="547" y="997"/>
                    <a:pt x="1543" y="547"/>
                    <a:pt x="2636" y="547"/>
                  </a:cubicBezTo>
                  <a:cubicBezTo>
                    <a:pt x="3408" y="547"/>
                    <a:pt x="4243" y="740"/>
                    <a:pt x="4919" y="1447"/>
                  </a:cubicBezTo>
                  <a:cubicBezTo>
                    <a:pt x="4983" y="1495"/>
                    <a:pt x="5055" y="1519"/>
                    <a:pt x="5123" y="1519"/>
                  </a:cubicBezTo>
                  <a:cubicBezTo>
                    <a:pt x="5192" y="1519"/>
                    <a:pt x="5256" y="1495"/>
                    <a:pt x="5304" y="1447"/>
                  </a:cubicBezTo>
                  <a:cubicBezTo>
                    <a:pt x="5401" y="1318"/>
                    <a:pt x="5401" y="1157"/>
                    <a:pt x="5304" y="1061"/>
                  </a:cubicBezTo>
                  <a:cubicBezTo>
                    <a:pt x="4501" y="257"/>
                    <a:pt x="3504" y="0"/>
                    <a:pt x="2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9"/>
            <p:cNvSpPr/>
            <p:nvPr/>
          </p:nvSpPr>
          <p:spPr>
            <a:xfrm>
              <a:off x="4481400" y="4034375"/>
              <a:ext cx="855050" cy="1335625"/>
            </a:xfrm>
            <a:custGeom>
              <a:avLst/>
              <a:gdLst/>
              <a:ahLst/>
              <a:cxnLst/>
              <a:rect l="l" t="t" r="r" b="b"/>
              <a:pathLst>
                <a:path w="34202" h="53425" extrusionOk="0">
                  <a:moveTo>
                    <a:pt x="14530" y="1"/>
                  </a:moveTo>
                  <a:lnTo>
                    <a:pt x="6236" y="5690"/>
                  </a:lnTo>
                  <a:cubicBezTo>
                    <a:pt x="6236" y="5690"/>
                    <a:pt x="6076" y="13855"/>
                    <a:pt x="4468" y="19384"/>
                  </a:cubicBezTo>
                  <a:cubicBezTo>
                    <a:pt x="2990" y="24559"/>
                    <a:pt x="322" y="50275"/>
                    <a:pt x="0" y="53425"/>
                  </a:cubicBezTo>
                  <a:lnTo>
                    <a:pt x="26809" y="53425"/>
                  </a:lnTo>
                  <a:cubicBezTo>
                    <a:pt x="27452" y="49760"/>
                    <a:pt x="33334" y="15366"/>
                    <a:pt x="33463" y="14273"/>
                  </a:cubicBezTo>
                  <a:cubicBezTo>
                    <a:pt x="33591" y="13116"/>
                    <a:pt x="34202" y="11219"/>
                    <a:pt x="33173" y="10930"/>
                  </a:cubicBezTo>
                  <a:cubicBezTo>
                    <a:pt x="32145" y="10640"/>
                    <a:pt x="14530" y="1"/>
                    <a:pt x="14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9"/>
            <p:cNvSpPr/>
            <p:nvPr/>
          </p:nvSpPr>
          <p:spPr>
            <a:xfrm>
              <a:off x="4474150" y="4027550"/>
              <a:ext cx="858300" cy="1348875"/>
            </a:xfrm>
            <a:custGeom>
              <a:avLst/>
              <a:gdLst/>
              <a:ahLst/>
              <a:cxnLst/>
              <a:rect l="l" t="t" r="r" b="b"/>
              <a:pathLst>
                <a:path w="34332" h="53955" extrusionOk="0">
                  <a:moveTo>
                    <a:pt x="14844" y="592"/>
                  </a:moveTo>
                  <a:lnTo>
                    <a:pt x="14844" y="592"/>
                  </a:lnTo>
                  <a:cubicBezTo>
                    <a:pt x="15659" y="1084"/>
                    <a:pt x="19592" y="3463"/>
                    <a:pt x="23627" y="5867"/>
                  </a:cubicBezTo>
                  <a:cubicBezTo>
                    <a:pt x="25877" y="7217"/>
                    <a:pt x="28192" y="8567"/>
                    <a:pt x="29992" y="9596"/>
                  </a:cubicBezTo>
                  <a:cubicBezTo>
                    <a:pt x="30892" y="10110"/>
                    <a:pt x="31663" y="10560"/>
                    <a:pt x="32242" y="10881"/>
                  </a:cubicBezTo>
                  <a:cubicBezTo>
                    <a:pt x="32531" y="11042"/>
                    <a:pt x="32788" y="11171"/>
                    <a:pt x="32949" y="11267"/>
                  </a:cubicBezTo>
                  <a:cubicBezTo>
                    <a:pt x="33142" y="11363"/>
                    <a:pt x="33270" y="11428"/>
                    <a:pt x="33399" y="11460"/>
                  </a:cubicBezTo>
                  <a:cubicBezTo>
                    <a:pt x="33528" y="11492"/>
                    <a:pt x="33624" y="11588"/>
                    <a:pt x="33688" y="11717"/>
                  </a:cubicBezTo>
                  <a:cubicBezTo>
                    <a:pt x="33753" y="11846"/>
                    <a:pt x="33785" y="12071"/>
                    <a:pt x="33785" y="12328"/>
                  </a:cubicBezTo>
                  <a:cubicBezTo>
                    <a:pt x="33785" y="12971"/>
                    <a:pt x="33560" y="13839"/>
                    <a:pt x="33495" y="14514"/>
                  </a:cubicBezTo>
                  <a:cubicBezTo>
                    <a:pt x="33463" y="14642"/>
                    <a:pt x="33367" y="15317"/>
                    <a:pt x="33174" y="16346"/>
                  </a:cubicBezTo>
                  <a:cubicBezTo>
                    <a:pt x="31977" y="23589"/>
                    <a:pt x="27572" y="49372"/>
                    <a:pt x="26880" y="53441"/>
                  </a:cubicBezTo>
                  <a:lnTo>
                    <a:pt x="577" y="53441"/>
                  </a:lnTo>
                  <a:cubicBezTo>
                    <a:pt x="785" y="51406"/>
                    <a:pt x="1494" y="44536"/>
                    <a:pt x="2347" y="37465"/>
                  </a:cubicBezTo>
                  <a:cubicBezTo>
                    <a:pt x="2797" y="33736"/>
                    <a:pt x="3280" y="29943"/>
                    <a:pt x="3762" y="26761"/>
                  </a:cubicBezTo>
                  <a:cubicBezTo>
                    <a:pt x="4212" y="23578"/>
                    <a:pt x="4662" y="20975"/>
                    <a:pt x="5015" y="19721"/>
                  </a:cubicBezTo>
                  <a:cubicBezTo>
                    <a:pt x="6529" y="14557"/>
                    <a:pt x="6755" y="7200"/>
                    <a:pt x="6781" y="6102"/>
                  </a:cubicBezTo>
                  <a:lnTo>
                    <a:pt x="6781" y="6102"/>
                  </a:lnTo>
                  <a:lnTo>
                    <a:pt x="14844" y="592"/>
                  </a:lnTo>
                  <a:close/>
                  <a:moveTo>
                    <a:pt x="14803" y="0"/>
                  </a:moveTo>
                  <a:cubicBezTo>
                    <a:pt x="14755" y="0"/>
                    <a:pt x="14707" y="16"/>
                    <a:pt x="14659" y="49"/>
                  </a:cubicBezTo>
                  <a:lnTo>
                    <a:pt x="6366" y="5738"/>
                  </a:lnTo>
                  <a:cubicBezTo>
                    <a:pt x="6301" y="5770"/>
                    <a:pt x="6237" y="5867"/>
                    <a:pt x="6237" y="5963"/>
                  </a:cubicBezTo>
                  <a:cubicBezTo>
                    <a:pt x="6237" y="5963"/>
                    <a:pt x="6237" y="6445"/>
                    <a:pt x="6205" y="7313"/>
                  </a:cubicBezTo>
                  <a:cubicBezTo>
                    <a:pt x="6076" y="9853"/>
                    <a:pt x="5690" y="15478"/>
                    <a:pt x="4501" y="19560"/>
                  </a:cubicBezTo>
                  <a:cubicBezTo>
                    <a:pt x="4115" y="20910"/>
                    <a:pt x="3698" y="23482"/>
                    <a:pt x="3215" y="26664"/>
                  </a:cubicBezTo>
                  <a:cubicBezTo>
                    <a:pt x="1833" y="36243"/>
                    <a:pt x="258" y="51287"/>
                    <a:pt x="33" y="53666"/>
                  </a:cubicBezTo>
                  <a:cubicBezTo>
                    <a:pt x="1" y="53730"/>
                    <a:pt x="33" y="53826"/>
                    <a:pt x="97" y="53891"/>
                  </a:cubicBezTo>
                  <a:cubicBezTo>
                    <a:pt x="129" y="53923"/>
                    <a:pt x="226" y="53955"/>
                    <a:pt x="290" y="53955"/>
                  </a:cubicBezTo>
                  <a:lnTo>
                    <a:pt x="27099" y="53955"/>
                  </a:lnTo>
                  <a:cubicBezTo>
                    <a:pt x="27227" y="53955"/>
                    <a:pt x="27356" y="53859"/>
                    <a:pt x="27356" y="53730"/>
                  </a:cubicBezTo>
                  <a:cubicBezTo>
                    <a:pt x="27677" y="51930"/>
                    <a:pt x="29317" y="42415"/>
                    <a:pt x="30892" y="33222"/>
                  </a:cubicBezTo>
                  <a:cubicBezTo>
                    <a:pt x="31663" y="28625"/>
                    <a:pt x="32435" y="24093"/>
                    <a:pt x="33013" y="20653"/>
                  </a:cubicBezTo>
                  <a:cubicBezTo>
                    <a:pt x="33303" y="18950"/>
                    <a:pt x="33528" y="17503"/>
                    <a:pt x="33720" y="16442"/>
                  </a:cubicBezTo>
                  <a:cubicBezTo>
                    <a:pt x="33881" y="15382"/>
                    <a:pt x="34010" y="14739"/>
                    <a:pt x="34010" y="14578"/>
                  </a:cubicBezTo>
                  <a:cubicBezTo>
                    <a:pt x="34106" y="13967"/>
                    <a:pt x="34299" y="13067"/>
                    <a:pt x="34331" y="12328"/>
                  </a:cubicBezTo>
                  <a:cubicBezTo>
                    <a:pt x="34331" y="12039"/>
                    <a:pt x="34267" y="11749"/>
                    <a:pt x="34170" y="11492"/>
                  </a:cubicBezTo>
                  <a:cubicBezTo>
                    <a:pt x="34042" y="11235"/>
                    <a:pt x="33849" y="11010"/>
                    <a:pt x="33528" y="10946"/>
                  </a:cubicBezTo>
                  <a:cubicBezTo>
                    <a:pt x="33528" y="10946"/>
                    <a:pt x="33367" y="10881"/>
                    <a:pt x="33206" y="10785"/>
                  </a:cubicBezTo>
                  <a:cubicBezTo>
                    <a:pt x="31824" y="10110"/>
                    <a:pt x="27259" y="7410"/>
                    <a:pt x="23048" y="4902"/>
                  </a:cubicBezTo>
                  <a:cubicBezTo>
                    <a:pt x="20927" y="3649"/>
                    <a:pt x="18902" y="2427"/>
                    <a:pt x="17423" y="1527"/>
                  </a:cubicBezTo>
                  <a:cubicBezTo>
                    <a:pt x="16684" y="1077"/>
                    <a:pt x="16073" y="724"/>
                    <a:pt x="15623" y="466"/>
                  </a:cubicBezTo>
                  <a:cubicBezTo>
                    <a:pt x="15205" y="209"/>
                    <a:pt x="14948" y="49"/>
                    <a:pt x="14948" y="49"/>
                  </a:cubicBezTo>
                  <a:cubicBezTo>
                    <a:pt x="14900" y="16"/>
                    <a:pt x="14852" y="0"/>
                    <a:pt x="14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9"/>
            <p:cNvSpPr/>
            <p:nvPr/>
          </p:nvSpPr>
          <p:spPr>
            <a:xfrm>
              <a:off x="4637300" y="3848750"/>
              <a:ext cx="257975" cy="516750"/>
            </a:xfrm>
            <a:custGeom>
              <a:avLst/>
              <a:gdLst/>
              <a:ahLst/>
              <a:cxnLst/>
              <a:rect l="l" t="t" r="r" b="b"/>
              <a:pathLst>
                <a:path w="10319" h="20670" extrusionOk="0">
                  <a:moveTo>
                    <a:pt x="9322" y="0"/>
                  </a:moveTo>
                  <a:lnTo>
                    <a:pt x="0" y="13115"/>
                  </a:lnTo>
                  <a:lnTo>
                    <a:pt x="2475" y="20669"/>
                  </a:lnTo>
                  <a:lnTo>
                    <a:pt x="10319" y="7586"/>
                  </a:lnTo>
                  <a:lnTo>
                    <a:pt x="93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9"/>
            <p:cNvSpPr/>
            <p:nvPr/>
          </p:nvSpPr>
          <p:spPr>
            <a:xfrm>
              <a:off x="4630050" y="3842025"/>
              <a:ext cx="272450" cy="530700"/>
            </a:xfrm>
            <a:custGeom>
              <a:avLst/>
              <a:gdLst/>
              <a:ahLst/>
              <a:cxnLst/>
              <a:rect l="l" t="t" r="r" b="b"/>
              <a:pathLst>
                <a:path w="10898" h="21228" extrusionOk="0">
                  <a:moveTo>
                    <a:pt x="9419" y="976"/>
                  </a:moveTo>
                  <a:lnTo>
                    <a:pt x="10351" y="7791"/>
                  </a:lnTo>
                  <a:lnTo>
                    <a:pt x="2830" y="20295"/>
                  </a:lnTo>
                  <a:lnTo>
                    <a:pt x="595" y="13433"/>
                  </a:lnTo>
                  <a:lnTo>
                    <a:pt x="9419" y="976"/>
                  </a:lnTo>
                  <a:close/>
                  <a:moveTo>
                    <a:pt x="9586" y="0"/>
                  </a:moveTo>
                  <a:cubicBezTo>
                    <a:pt x="9502" y="0"/>
                    <a:pt x="9435" y="36"/>
                    <a:pt x="9387" y="109"/>
                  </a:cubicBezTo>
                  <a:lnTo>
                    <a:pt x="65" y="13223"/>
                  </a:lnTo>
                  <a:cubicBezTo>
                    <a:pt x="1" y="13288"/>
                    <a:pt x="1" y="13384"/>
                    <a:pt x="33" y="13448"/>
                  </a:cubicBezTo>
                  <a:lnTo>
                    <a:pt x="2508" y="21035"/>
                  </a:lnTo>
                  <a:cubicBezTo>
                    <a:pt x="2540" y="21131"/>
                    <a:pt x="2637" y="21195"/>
                    <a:pt x="2733" y="21227"/>
                  </a:cubicBezTo>
                  <a:cubicBezTo>
                    <a:pt x="2830" y="21227"/>
                    <a:pt x="2926" y="21195"/>
                    <a:pt x="2990" y="21099"/>
                  </a:cubicBezTo>
                  <a:lnTo>
                    <a:pt x="10866" y="7984"/>
                  </a:lnTo>
                  <a:cubicBezTo>
                    <a:pt x="10898" y="7920"/>
                    <a:pt x="10898" y="7855"/>
                    <a:pt x="10898" y="7823"/>
                  </a:cubicBezTo>
                  <a:lnTo>
                    <a:pt x="9869" y="237"/>
                  </a:lnTo>
                  <a:cubicBezTo>
                    <a:pt x="9869" y="141"/>
                    <a:pt x="9773" y="44"/>
                    <a:pt x="9676" y="12"/>
                  </a:cubicBezTo>
                  <a:cubicBezTo>
                    <a:pt x="9644" y="4"/>
                    <a:pt x="9614" y="0"/>
                    <a:pt x="9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39"/>
            <p:cNvSpPr/>
            <p:nvPr/>
          </p:nvSpPr>
          <p:spPr>
            <a:xfrm>
              <a:off x="4855875" y="4281900"/>
              <a:ext cx="512725" cy="946675"/>
            </a:xfrm>
            <a:custGeom>
              <a:avLst/>
              <a:gdLst/>
              <a:ahLst/>
              <a:cxnLst/>
              <a:rect l="l" t="t" r="r" b="b"/>
              <a:pathLst>
                <a:path w="20509" h="37867" extrusionOk="0">
                  <a:moveTo>
                    <a:pt x="15558" y="0"/>
                  </a:moveTo>
                  <a:lnTo>
                    <a:pt x="5658" y="7715"/>
                  </a:lnTo>
                  <a:lnTo>
                    <a:pt x="1" y="27837"/>
                  </a:lnTo>
                  <a:lnTo>
                    <a:pt x="8294" y="37866"/>
                  </a:lnTo>
                  <a:cubicBezTo>
                    <a:pt x="8294" y="37866"/>
                    <a:pt x="15269" y="25041"/>
                    <a:pt x="17744" y="16330"/>
                  </a:cubicBezTo>
                  <a:cubicBezTo>
                    <a:pt x="20219" y="7586"/>
                    <a:pt x="20509" y="2765"/>
                    <a:pt x="18934" y="1768"/>
                  </a:cubicBezTo>
                  <a:cubicBezTo>
                    <a:pt x="17326" y="739"/>
                    <a:pt x="15558" y="0"/>
                    <a:pt x="15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39"/>
            <p:cNvSpPr/>
            <p:nvPr/>
          </p:nvSpPr>
          <p:spPr>
            <a:xfrm>
              <a:off x="4848650" y="4276275"/>
              <a:ext cx="511925" cy="959025"/>
            </a:xfrm>
            <a:custGeom>
              <a:avLst/>
              <a:gdLst/>
              <a:ahLst/>
              <a:cxnLst/>
              <a:rect l="l" t="t" r="r" b="b"/>
              <a:pathLst>
                <a:path w="20477" h="38361" extrusionOk="0">
                  <a:moveTo>
                    <a:pt x="15976" y="0"/>
                  </a:moveTo>
                  <a:lnTo>
                    <a:pt x="15751" y="482"/>
                  </a:lnTo>
                  <a:cubicBezTo>
                    <a:pt x="15751" y="482"/>
                    <a:pt x="15847" y="514"/>
                    <a:pt x="16040" y="611"/>
                  </a:cubicBezTo>
                  <a:cubicBezTo>
                    <a:pt x="16619" y="868"/>
                    <a:pt x="17873" y="1447"/>
                    <a:pt x="19062" y="2218"/>
                  </a:cubicBezTo>
                  <a:cubicBezTo>
                    <a:pt x="19319" y="2379"/>
                    <a:pt x="19544" y="2668"/>
                    <a:pt x="19705" y="3182"/>
                  </a:cubicBezTo>
                  <a:cubicBezTo>
                    <a:pt x="19866" y="3665"/>
                    <a:pt x="19930" y="4307"/>
                    <a:pt x="19930" y="5143"/>
                  </a:cubicBezTo>
                  <a:cubicBezTo>
                    <a:pt x="19930" y="7554"/>
                    <a:pt x="19255" y="11315"/>
                    <a:pt x="17776" y="16458"/>
                  </a:cubicBezTo>
                  <a:cubicBezTo>
                    <a:pt x="16555" y="20798"/>
                    <a:pt x="14208" y="26198"/>
                    <a:pt x="12151" y="30473"/>
                  </a:cubicBezTo>
                  <a:cubicBezTo>
                    <a:pt x="11122" y="32627"/>
                    <a:pt x="10158" y="34491"/>
                    <a:pt x="9483" y="35841"/>
                  </a:cubicBezTo>
                  <a:cubicBezTo>
                    <a:pt x="9129" y="36516"/>
                    <a:pt x="8840" y="37031"/>
                    <a:pt x="8647" y="37416"/>
                  </a:cubicBezTo>
                  <a:cubicBezTo>
                    <a:pt x="8603" y="37497"/>
                    <a:pt x="8564" y="37569"/>
                    <a:pt x="8530" y="37633"/>
                  </a:cubicBezTo>
                  <a:lnTo>
                    <a:pt x="8530" y="37633"/>
                  </a:lnTo>
                  <a:lnTo>
                    <a:pt x="579" y="27998"/>
                  </a:lnTo>
                  <a:lnTo>
                    <a:pt x="6204" y="8036"/>
                  </a:lnTo>
                  <a:lnTo>
                    <a:pt x="5690" y="7876"/>
                  </a:lnTo>
                  <a:lnTo>
                    <a:pt x="32" y="27966"/>
                  </a:lnTo>
                  <a:cubicBezTo>
                    <a:pt x="0" y="28062"/>
                    <a:pt x="0" y="28159"/>
                    <a:pt x="65" y="28223"/>
                  </a:cubicBezTo>
                  <a:lnTo>
                    <a:pt x="8358" y="38252"/>
                  </a:lnTo>
                  <a:cubicBezTo>
                    <a:pt x="8406" y="38324"/>
                    <a:pt x="8472" y="38361"/>
                    <a:pt x="8543" y="38361"/>
                  </a:cubicBezTo>
                  <a:cubicBezTo>
                    <a:pt x="8567" y="38361"/>
                    <a:pt x="8591" y="38357"/>
                    <a:pt x="8615" y="38349"/>
                  </a:cubicBezTo>
                  <a:cubicBezTo>
                    <a:pt x="8679" y="38349"/>
                    <a:pt x="8776" y="38316"/>
                    <a:pt x="8808" y="38220"/>
                  </a:cubicBezTo>
                  <a:cubicBezTo>
                    <a:pt x="8808" y="38220"/>
                    <a:pt x="15815" y="25394"/>
                    <a:pt x="18290" y="16619"/>
                  </a:cubicBezTo>
                  <a:cubicBezTo>
                    <a:pt x="19769" y="11444"/>
                    <a:pt x="20476" y="7651"/>
                    <a:pt x="20476" y="5143"/>
                  </a:cubicBezTo>
                  <a:cubicBezTo>
                    <a:pt x="20476" y="4275"/>
                    <a:pt x="20380" y="3568"/>
                    <a:pt x="20219" y="2990"/>
                  </a:cubicBezTo>
                  <a:cubicBezTo>
                    <a:pt x="20026" y="2443"/>
                    <a:pt x="19737" y="1993"/>
                    <a:pt x="19351" y="1768"/>
                  </a:cubicBezTo>
                  <a:cubicBezTo>
                    <a:pt x="17712" y="707"/>
                    <a:pt x="15976" y="0"/>
                    <a:pt x="15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9"/>
            <p:cNvSpPr/>
            <p:nvPr/>
          </p:nvSpPr>
          <p:spPr>
            <a:xfrm>
              <a:off x="4716850" y="4919150"/>
              <a:ext cx="404250" cy="407825"/>
            </a:xfrm>
            <a:custGeom>
              <a:avLst/>
              <a:gdLst/>
              <a:ahLst/>
              <a:cxnLst/>
              <a:rect l="l" t="t" r="r" b="b"/>
              <a:pathLst>
                <a:path w="16170" h="16313" extrusionOk="0">
                  <a:moveTo>
                    <a:pt x="5562" y="161"/>
                  </a:moveTo>
                  <a:cubicBezTo>
                    <a:pt x="5562" y="161"/>
                    <a:pt x="290" y="2765"/>
                    <a:pt x="161" y="4372"/>
                  </a:cubicBezTo>
                  <a:cubicBezTo>
                    <a:pt x="1" y="5980"/>
                    <a:pt x="4661" y="10930"/>
                    <a:pt x="5851" y="13116"/>
                  </a:cubicBezTo>
                  <a:cubicBezTo>
                    <a:pt x="6773" y="14857"/>
                    <a:pt x="7980" y="16313"/>
                    <a:pt x="9685" y="16313"/>
                  </a:cubicBezTo>
                  <a:cubicBezTo>
                    <a:pt x="10120" y="16313"/>
                    <a:pt x="10587" y="16218"/>
                    <a:pt x="11090" y="16009"/>
                  </a:cubicBezTo>
                  <a:cubicBezTo>
                    <a:pt x="13566" y="15012"/>
                    <a:pt x="16169" y="12248"/>
                    <a:pt x="16169" y="9773"/>
                  </a:cubicBezTo>
                  <a:cubicBezTo>
                    <a:pt x="16169" y="7298"/>
                    <a:pt x="12537" y="3504"/>
                    <a:pt x="9933" y="1737"/>
                  </a:cubicBezTo>
                  <a:cubicBezTo>
                    <a:pt x="7297" y="1"/>
                    <a:pt x="6429" y="290"/>
                    <a:pt x="5562" y="16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9"/>
            <p:cNvSpPr/>
            <p:nvPr/>
          </p:nvSpPr>
          <p:spPr>
            <a:xfrm>
              <a:off x="4714450" y="4915950"/>
              <a:ext cx="413875" cy="417900"/>
            </a:xfrm>
            <a:custGeom>
              <a:avLst/>
              <a:gdLst/>
              <a:ahLst/>
              <a:cxnLst/>
              <a:rect l="l" t="t" r="r" b="b"/>
              <a:pathLst>
                <a:path w="16555" h="16716" extrusionOk="0">
                  <a:moveTo>
                    <a:pt x="5673" y="556"/>
                  </a:moveTo>
                  <a:cubicBezTo>
                    <a:pt x="6123" y="608"/>
                    <a:pt x="6527" y="588"/>
                    <a:pt x="7104" y="739"/>
                  </a:cubicBezTo>
                  <a:cubicBezTo>
                    <a:pt x="7715" y="900"/>
                    <a:pt x="8583" y="1254"/>
                    <a:pt x="9868" y="2090"/>
                  </a:cubicBezTo>
                  <a:cubicBezTo>
                    <a:pt x="11154" y="2957"/>
                    <a:pt x="12697" y="4340"/>
                    <a:pt x="13919" y="5786"/>
                  </a:cubicBezTo>
                  <a:cubicBezTo>
                    <a:pt x="14529" y="6493"/>
                    <a:pt x="15044" y="7265"/>
                    <a:pt x="15429" y="7972"/>
                  </a:cubicBezTo>
                  <a:cubicBezTo>
                    <a:pt x="15783" y="8679"/>
                    <a:pt x="16008" y="9322"/>
                    <a:pt x="16008" y="9901"/>
                  </a:cubicBezTo>
                  <a:cubicBezTo>
                    <a:pt x="16008" y="11026"/>
                    <a:pt x="15397" y="12311"/>
                    <a:pt x="14465" y="13404"/>
                  </a:cubicBezTo>
                  <a:cubicBezTo>
                    <a:pt x="13501" y="14497"/>
                    <a:pt x="12279" y="15430"/>
                    <a:pt x="11090" y="15912"/>
                  </a:cubicBezTo>
                  <a:cubicBezTo>
                    <a:pt x="10608" y="16105"/>
                    <a:pt x="10190" y="16169"/>
                    <a:pt x="9772" y="16169"/>
                  </a:cubicBezTo>
                  <a:cubicBezTo>
                    <a:pt x="9001" y="16169"/>
                    <a:pt x="8358" y="15847"/>
                    <a:pt x="7747" y="15301"/>
                  </a:cubicBezTo>
                  <a:cubicBezTo>
                    <a:pt x="7136" y="14754"/>
                    <a:pt x="6622" y="13983"/>
                    <a:pt x="6172" y="13115"/>
                  </a:cubicBezTo>
                  <a:cubicBezTo>
                    <a:pt x="5561" y="11990"/>
                    <a:pt x="4147" y="10254"/>
                    <a:pt x="2861" y="8583"/>
                  </a:cubicBezTo>
                  <a:cubicBezTo>
                    <a:pt x="2250" y="7715"/>
                    <a:pt x="1639" y="6911"/>
                    <a:pt x="1222" y="6204"/>
                  </a:cubicBezTo>
                  <a:cubicBezTo>
                    <a:pt x="997" y="5850"/>
                    <a:pt x="804" y="5529"/>
                    <a:pt x="707" y="5240"/>
                  </a:cubicBezTo>
                  <a:cubicBezTo>
                    <a:pt x="579" y="4950"/>
                    <a:pt x="514" y="4725"/>
                    <a:pt x="514" y="4565"/>
                  </a:cubicBezTo>
                  <a:lnTo>
                    <a:pt x="514" y="4533"/>
                  </a:lnTo>
                  <a:cubicBezTo>
                    <a:pt x="547" y="4404"/>
                    <a:pt x="611" y="4211"/>
                    <a:pt x="739" y="4018"/>
                  </a:cubicBezTo>
                  <a:cubicBezTo>
                    <a:pt x="997" y="3665"/>
                    <a:pt x="1447" y="3247"/>
                    <a:pt x="1961" y="2861"/>
                  </a:cubicBezTo>
                  <a:cubicBezTo>
                    <a:pt x="2732" y="2250"/>
                    <a:pt x="3697" y="1672"/>
                    <a:pt x="4436" y="1222"/>
                  </a:cubicBezTo>
                  <a:cubicBezTo>
                    <a:pt x="4822" y="997"/>
                    <a:pt x="5143" y="836"/>
                    <a:pt x="5400" y="707"/>
                  </a:cubicBezTo>
                  <a:cubicBezTo>
                    <a:pt x="5520" y="639"/>
                    <a:pt x="5613" y="588"/>
                    <a:pt x="5673" y="556"/>
                  </a:cubicBezTo>
                  <a:close/>
                  <a:moveTo>
                    <a:pt x="5690" y="0"/>
                  </a:moveTo>
                  <a:cubicBezTo>
                    <a:pt x="5625" y="0"/>
                    <a:pt x="5561" y="0"/>
                    <a:pt x="5529" y="32"/>
                  </a:cubicBezTo>
                  <a:cubicBezTo>
                    <a:pt x="5529" y="32"/>
                    <a:pt x="4211" y="707"/>
                    <a:pt x="2861" y="1575"/>
                  </a:cubicBezTo>
                  <a:cubicBezTo>
                    <a:pt x="2186" y="1993"/>
                    <a:pt x="1511" y="2475"/>
                    <a:pt x="964" y="2957"/>
                  </a:cubicBezTo>
                  <a:cubicBezTo>
                    <a:pt x="707" y="3215"/>
                    <a:pt x="482" y="3472"/>
                    <a:pt x="322" y="3697"/>
                  </a:cubicBezTo>
                  <a:cubicBezTo>
                    <a:pt x="129" y="3954"/>
                    <a:pt x="0" y="4211"/>
                    <a:pt x="0" y="4468"/>
                  </a:cubicBezTo>
                  <a:lnTo>
                    <a:pt x="0" y="4565"/>
                  </a:lnTo>
                  <a:cubicBezTo>
                    <a:pt x="0" y="4854"/>
                    <a:pt x="64" y="5143"/>
                    <a:pt x="193" y="5433"/>
                  </a:cubicBezTo>
                  <a:cubicBezTo>
                    <a:pt x="675" y="6558"/>
                    <a:pt x="1800" y="8036"/>
                    <a:pt x="2925" y="9515"/>
                  </a:cubicBezTo>
                  <a:cubicBezTo>
                    <a:pt x="4082" y="10994"/>
                    <a:pt x="5208" y="12472"/>
                    <a:pt x="5690" y="13372"/>
                  </a:cubicBezTo>
                  <a:cubicBezTo>
                    <a:pt x="6172" y="14240"/>
                    <a:pt x="6718" y="15076"/>
                    <a:pt x="7393" y="15687"/>
                  </a:cubicBezTo>
                  <a:cubicBezTo>
                    <a:pt x="8036" y="16297"/>
                    <a:pt x="8840" y="16715"/>
                    <a:pt x="9772" y="16715"/>
                  </a:cubicBezTo>
                  <a:cubicBezTo>
                    <a:pt x="10254" y="16715"/>
                    <a:pt x="10769" y="16619"/>
                    <a:pt x="11283" y="16394"/>
                  </a:cubicBezTo>
                  <a:cubicBezTo>
                    <a:pt x="12569" y="15880"/>
                    <a:pt x="13854" y="14915"/>
                    <a:pt x="14851" y="13726"/>
                  </a:cubicBezTo>
                  <a:cubicBezTo>
                    <a:pt x="15847" y="12569"/>
                    <a:pt x="16555" y="11219"/>
                    <a:pt x="16555" y="9901"/>
                  </a:cubicBezTo>
                  <a:cubicBezTo>
                    <a:pt x="16555" y="9193"/>
                    <a:pt x="16297" y="8454"/>
                    <a:pt x="15912" y="7715"/>
                  </a:cubicBezTo>
                  <a:cubicBezTo>
                    <a:pt x="14722" y="5465"/>
                    <a:pt x="12151" y="2990"/>
                    <a:pt x="10158" y="1640"/>
                  </a:cubicBezTo>
                  <a:cubicBezTo>
                    <a:pt x="8840" y="772"/>
                    <a:pt x="7940" y="386"/>
                    <a:pt x="7233" y="225"/>
                  </a:cubicBezTo>
                  <a:cubicBezTo>
                    <a:pt x="6558" y="32"/>
                    <a:pt x="6075" y="97"/>
                    <a:pt x="5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529925" y="5101700"/>
              <a:ext cx="469550" cy="99550"/>
            </a:xfrm>
            <a:custGeom>
              <a:avLst/>
              <a:gdLst/>
              <a:ahLst/>
              <a:cxnLst/>
              <a:rect l="l" t="t" r="r" b="b"/>
              <a:pathLst>
                <a:path w="18782" h="3982" extrusionOk="0">
                  <a:moveTo>
                    <a:pt x="10734" y="0"/>
                  </a:moveTo>
                  <a:cubicBezTo>
                    <a:pt x="8013" y="0"/>
                    <a:pt x="5561" y="413"/>
                    <a:pt x="5561" y="413"/>
                  </a:cubicBezTo>
                  <a:cubicBezTo>
                    <a:pt x="5561" y="413"/>
                    <a:pt x="2636" y="2021"/>
                    <a:pt x="1318" y="2181"/>
                  </a:cubicBezTo>
                  <a:cubicBezTo>
                    <a:pt x="0" y="2310"/>
                    <a:pt x="161" y="3467"/>
                    <a:pt x="1318" y="3917"/>
                  </a:cubicBezTo>
                  <a:cubicBezTo>
                    <a:pt x="1432" y="3962"/>
                    <a:pt x="1575" y="3982"/>
                    <a:pt x="1740" y="3982"/>
                  </a:cubicBezTo>
                  <a:cubicBezTo>
                    <a:pt x="3249" y="3982"/>
                    <a:pt x="6646" y="2310"/>
                    <a:pt x="7458" y="2310"/>
                  </a:cubicBezTo>
                  <a:cubicBezTo>
                    <a:pt x="8326" y="2310"/>
                    <a:pt x="15172" y="2889"/>
                    <a:pt x="16619" y="3049"/>
                  </a:cubicBezTo>
                  <a:cubicBezTo>
                    <a:pt x="16679" y="3055"/>
                    <a:pt x="16739" y="3057"/>
                    <a:pt x="16797" y="3057"/>
                  </a:cubicBezTo>
                  <a:cubicBezTo>
                    <a:pt x="18130" y="3057"/>
                    <a:pt x="18781" y="1683"/>
                    <a:pt x="15301" y="574"/>
                  </a:cubicBezTo>
                  <a:cubicBezTo>
                    <a:pt x="13970" y="138"/>
                    <a:pt x="12307" y="0"/>
                    <a:pt x="107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9"/>
            <p:cNvSpPr/>
            <p:nvPr/>
          </p:nvSpPr>
          <p:spPr>
            <a:xfrm>
              <a:off x="3533125" y="5095150"/>
              <a:ext cx="450050" cy="112525"/>
            </a:xfrm>
            <a:custGeom>
              <a:avLst/>
              <a:gdLst/>
              <a:ahLst/>
              <a:cxnLst/>
              <a:rect l="l" t="t" r="r" b="b"/>
              <a:pathLst>
                <a:path w="18002" h="4501" extrusionOk="0">
                  <a:moveTo>
                    <a:pt x="10641" y="547"/>
                  </a:moveTo>
                  <a:cubicBezTo>
                    <a:pt x="12183" y="547"/>
                    <a:pt x="13823" y="675"/>
                    <a:pt x="15109" y="1093"/>
                  </a:cubicBezTo>
                  <a:cubicBezTo>
                    <a:pt x="16041" y="1383"/>
                    <a:pt x="16652" y="1704"/>
                    <a:pt x="17005" y="1993"/>
                  </a:cubicBezTo>
                  <a:cubicBezTo>
                    <a:pt x="17198" y="2122"/>
                    <a:pt x="17327" y="2250"/>
                    <a:pt x="17391" y="2347"/>
                  </a:cubicBezTo>
                  <a:cubicBezTo>
                    <a:pt x="17455" y="2475"/>
                    <a:pt x="17487" y="2572"/>
                    <a:pt x="17487" y="2604"/>
                  </a:cubicBezTo>
                  <a:cubicBezTo>
                    <a:pt x="17487" y="2733"/>
                    <a:pt x="17423" y="2797"/>
                    <a:pt x="17294" y="2893"/>
                  </a:cubicBezTo>
                  <a:cubicBezTo>
                    <a:pt x="17166" y="2990"/>
                    <a:pt x="16941" y="3054"/>
                    <a:pt x="16684" y="3054"/>
                  </a:cubicBezTo>
                  <a:cubicBezTo>
                    <a:pt x="16619" y="3054"/>
                    <a:pt x="16587" y="3054"/>
                    <a:pt x="16523" y="3022"/>
                  </a:cubicBezTo>
                  <a:cubicBezTo>
                    <a:pt x="15784" y="2958"/>
                    <a:pt x="13694" y="2797"/>
                    <a:pt x="11701" y="2604"/>
                  </a:cubicBezTo>
                  <a:cubicBezTo>
                    <a:pt x="10705" y="2540"/>
                    <a:pt x="9708" y="2443"/>
                    <a:pt x="8937" y="2411"/>
                  </a:cubicBezTo>
                  <a:cubicBezTo>
                    <a:pt x="8133" y="2347"/>
                    <a:pt x="7555" y="2315"/>
                    <a:pt x="7330" y="2315"/>
                  </a:cubicBezTo>
                  <a:cubicBezTo>
                    <a:pt x="7169" y="2315"/>
                    <a:pt x="7008" y="2347"/>
                    <a:pt x="6848" y="2379"/>
                  </a:cubicBezTo>
                  <a:cubicBezTo>
                    <a:pt x="6205" y="2572"/>
                    <a:pt x="5208" y="2958"/>
                    <a:pt x="4212" y="3311"/>
                  </a:cubicBezTo>
                  <a:cubicBezTo>
                    <a:pt x="3261" y="3648"/>
                    <a:pt x="2282" y="3956"/>
                    <a:pt x="1691" y="3956"/>
                  </a:cubicBezTo>
                  <a:cubicBezTo>
                    <a:pt x="1663" y="3956"/>
                    <a:pt x="1635" y="3956"/>
                    <a:pt x="1608" y="3954"/>
                  </a:cubicBezTo>
                  <a:cubicBezTo>
                    <a:pt x="1570" y="3964"/>
                    <a:pt x="1533" y="3967"/>
                    <a:pt x="1497" y="3967"/>
                  </a:cubicBezTo>
                  <a:cubicBezTo>
                    <a:pt x="1410" y="3967"/>
                    <a:pt x="1332" y="3945"/>
                    <a:pt x="1287" y="3922"/>
                  </a:cubicBezTo>
                  <a:cubicBezTo>
                    <a:pt x="1029" y="3826"/>
                    <a:pt x="836" y="3697"/>
                    <a:pt x="708" y="3536"/>
                  </a:cubicBezTo>
                  <a:cubicBezTo>
                    <a:pt x="579" y="3408"/>
                    <a:pt x="547" y="3279"/>
                    <a:pt x="547" y="3151"/>
                  </a:cubicBezTo>
                  <a:cubicBezTo>
                    <a:pt x="547" y="3054"/>
                    <a:pt x="579" y="2990"/>
                    <a:pt x="676" y="2893"/>
                  </a:cubicBezTo>
                  <a:cubicBezTo>
                    <a:pt x="772" y="2797"/>
                    <a:pt x="933" y="2733"/>
                    <a:pt x="1222" y="2701"/>
                  </a:cubicBezTo>
                  <a:cubicBezTo>
                    <a:pt x="1608" y="2668"/>
                    <a:pt x="2026" y="2508"/>
                    <a:pt x="2508" y="2347"/>
                  </a:cubicBezTo>
                  <a:cubicBezTo>
                    <a:pt x="3763" y="1880"/>
                    <a:pt x="5230" y="1095"/>
                    <a:pt x="5513" y="930"/>
                  </a:cubicBezTo>
                  <a:lnTo>
                    <a:pt x="5513" y="930"/>
                  </a:lnTo>
                  <a:cubicBezTo>
                    <a:pt x="5579" y="926"/>
                    <a:pt x="5709" y="912"/>
                    <a:pt x="5883" y="868"/>
                  </a:cubicBezTo>
                  <a:cubicBezTo>
                    <a:pt x="6719" y="772"/>
                    <a:pt x="8615" y="547"/>
                    <a:pt x="10641" y="547"/>
                  </a:cubicBezTo>
                  <a:close/>
                  <a:moveTo>
                    <a:pt x="10641" y="0"/>
                  </a:moveTo>
                  <a:cubicBezTo>
                    <a:pt x="7876" y="0"/>
                    <a:pt x="5369" y="418"/>
                    <a:pt x="5369" y="418"/>
                  </a:cubicBezTo>
                  <a:lnTo>
                    <a:pt x="5305" y="450"/>
                  </a:lnTo>
                  <a:cubicBezTo>
                    <a:pt x="5305" y="450"/>
                    <a:pt x="5112" y="547"/>
                    <a:pt x="4822" y="708"/>
                  </a:cubicBezTo>
                  <a:cubicBezTo>
                    <a:pt x="4372" y="933"/>
                    <a:pt x="3697" y="1254"/>
                    <a:pt x="2990" y="1575"/>
                  </a:cubicBezTo>
                  <a:cubicBezTo>
                    <a:pt x="2315" y="1865"/>
                    <a:pt x="1608" y="2122"/>
                    <a:pt x="1158" y="2154"/>
                  </a:cubicBezTo>
                  <a:cubicBezTo>
                    <a:pt x="804" y="2218"/>
                    <a:pt x="515" y="2315"/>
                    <a:pt x="322" y="2475"/>
                  </a:cubicBezTo>
                  <a:cubicBezTo>
                    <a:pt x="97" y="2668"/>
                    <a:pt x="1" y="2926"/>
                    <a:pt x="1" y="3151"/>
                  </a:cubicBezTo>
                  <a:cubicBezTo>
                    <a:pt x="1" y="3440"/>
                    <a:pt x="129" y="3697"/>
                    <a:pt x="322" y="3890"/>
                  </a:cubicBezTo>
                  <a:cubicBezTo>
                    <a:pt x="483" y="4115"/>
                    <a:pt x="772" y="4308"/>
                    <a:pt x="1094" y="4436"/>
                  </a:cubicBezTo>
                  <a:cubicBezTo>
                    <a:pt x="1254" y="4501"/>
                    <a:pt x="1415" y="4501"/>
                    <a:pt x="1608" y="4501"/>
                  </a:cubicBezTo>
                  <a:cubicBezTo>
                    <a:pt x="2026" y="4501"/>
                    <a:pt x="2540" y="4404"/>
                    <a:pt x="3087" y="4243"/>
                  </a:cubicBezTo>
                  <a:cubicBezTo>
                    <a:pt x="3922" y="3986"/>
                    <a:pt x="4855" y="3633"/>
                    <a:pt x="5658" y="3343"/>
                  </a:cubicBezTo>
                  <a:cubicBezTo>
                    <a:pt x="6044" y="3215"/>
                    <a:pt x="6397" y="3086"/>
                    <a:pt x="6719" y="2990"/>
                  </a:cubicBezTo>
                  <a:cubicBezTo>
                    <a:pt x="7008" y="2893"/>
                    <a:pt x="7233" y="2829"/>
                    <a:pt x="7330" y="2829"/>
                  </a:cubicBezTo>
                  <a:cubicBezTo>
                    <a:pt x="7523" y="2829"/>
                    <a:pt x="8101" y="2893"/>
                    <a:pt x="8905" y="2926"/>
                  </a:cubicBezTo>
                  <a:cubicBezTo>
                    <a:pt x="11251" y="3118"/>
                    <a:pt x="15366" y="3472"/>
                    <a:pt x="16459" y="3568"/>
                  </a:cubicBezTo>
                  <a:lnTo>
                    <a:pt x="16684" y="3568"/>
                  </a:lnTo>
                  <a:cubicBezTo>
                    <a:pt x="17037" y="3568"/>
                    <a:pt x="17327" y="3504"/>
                    <a:pt x="17584" y="3343"/>
                  </a:cubicBezTo>
                  <a:cubicBezTo>
                    <a:pt x="17841" y="3183"/>
                    <a:pt x="18002" y="2926"/>
                    <a:pt x="18002" y="2604"/>
                  </a:cubicBezTo>
                  <a:cubicBezTo>
                    <a:pt x="18002" y="2443"/>
                    <a:pt x="17937" y="2250"/>
                    <a:pt x="17841" y="2058"/>
                  </a:cubicBezTo>
                  <a:cubicBezTo>
                    <a:pt x="17487" y="1543"/>
                    <a:pt x="16716" y="1029"/>
                    <a:pt x="15269" y="579"/>
                  </a:cubicBezTo>
                  <a:cubicBezTo>
                    <a:pt x="13887" y="129"/>
                    <a:pt x="12216" y="0"/>
                    <a:pt x="10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9"/>
            <p:cNvSpPr/>
            <p:nvPr/>
          </p:nvSpPr>
          <p:spPr>
            <a:xfrm>
              <a:off x="3583025" y="5056825"/>
              <a:ext cx="166300" cy="176575"/>
            </a:xfrm>
            <a:custGeom>
              <a:avLst/>
              <a:gdLst/>
              <a:ahLst/>
              <a:cxnLst/>
              <a:rect l="l" t="t" r="r" b="b"/>
              <a:pathLst>
                <a:path w="6652" h="7063" extrusionOk="0">
                  <a:moveTo>
                    <a:pt x="5113" y="0"/>
                  </a:moveTo>
                  <a:cubicBezTo>
                    <a:pt x="4439" y="0"/>
                    <a:pt x="3763" y="140"/>
                    <a:pt x="3598" y="665"/>
                  </a:cubicBezTo>
                  <a:cubicBezTo>
                    <a:pt x="3276" y="1791"/>
                    <a:pt x="94" y="6259"/>
                    <a:pt x="30" y="6676"/>
                  </a:cubicBezTo>
                  <a:cubicBezTo>
                    <a:pt x="0" y="6883"/>
                    <a:pt x="221" y="7063"/>
                    <a:pt x="591" y="7063"/>
                  </a:cubicBezTo>
                  <a:cubicBezTo>
                    <a:pt x="1026" y="7063"/>
                    <a:pt x="1666" y="6813"/>
                    <a:pt x="2344" y="6066"/>
                  </a:cubicBezTo>
                  <a:cubicBezTo>
                    <a:pt x="3630" y="4651"/>
                    <a:pt x="6652" y="183"/>
                    <a:pt x="6652" y="183"/>
                  </a:cubicBezTo>
                  <a:cubicBezTo>
                    <a:pt x="6652" y="183"/>
                    <a:pt x="5884" y="0"/>
                    <a:pt x="5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9"/>
            <p:cNvSpPr/>
            <p:nvPr/>
          </p:nvSpPr>
          <p:spPr>
            <a:xfrm>
              <a:off x="3576525" y="5050150"/>
              <a:ext cx="180025" cy="189675"/>
            </a:xfrm>
            <a:custGeom>
              <a:avLst/>
              <a:gdLst/>
              <a:ahLst/>
              <a:cxnLst/>
              <a:rect l="l" t="t" r="r" b="b"/>
              <a:pathLst>
                <a:path w="7201" h="7587" extrusionOk="0">
                  <a:moveTo>
                    <a:pt x="5401" y="515"/>
                  </a:moveTo>
                  <a:cubicBezTo>
                    <a:pt x="5754" y="515"/>
                    <a:pt x="6140" y="579"/>
                    <a:pt x="6397" y="611"/>
                  </a:cubicBezTo>
                  <a:cubicBezTo>
                    <a:pt x="6418" y="616"/>
                    <a:pt x="6439" y="621"/>
                    <a:pt x="6460" y="625"/>
                  </a:cubicBezTo>
                  <a:lnTo>
                    <a:pt x="6460" y="625"/>
                  </a:lnTo>
                  <a:cubicBezTo>
                    <a:pt x="6388" y="730"/>
                    <a:pt x="6302" y="856"/>
                    <a:pt x="6204" y="997"/>
                  </a:cubicBezTo>
                  <a:cubicBezTo>
                    <a:pt x="5754" y="1672"/>
                    <a:pt x="5047" y="2700"/>
                    <a:pt x="4308" y="3697"/>
                  </a:cubicBezTo>
                  <a:cubicBezTo>
                    <a:pt x="3601" y="4693"/>
                    <a:pt x="2894" y="5658"/>
                    <a:pt x="2411" y="6140"/>
                  </a:cubicBezTo>
                  <a:cubicBezTo>
                    <a:pt x="1768" y="6879"/>
                    <a:pt x="1190" y="7072"/>
                    <a:pt x="836" y="7072"/>
                  </a:cubicBezTo>
                  <a:cubicBezTo>
                    <a:pt x="708" y="7072"/>
                    <a:pt x="611" y="7040"/>
                    <a:pt x="579" y="7008"/>
                  </a:cubicBezTo>
                  <a:lnTo>
                    <a:pt x="556" y="6985"/>
                  </a:lnTo>
                  <a:lnTo>
                    <a:pt x="556" y="6985"/>
                  </a:lnTo>
                  <a:cubicBezTo>
                    <a:pt x="578" y="6935"/>
                    <a:pt x="633" y="6811"/>
                    <a:pt x="708" y="6686"/>
                  </a:cubicBezTo>
                  <a:cubicBezTo>
                    <a:pt x="1061" y="6108"/>
                    <a:pt x="1833" y="4918"/>
                    <a:pt x="2540" y="3793"/>
                  </a:cubicBezTo>
                  <a:cubicBezTo>
                    <a:pt x="2926" y="3215"/>
                    <a:pt x="3279" y="2668"/>
                    <a:pt x="3536" y="2186"/>
                  </a:cubicBezTo>
                  <a:cubicBezTo>
                    <a:pt x="3826" y="1704"/>
                    <a:pt x="4019" y="1286"/>
                    <a:pt x="4115" y="997"/>
                  </a:cubicBezTo>
                  <a:cubicBezTo>
                    <a:pt x="4147" y="932"/>
                    <a:pt x="4179" y="868"/>
                    <a:pt x="4276" y="804"/>
                  </a:cubicBezTo>
                  <a:cubicBezTo>
                    <a:pt x="4372" y="707"/>
                    <a:pt x="4533" y="643"/>
                    <a:pt x="4726" y="579"/>
                  </a:cubicBezTo>
                  <a:cubicBezTo>
                    <a:pt x="4919" y="547"/>
                    <a:pt x="5176" y="515"/>
                    <a:pt x="5401" y="515"/>
                  </a:cubicBezTo>
                  <a:close/>
                  <a:moveTo>
                    <a:pt x="5401" y="0"/>
                  </a:moveTo>
                  <a:cubicBezTo>
                    <a:pt x="5047" y="0"/>
                    <a:pt x="4661" y="32"/>
                    <a:pt x="4340" y="161"/>
                  </a:cubicBezTo>
                  <a:cubicBezTo>
                    <a:pt x="4179" y="193"/>
                    <a:pt x="4019" y="290"/>
                    <a:pt x="3890" y="418"/>
                  </a:cubicBezTo>
                  <a:cubicBezTo>
                    <a:pt x="3761" y="515"/>
                    <a:pt x="3665" y="675"/>
                    <a:pt x="3601" y="868"/>
                  </a:cubicBezTo>
                  <a:cubicBezTo>
                    <a:pt x="3536" y="1093"/>
                    <a:pt x="3279" y="1575"/>
                    <a:pt x="2958" y="2154"/>
                  </a:cubicBezTo>
                  <a:cubicBezTo>
                    <a:pt x="2444" y="3022"/>
                    <a:pt x="1736" y="4115"/>
                    <a:pt x="1126" y="5015"/>
                  </a:cubicBezTo>
                  <a:cubicBezTo>
                    <a:pt x="836" y="5465"/>
                    <a:pt x="579" y="5883"/>
                    <a:pt x="386" y="6204"/>
                  </a:cubicBezTo>
                  <a:cubicBezTo>
                    <a:pt x="290" y="6365"/>
                    <a:pt x="226" y="6493"/>
                    <a:pt x="161" y="6590"/>
                  </a:cubicBezTo>
                  <a:cubicBezTo>
                    <a:pt x="129" y="6654"/>
                    <a:pt x="97" y="6718"/>
                    <a:pt x="65" y="6751"/>
                  </a:cubicBezTo>
                  <a:cubicBezTo>
                    <a:pt x="65" y="6815"/>
                    <a:pt x="33" y="6847"/>
                    <a:pt x="33" y="6911"/>
                  </a:cubicBezTo>
                  <a:lnTo>
                    <a:pt x="33" y="7008"/>
                  </a:lnTo>
                  <a:cubicBezTo>
                    <a:pt x="1" y="7201"/>
                    <a:pt x="129" y="7361"/>
                    <a:pt x="290" y="7458"/>
                  </a:cubicBezTo>
                  <a:cubicBezTo>
                    <a:pt x="451" y="7554"/>
                    <a:pt x="643" y="7586"/>
                    <a:pt x="836" y="7586"/>
                  </a:cubicBezTo>
                  <a:cubicBezTo>
                    <a:pt x="1383" y="7586"/>
                    <a:pt x="2090" y="7297"/>
                    <a:pt x="2829" y="6526"/>
                  </a:cubicBezTo>
                  <a:cubicBezTo>
                    <a:pt x="3472" y="5786"/>
                    <a:pt x="4533" y="4308"/>
                    <a:pt x="5465" y="3022"/>
                  </a:cubicBezTo>
                  <a:cubicBezTo>
                    <a:pt x="6397" y="1704"/>
                    <a:pt x="7137" y="579"/>
                    <a:pt x="7137" y="579"/>
                  </a:cubicBezTo>
                  <a:cubicBezTo>
                    <a:pt x="7201" y="515"/>
                    <a:pt x="7201" y="418"/>
                    <a:pt x="7169" y="322"/>
                  </a:cubicBezTo>
                  <a:cubicBezTo>
                    <a:pt x="7137" y="257"/>
                    <a:pt x="7072" y="193"/>
                    <a:pt x="6976" y="161"/>
                  </a:cubicBezTo>
                  <a:cubicBezTo>
                    <a:pt x="6976" y="161"/>
                    <a:pt x="6204" y="0"/>
                    <a:pt x="5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9"/>
            <p:cNvSpPr/>
            <p:nvPr/>
          </p:nvSpPr>
          <p:spPr>
            <a:xfrm>
              <a:off x="3610275" y="5040500"/>
              <a:ext cx="192900" cy="215600"/>
            </a:xfrm>
            <a:custGeom>
              <a:avLst/>
              <a:gdLst/>
              <a:ahLst/>
              <a:cxnLst/>
              <a:rect l="l" t="t" r="r" b="b"/>
              <a:pathLst>
                <a:path w="7716" h="8624" extrusionOk="0">
                  <a:moveTo>
                    <a:pt x="5677" y="1"/>
                  </a:moveTo>
                  <a:cubicBezTo>
                    <a:pt x="5244" y="1"/>
                    <a:pt x="4854" y="65"/>
                    <a:pt x="4662" y="258"/>
                  </a:cubicBezTo>
                  <a:cubicBezTo>
                    <a:pt x="4083" y="836"/>
                    <a:pt x="1" y="7683"/>
                    <a:pt x="1" y="8262"/>
                  </a:cubicBezTo>
                  <a:cubicBezTo>
                    <a:pt x="1" y="8551"/>
                    <a:pt x="402" y="8623"/>
                    <a:pt x="804" y="8623"/>
                  </a:cubicBezTo>
                  <a:cubicBezTo>
                    <a:pt x="1206" y="8623"/>
                    <a:pt x="1608" y="8551"/>
                    <a:pt x="1608" y="8551"/>
                  </a:cubicBezTo>
                  <a:lnTo>
                    <a:pt x="6269" y="2154"/>
                  </a:lnTo>
                  <a:lnTo>
                    <a:pt x="7715" y="836"/>
                  </a:lnTo>
                  <a:lnTo>
                    <a:pt x="7587" y="258"/>
                  </a:lnTo>
                  <a:cubicBezTo>
                    <a:pt x="7587" y="258"/>
                    <a:pt x="6544" y="1"/>
                    <a:pt x="56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9"/>
            <p:cNvSpPr/>
            <p:nvPr/>
          </p:nvSpPr>
          <p:spPr>
            <a:xfrm>
              <a:off x="3603850" y="5033275"/>
              <a:ext cx="206550" cy="229050"/>
            </a:xfrm>
            <a:custGeom>
              <a:avLst/>
              <a:gdLst/>
              <a:ahLst/>
              <a:cxnLst/>
              <a:rect l="l" t="t" r="r" b="b"/>
              <a:pathLst>
                <a:path w="8262" h="9162" extrusionOk="0">
                  <a:moveTo>
                    <a:pt x="5947" y="547"/>
                  </a:moveTo>
                  <a:cubicBezTo>
                    <a:pt x="6333" y="547"/>
                    <a:pt x="6815" y="611"/>
                    <a:pt x="7169" y="675"/>
                  </a:cubicBezTo>
                  <a:cubicBezTo>
                    <a:pt x="7329" y="707"/>
                    <a:pt x="7490" y="740"/>
                    <a:pt x="7587" y="772"/>
                  </a:cubicBezTo>
                  <a:cubicBezTo>
                    <a:pt x="7600" y="772"/>
                    <a:pt x="7612" y="772"/>
                    <a:pt x="7624" y="773"/>
                  </a:cubicBezTo>
                  <a:lnTo>
                    <a:pt x="7624" y="773"/>
                  </a:lnTo>
                  <a:lnTo>
                    <a:pt x="7683" y="1029"/>
                  </a:lnTo>
                  <a:lnTo>
                    <a:pt x="6333" y="2218"/>
                  </a:lnTo>
                  <a:lnTo>
                    <a:pt x="6301" y="2283"/>
                  </a:lnTo>
                  <a:lnTo>
                    <a:pt x="1700" y="8597"/>
                  </a:lnTo>
                  <a:lnTo>
                    <a:pt x="1700" y="8597"/>
                  </a:lnTo>
                  <a:cubicBezTo>
                    <a:pt x="1552" y="8624"/>
                    <a:pt x="1307" y="8647"/>
                    <a:pt x="1061" y="8647"/>
                  </a:cubicBezTo>
                  <a:cubicBezTo>
                    <a:pt x="868" y="8647"/>
                    <a:pt x="708" y="8615"/>
                    <a:pt x="611" y="8583"/>
                  </a:cubicBezTo>
                  <a:cubicBezTo>
                    <a:pt x="547" y="8583"/>
                    <a:pt x="515" y="8551"/>
                    <a:pt x="515" y="8551"/>
                  </a:cubicBezTo>
                  <a:cubicBezTo>
                    <a:pt x="515" y="8551"/>
                    <a:pt x="547" y="8486"/>
                    <a:pt x="579" y="8390"/>
                  </a:cubicBezTo>
                  <a:cubicBezTo>
                    <a:pt x="708" y="8101"/>
                    <a:pt x="1029" y="7458"/>
                    <a:pt x="1447" y="6718"/>
                  </a:cubicBezTo>
                  <a:cubicBezTo>
                    <a:pt x="2058" y="5593"/>
                    <a:pt x="2893" y="4179"/>
                    <a:pt x="3601" y="3022"/>
                  </a:cubicBezTo>
                  <a:cubicBezTo>
                    <a:pt x="3954" y="2411"/>
                    <a:pt x="4308" y="1897"/>
                    <a:pt x="4565" y="1479"/>
                  </a:cubicBezTo>
                  <a:cubicBezTo>
                    <a:pt x="4694" y="1286"/>
                    <a:pt x="4822" y="1093"/>
                    <a:pt x="4919" y="965"/>
                  </a:cubicBezTo>
                  <a:cubicBezTo>
                    <a:pt x="5015" y="836"/>
                    <a:pt x="5079" y="740"/>
                    <a:pt x="5111" y="740"/>
                  </a:cubicBezTo>
                  <a:cubicBezTo>
                    <a:pt x="5144" y="675"/>
                    <a:pt x="5240" y="643"/>
                    <a:pt x="5401" y="579"/>
                  </a:cubicBezTo>
                  <a:cubicBezTo>
                    <a:pt x="5561" y="547"/>
                    <a:pt x="5722" y="547"/>
                    <a:pt x="5947" y="547"/>
                  </a:cubicBezTo>
                  <a:close/>
                  <a:moveTo>
                    <a:pt x="5947" y="0"/>
                  </a:moveTo>
                  <a:cubicBezTo>
                    <a:pt x="5722" y="0"/>
                    <a:pt x="5497" y="32"/>
                    <a:pt x="5272" y="65"/>
                  </a:cubicBezTo>
                  <a:cubicBezTo>
                    <a:pt x="5079" y="129"/>
                    <a:pt x="4886" y="193"/>
                    <a:pt x="4726" y="354"/>
                  </a:cubicBezTo>
                  <a:cubicBezTo>
                    <a:pt x="4629" y="450"/>
                    <a:pt x="4501" y="611"/>
                    <a:pt x="4340" y="868"/>
                  </a:cubicBezTo>
                  <a:cubicBezTo>
                    <a:pt x="3729" y="1736"/>
                    <a:pt x="2668" y="3504"/>
                    <a:pt x="1736" y="5111"/>
                  </a:cubicBezTo>
                  <a:cubicBezTo>
                    <a:pt x="1286" y="5915"/>
                    <a:pt x="836" y="6654"/>
                    <a:pt x="515" y="7265"/>
                  </a:cubicBezTo>
                  <a:cubicBezTo>
                    <a:pt x="386" y="7586"/>
                    <a:pt x="258" y="7844"/>
                    <a:pt x="161" y="8036"/>
                  </a:cubicBezTo>
                  <a:cubicBezTo>
                    <a:pt x="97" y="8133"/>
                    <a:pt x="65" y="8229"/>
                    <a:pt x="33" y="8294"/>
                  </a:cubicBezTo>
                  <a:cubicBezTo>
                    <a:pt x="33" y="8390"/>
                    <a:pt x="0" y="8454"/>
                    <a:pt x="0" y="8551"/>
                  </a:cubicBezTo>
                  <a:cubicBezTo>
                    <a:pt x="0" y="8679"/>
                    <a:pt x="33" y="8808"/>
                    <a:pt x="129" y="8904"/>
                  </a:cubicBezTo>
                  <a:cubicBezTo>
                    <a:pt x="258" y="9033"/>
                    <a:pt x="418" y="9097"/>
                    <a:pt x="579" y="9129"/>
                  </a:cubicBezTo>
                  <a:cubicBezTo>
                    <a:pt x="740" y="9161"/>
                    <a:pt x="900" y="9161"/>
                    <a:pt x="1061" y="9161"/>
                  </a:cubicBezTo>
                  <a:cubicBezTo>
                    <a:pt x="1479" y="9161"/>
                    <a:pt x="1897" y="9097"/>
                    <a:pt x="1897" y="9097"/>
                  </a:cubicBezTo>
                  <a:cubicBezTo>
                    <a:pt x="1993" y="9097"/>
                    <a:pt x="2026" y="9065"/>
                    <a:pt x="2090" y="9001"/>
                  </a:cubicBezTo>
                  <a:lnTo>
                    <a:pt x="6719" y="2604"/>
                  </a:lnTo>
                  <a:lnTo>
                    <a:pt x="8165" y="1318"/>
                  </a:lnTo>
                  <a:cubicBezTo>
                    <a:pt x="8229" y="1254"/>
                    <a:pt x="8262" y="1157"/>
                    <a:pt x="8229" y="1061"/>
                  </a:cubicBezTo>
                  <a:lnTo>
                    <a:pt x="8101" y="482"/>
                  </a:lnTo>
                  <a:cubicBezTo>
                    <a:pt x="8069" y="386"/>
                    <a:pt x="8004" y="290"/>
                    <a:pt x="7908" y="290"/>
                  </a:cubicBezTo>
                  <a:cubicBezTo>
                    <a:pt x="7876" y="290"/>
                    <a:pt x="6847" y="0"/>
                    <a:pt x="59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9"/>
            <p:cNvSpPr/>
            <p:nvPr/>
          </p:nvSpPr>
          <p:spPr>
            <a:xfrm>
              <a:off x="3636000" y="5039525"/>
              <a:ext cx="1332400" cy="269500"/>
            </a:xfrm>
            <a:custGeom>
              <a:avLst/>
              <a:gdLst/>
              <a:ahLst/>
              <a:cxnLst/>
              <a:rect l="l" t="t" r="r" b="b"/>
              <a:pathLst>
                <a:path w="53296" h="10780" extrusionOk="0">
                  <a:moveTo>
                    <a:pt x="46653" y="1"/>
                  </a:moveTo>
                  <a:cubicBezTo>
                    <a:pt x="43579" y="1"/>
                    <a:pt x="31909" y="2616"/>
                    <a:pt x="27098" y="2772"/>
                  </a:cubicBezTo>
                  <a:cubicBezTo>
                    <a:pt x="25320" y="2818"/>
                    <a:pt x="23625" y="2847"/>
                    <a:pt x="22132" y="2847"/>
                  </a:cubicBezTo>
                  <a:cubicBezTo>
                    <a:pt x="19441" y="2847"/>
                    <a:pt x="17409" y="2751"/>
                    <a:pt x="16747" y="2483"/>
                  </a:cubicBezTo>
                  <a:cubicBezTo>
                    <a:pt x="15719" y="2033"/>
                    <a:pt x="7136" y="297"/>
                    <a:pt x="6558" y="297"/>
                  </a:cubicBezTo>
                  <a:cubicBezTo>
                    <a:pt x="5979" y="297"/>
                    <a:pt x="0" y="8590"/>
                    <a:pt x="0" y="8590"/>
                  </a:cubicBezTo>
                  <a:cubicBezTo>
                    <a:pt x="0" y="8590"/>
                    <a:pt x="186" y="9047"/>
                    <a:pt x="662" y="9047"/>
                  </a:cubicBezTo>
                  <a:cubicBezTo>
                    <a:pt x="900" y="9047"/>
                    <a:pt x="1211" y="8933"/>
                    <a:pt x="1607" y="8590"/>
                  </a:cubicBezTo>
                  <a:cubicBezTo>
                    <a:pt x="2765" y="7561"/>
                    <a:pt x="6558" y="4058"/>
                    <a:pt x="6558" y="4058"/>
                  </a:cubicBezTo>
                  <a:lnTo>
                    <a:pt x="10769" y="4058"/>
                  </a:lnTo>
                  <a:cubicBezTo>
                    <a:pt x="10769" y="4058"/>
                    <a:pt x="6847" y="6404"/>
                    <a:pt x="6268" y="6854"/>
                  </a:cubicBezTo>
                  <a:cubicBezTo>
                    <a:pt x="5690" y="7272"/>
                    <a:pt x="3343" y="9747"/>
                    <a:pt x="3922" y="9908"/>
                  </a:cubicBezTo>
                  <a:cubicBezTo>
                    <a:pt x="3936" y="9911"/>
                    <a:pt x="3951" y="9913"/>
                    <a:pt x="3968" y="9913"/>
                  </a:cubicBezTo>
                  <a:cubicBezTo>
                    <a:pt x="4646" y="9913"/>
                    <a:pt x="7554" y="7433"/>
                    <a:pt x="7554" y="7433"/>
                  </a:cubicBezTo>
                  <a:lnTo>
                    <a:pt x="11926" y="6243"/>
                  </a:lnTo>
                  <a:cubicBezTo>
                    <a:pt x="11926" y="6243"/>
                    <a:pt x="15140" y="8301"/>
                    <a:pt x="18065" y="8429"/>
                  </a:cubicBezTo>
                  <a:cubicBezTo>
                    <a:pt x="18311" y="8443"/>
                    <a:pt x="18551" y="8449"/>
                    <a:pt x="18785" y="8449"/>
                  </a:cubicBezTo>
                  <a:cubicBezTo>
                    <a:pt x="21313" y="8449"/>
                    <a:pt x="23144" y="7722"/>
                    <a:pt x="23144" y="7722"/>
                  </a:cubicBezTo>
                  <a:cubicBezTo>
                    <a:pt x="23144" y="7722"/>
                    <a:pt x="39389" y="10780"/>
                    <a:pt x="48933" y="10780"/>
                  </a:cubicBezTo>
                  <a:cubicBezTo>
                    <a:pt x="49126" y="10780"/>
                    <a:pt x="49316" y="10778"/>
                    <a:pt x="49503" y="10776"/>
                  </a:cubicBezTo>
                  <a:cubicBezTo>
                    <a:pt x="49503" y="10776"/>
                    <a:pt x="52717" y="10487"/>
                    <a:pt x="53006" y="6983"/>
                  </a:cubicBezTo>
                  <a:cubicBezTo>
                    <a:pt x="53296" y="3479"/>
                    <a:pt x="49503" y="136"/>
                    <a:pt x="46899" y="7"/>
                  </a:cubicBezTo>
                  <a:cubicBezTo>
                    <a:pt x="46825" y="3"/>
                    <a:pt x="46743" y="1"/>
                    <a:pt x="466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9"/>
            <p:cNvSpPr/>
            <p:nvPr/>
          </p:nvSpPr>
          <p:spPr>
            <a:xfrm>
              <a:off x="3628750" y="5032475"/>
              <a:ext cx="1339650" cy="282875"/>
            </a:xfrm>
            <a:custGeom>
              <a:avLst/>
              <a:gdLst/>
              <a:ahLst/>
              <a:cxnLst/>
              <a:rect l="l" t="t" r="r" b="b"/>
              <a:pathLst>
                <a:path w="53586" h="11315" extrusionOk="0">
                  <a:moveTo>
                    <a:pt x="47157" y="547"/>
                  </a:moveTo>
                  <a:cubicBezTo>
                    <a:pt x="48314" y="611"/>
                    <a:pt x="49825" y="1382"/>
                    <a:pt x="51014" y="2572"/>
                  </a:cubicBezTo>
                  <a:cubicBezTo>
                    <a:pt x="52171" y="3729"/>
                    <a:pt x="53039" y="5304"/>
                    <a:pt x="53039" y="6879"/>
                  </a:cubicBezTo>
                  <a:cubicBezTo>
                    <a:pt x="53039" y="7008"/>
                    <a:pt x="53039" y="7136"/>
                    <a:pt x="53039" y="7233"/>
                  </a:cubicBezTo>
                  <a:cubicBezTo>
                    <a:pt x="52879" y="8904"/>
                    <a:pt x="52075" y="9772"/>
                    <a:pt x="51304" y="10254"/>
                  </a:cubicBezTo>
                  <a:cubicBezTo>
                    <a:pt x="50918" y="10479"/>
                    <a:pt x="50532" y="10608"/>
                    <a:pt x="50243" y="10704"/>
                  </a:cubicBezTo>
                  <a:cubicBezTo>
                    <a:pt x="50082" y="10736"/>
                    <a:pt x="49986" y="10769"/>
                    <a:pt x="49889" y="10769"/>
                  </a:cubicBezTo>
                  <a:lnTo>
                    <a:pt x="49793" y="10769"/>
                  </a:lnTo>
                  <a:lnTo>
                    <a:pt x="49761" y="10801"/>
                  </a:lnTo>
                  <a:lnTo>
                    <a:pt x="49150" y="10801"/>
                  </a:lnTo>
                  <a:cubicBezTo>
                    <a:pt x="44392" y="10801"/>
                    <a:pt x="37964" y="10029"/>
                    <a:pt x="32756" y="9258"/>
                  </a:cubicBezTo>
                  <a:cubicBezTo>
                    <a:pt x="30152" y="8872"/>
                    <a:pt x="27806" y="8486"/>
                    <a:pt x="26167" y="8197"/>
                  </a:cubicBezTo>
                  <a:cubicBezTo>
                    <a:pt x="25331" y="8068"/>
                    <a:pt x="24656" y="7940"/>
                    <a:pt x="24206" y="7876"/>
                  </a:cubicBezTo>
                  <a:cubicBezTo>
                    <a:pt x="23756" y="7779"/>
                    <a:pt x="23499" y="7747"/>
                    <a:pt x="23499" y="7747"/>
                  </a:cubicBezTo>
                  <a:cubicBezTo>
                    <a:pt x="23466" y="7731"/>
                    <a:pt x="23442" y="7723"/>
                    <a:pt x="23418" y="7723"/>
                  </a:cubicBezTo>
                  <a:cubicBezTo>
                    <a:pt x="23394" y="7723"/>
                    <a:pt x="23370" y="7731"/>
                    <a:pt x="23338" y="7747"/>
                  </a:cubicBezTo>
                  <a:cubicBezTo>
                    <a:pt x="23145" y="7811"/>
                    <a:pt x="21377" y="8486"/>
                    <a:pt x="18998" y="8486"/>
                  </a:cubicBezTo>
                  <a:cubicBezTo>
                    <a:pt x="18805" y="8486"/>
                    <a:pt x="18580" y="8454"/>
                    <a:pt x="18355" y="8454"/>
                  </a:cubicBezTo>
                  <a:cubicBezTo>
                    <a:pt x="16941" y="8390"/>
                    <a:pt x="15462" y="7843"/>
                    <a:pt x="14305" y="7329"/>
                  </a:cubicBezTo>
                  <a:cubicBezTo>
                    <a:pt x="13727" y="7072"/>
                    <a:pt x="13244" y="6815"/>
                    <a:pt x="12891" y="6622"/>
                  </a:cubicBezTo>
                  <a:cubicBezTo>
                    <a:pt x="12730" y="6525"/>
                    <a:pt x="12602" y="6461"/>
                    <a:pt x="12505" y="6397"/>
                  </a:cubicBezTo>
                  <a:cubicBezTo>
                    <a:pt x="12409" y="6333"/>
                    <a:pt x="12377" y="6300"/>
                    <a:pt x="12377" y="6300"/>
                  </a:cubicBezTo>
                  <a:cubicBezTo>
                    <a:pt x="12312" y="6268"/>
                    <a:pt x="12216" y="6268"/>
                    <a:pt x="12152" y="6268"/>
                  </a:cubicBezTo>
                  <a:lnTo>
                    <a:pt x="7780" y="7458"/>
                  </a:lnTo>
                  <a:lnTo>
                    <a:pt x="7683" y="7490"/>
                  </a:lnTo>
                  <a:cubicBezTo>
                    <a:pt x="7683" y="7490"/>
                    <a:pt x="7491" y="7650"/>
                    <a:pt x="7233" y="7876"/>
                  </a:cubicBezTo>
                  <a:cubicBezTo>
                    <a:pt x="6816" y="8229"/>
                    <a:pt x="6141" y="8743"/>
                    <a:pt x="5562" y="9193"/>
                  </a:cubicBezTo>
                  <a:cubicBezTo>
                    <a:pt x="5240" y="9386"/>
                    <a:pt x="4951" y="9579"/>
                    <a:pt x="4726" y="9708"/>
                  </a:cubicBezTo>
                  <a:cubicBezTo>
                    <a:pt x="4624" y="9784"/>
                    <a:pt x="4543" y="9820"/>
                    <a:pt x="4465" y="9848"/>
                  </a:cubicBezTo>
                  <a:lnTo>
                    <a:pt x="4465" y="9848"/>
                  </a:lnTo>
                  <a:cubicBezTo>
                    <a:pt x="4466" y="9844"/>
                    <a:pt x="4468" y="9840"/>
                    <a:pt x="4469" y="9836"/>
                  </a:cubicBezTo>
                  <a:cubicBezTo>
                    <a:pt x="4662" y="9515"/>
                    <a:pt x="5144" y="8936"/>
                    <a:pt x="5594" y="8422"/>
                  </a:cubicBezTo>
                  <a:cubicBezTo>
                    <a:pt x="5819" y="8197"/>
                    <a:pt x="6044" y="7940"/>
                    <a:pt x="6237" y="7747"/>
                  </a:cubicBezTo>
                  <a:cubicBezTo>
                    <a:pt x="6462" y="7554"/>
                    <a:pt x="6623" y="7393"/>
                    <a:pt x="6719" y="7329"/>
                  </a:cubicBezTo>
                  <a:cubicBezTo>
                    <a:pt x="6848" y="7233"/>
                    <a:pt x="7201" y="7008"/>
                    <a:pt x="7651" y="6718"/>
                  </a:cubicBezTo>
                  <a:cubicBezTo>
                    <a:pt x="8326" y="6300"/>
                    <a:pt x="9194" y="5786"/>
                    <a:pt x="9934" y="5336"/>
                  </a:cubicBezTo>
                  <a:cubicBezTo>
                    <a:pt x="10641" y="4918"/>
                    <a:pt x="11187" y="4597"/>
                    <a:pt x="11187" y="4597"/>
                  </a:cubicBezTo>
                  <a:cubicBezTo>
                    <a:pt x="11316" y="4532"/>
                    <a:pt x="11348" y="4404"/>
                    <a:pt x="11316" y="4275"/>
                  </a:cubicBezTo>
                  <a:cubicBezTo>
                    <a:pt x="11284" y="4179"/>
                    <a:pt x="11187" y="4082"/>
                    <a:pt x="11059" y="4082"/>
                  </a:cubicBezTo>
                  <a:lnTo>
                    <a:pt x="6848" y="4082"/>
                  </a:lnTo>
                  <a:cubicBezTo>
                    <a:pt x="6783" y="4082"/>
                    <a:pt x="6719" y="4115"/>
                    <a:pt x="6655" y="4147"/>
                  </a:cubicBezTo>
                  <a:cubicBezTo>
                    <a:pt x="6655" y="4147"/>
                    <a:pt x="6430" y="4372"/>
                    <a:pt x="6044" y="4725"/>
                  </a:cubicBezTo>
                  <a:cubicBezTo>
                    <a:pt x="4919" y="5754"/>
                    <a:pt x="2572" y="7908"/>
                    <a:pt x="1705" y="8679"/>
                  </a:cubicBezTo>
                  <a:cubicBezTo>
                    <a:pt x="1351" y="8968"/>
                    <a:pt x="1094" y="9065"/>
                    <a:pt x="965" y="9065"/>
                  </a:cubicBezTo>
                  <a:cubicBezTo>
                    <a:pt x="805" y="9065"/>
                    <a:pt x="708" y="9001"/>
                    <a:pt x="644" y="8904"/>
                  </a:cubicBezTo>
                  <a:lnTo>
                    <a:pt x="621" y="8881"/>
                  </a:lnTo>
                  <a:lnTo>
                    <a:pt x="621" y="8881"/>
                  </a:lnTo>
                  <a:cubicBezTo>
                    <a:pt x="766" y="8672"/>
                    <a:pt x="1055" y="8260"/>
                    <a:pt x="1447" y="7715"/>
                  </a:cubicBezTo>
                  <a:cubicBezTo>
                    <a:pt x="2283" y="6558"/>
                    <a:pt x="3601" y="4822"/>
                    <a:pt x="4726" y="3343"/>
                  </a:cubicBezTo>
                  <a:cubicBezTo>
                    <a:pt x="5273" y="2636"/>
                    <a:pt x="5819" y="1961"/>
                    <a:pt x="6205" y="1511"/>
                  </a:cubicBezTo>
                  <a:cubicBezTo>
                    <a:pt x="6430" y="1286"/>
                    <a:pt x="6591" y="1093"/>
                    <a:pt x="6719" y="964"/>
                  </a:cubicBezTo>
                  <a:cubicBezTo>
                    <a:pt x="6782" y="902"/>
                    <a:pt x="6845" y="869"/>
                    <a:pt x="6878" y="838"/>
                  </a:cubicBezTo>
                  <a:lnTo>
                    <a:pt x="6878" y="838"/>
                  </a:lnTo>
                  <a:cubicBezTo>
                    <a:pt x="6906" y="841"/>
                    <a:pt x="6951" y="849"/>
                    <a:pt x="7008" y="868"/>
                  </a:cubicBezTo>
                  <a:cubicBezTo>
                    <a:pt x="7683" y="932"/>
                    <a:pt x="9966" y="1382"/>
                    <a:pt x="12152" y="1864"/>
                  </a:cubicBezTo>
                  <a:cubicBezTo>
                    <a:pt x="13244" y="2089"/>
                    <a:pt x="14337" y="2315"/>
                    <a:pt x="15205" y="2540"/>
                  </a:cubicBezTo>
                  <a:cubicBezTo>
                    <a:pt x="15655" y="2636"/>
                    <a:pt x="16009" y="2732"/>
                    <a:pt x="16330" y="2797"/>
                  </a:cubicBezTo>
                  <a:cubicBezTo>
                    <a:pt x="16620" y="2893"/>
                    <a:pt x="16845" y="2957"/>
                    <a:pt x="16941" y="2990"/>
                  </a:cubicBezTo>
                  <a:cubicBezTo>
                    <a:pt x="17134" y="3086"/>
                    <a:pt x="17391" y="3150"/>
                    <a:pt x="17713" y="3182"/>
                  </a:cubicBezTo>
                  <a:cubicBezTo>
                    <a:pt x="18709" y="3343"/>
                    <a:pt x="20316" y="3407"/>
                    <a:pt x="22309" y="3407"/>
                  </a:cubicBezTo>
                  <a:cubicBezTo>
                    <a:pt x="23820" y="3407"/>
                    <a:pt x="25556" y="3375"/>
                    <a:pt x="27388" y="3311"/>
                  </a:cubicBezTo>
                  <a:cubicBezTo>
                    <a:pt x="29831" y="3247"/>
                    <a:pt x="33978" y="2540"/>
                    <a:pt x="37899" y="1864"/>
                  </a:cubicBezTo>
                  <a:cubicBezTo>
                    <a:pt x="39860" y="1543"/>
                    <a:pt x="41757" y="1189"/>
                    <a:pt x="43332" y="964"/>
                  </a:cubicBezTo>
                  <a:cubicBezTo>
                    <a:pt x="44939" y="707"/>
                    <a:pt x="46225" y="547"/>
                    <a:pt x="46964" y="547"/>
                  </a:cubicBezTo>
                  <a:close/>
                  <a:moveTo>
                    <a:pt x="46964" y="0"/>
                  </a:moveTo>
                  <a:cubicBezTo>
                    <a:pt x="46160" y="0"/>
                    <a:pt x="44875" y="161"/>
                    <a:pt x="43267" y="418"/>
                  </a:cubicBezTo>
                  <a:cubicBezTo>
                    <a:pt x="40857" y="804"/>
                    <a:pt x="37771" y="1350"/>
                    <a:pt x="34846" y="1832"/>
                  </a:cubicBezTo>
                  <a:cubicBezTo>
                    <a:pt x="31920" y="2315"/>
                    <a:pt x="29156" y="2732"/>
                    <a:pt x="27356" y="2765"/>
                  </a:cubicBezTo>
                  <a:cubicBezTo>
                    <a:pt x="25556" y="2829"/>
                    <a:pt x="23820" y="2861"/>
                    <a:pt x="22309" y="2861"/>
                  </a:cubicBezTo>
                  <a:cubicBezTo>
                    <a:pt x="20991" y="2861"/>
                    <a:pt x="19834" y="2829"/>
                    <a:pt x="18934" y="2765"/>
                  </a:cubicBezTo>
                  <a:cubicBezTo>
                    <a:pt x="18484" y="2732"/>
                    <a:pt x="18098" y="2700"/>
                    <a:pt x="17809" y="2668"/>
                  </a:cubicBezTo>
                  <a:cubicBezTo>
                    <a:pt x="17488" y="2604"/>
                    <a:pt x="17263" y="2572"/>
                    <a:pt x="17134" y="2507"/>
                  </a:cubicBezTo>
                  <a:cubicBezTo>
                    <a:pt x="16973" y="2443"/>
                    <a:pt x="16748" y="2379"/>
                    <a:pt x="16395" y="2282"/>
                  </a:cubicBezTo>
                  <a:cubicBezTo>
                    <a:pt x="15205" y="1961"/>
                    <a:pt x="12955" y="1479"/>
                    <a:pt x="10962" y="1061"/>
                  </a:cubicBezTo>
                  <a:cubicBezTo>
                    <a:pt x="9934" y="836"/>
                    <a:pt x="9001" y="643"/>
                    <a:pt x="8262" y="514"/>
                  </a:cubicBezTo>
                  <a:cubicBezTo>
                    <a:pt x="7876" y="450"/>
                    <a:pt x="7587" y="386"/>
                    <a:pt x="7330" y="354"/>
                  </a:cubicBezTo>
                  <a:cubicBezTo>
                    <a:pt x="7105" y="322"/>
                    <a:pt x="6944" y="289"/>
                    <a:pt x="6848" y="289"/>
                  </a:cubicBezTo>
                  <a:cubicBezTo>
                    <a:pt x="6751" y="289"/>
                    <a:pt x="6687" y="322"/>
                    <a:pt x="6623" y="354"/>
                  </a:cubicBezTo>
                  <a:cubicBezTo>
                    <a:pt x="6558" y="418"/>
                    <a:pt x="6462" y="482"/>
                    <a:pt x="6366" y="579"/>
                  </a:cubicBezTo>
                  <a:cubicBezTo>
                    <a:pt x="6012" y="900"/>
                    <a:pt x="5465" y="1575"/>
                    <a:pt x="4790" y="2379"/>
                  </a:cubicBezTo>
                  <a:cubicBezTo>
                    <a:pt x="2830" y="4854"/>
                    <a:pt x="65" y="8711"/>
                    <a:pt x="65" y="8711"/>
                  </a:cubicBezTo>
                  <a:cubicBezTo>
                    <a:pt x="1" y="8776"/>
                    <a:pt x="1" y="8872"/>
                    <a:pt x="33" y="8968"/>
                  </a:cubicBezTo>
                  <a:cubicBezTo>
                    <a:pt x="33" y="9001"/>
                    <a:pt x="97" y="9129"/>
                    <a:pt x="258" y="9290"/>
                  </a:cubicBezTo>
                  <a:cubicBezTo>
                    <a:pt x="387" y="9418"/>
                    <a:pt x="612" y="9579"/>
                    <a:pt x="965" y="9579"/>
                  </a:cubicBezTo>
                  <a:cubicBezTo>
                    <a:pt x="1287" y="9579"/>
                    <a:pt x="1640" y="9451"/>
                    <a:pt x="2058" y="9065"/>
                  </a:cubicBezTo>
                  <a:cubicBezTo>
                    <a:pt x="3152" y="8119"/>
                    <a:pt x="6420" y="5107"/>
                    <a:pt x="6939" y="4629"/>
                  </a:cubicBezTo>
                  <a:lnTo>
                    <a:pt x="10054" y="4629"/>
                  </a:lnTo>
                  <a:cubicBezTo>
                    <a:pt x="9710" y="4832"/>
                    <a:pt x="9297" y="5079"/>
                    <a:pt x="8873" y="5336"/>
                  </a:cubicBezTo>
                  <a:cubicBezTo>
                    <a:pt x="8358" y="5658"/>
                    <a:pt x="7812" y="6011"/>
                    <a:pt x="7362" y="6268"/>
                  </a:cubicBezTo>
                  <a:cubicBezTo>
                    <a:pt x="6912" y="6558"/>
                    <a:pt x="6558" y="6783"/>
                    <a:pt x="6398" y="6911"/>
                  </a:cubicBezTo>
                  <a:cubicBezTo>
                    <a:pt x="6237" y="7008"/>
                    <a:pt x="6012" y="7233"/>
                    <a:pt x="5755" y="7490"/>
                  </a:cubicBezTo>
                  <a:cubicBezTo>
                    <a:pt x="5369" y="7876"/>
                    <a:pt x="4919" y="8358"/>
                    <a:pt x="4533" y="8840"/>
                  </a:cubicBezTo>
                  <a:cubicBezTo>
                    <a:pt x="4373" y="9065"/>
                    <a:pt x="4212" y="9290"/>
                    <a:pt x="4083" y="9483"/>
                  </a:cubicBezTo>
                  <a:cubicBezTo>
                    <a:pt x="4019" y="9579"/>
                    <a:pt x="3955" y="9676"/>
                    <a:pt x="3923" y="9772"/>
                  </a:cubicBezTo>
                  <a:cubicBezTo>
                    <a:pt x="3890" y="9868"/>
                    <a:pt x="3858" y="9933"/>
                    <a:pt x="3858" y="10061"/>
                  </a:cubicBezTo>
                  <a:cubicBezTo>
                    <a:pt x="3858" y="10126"/>
                    <a:pt x="3858" y="10222"/>
                    <a:pt x="3923" y="10286"/>
                  </a:cubicBezTo>
                  <a:cubicBezTo>
                    <a:pt x="3987" y="10383"/>
                    <a:pt x="4083" y="10415"/>
                    <a:pt x="4148" y="10447"/>
                  </a:cubicBezTo>
                  <a:lnTo>
                    <a:pt x="4276" y="10447"/>
                  </a:lnTo>
                  <a:cubicBezTo>
                    <a:pt x="4437" y="10447"/>
                    <a:pt x="4565" y="10383"/>
                    <a:pt x="4726" y="10318"/>
                  </a:cubicBezTo>
                  <a:cubicBezTo>
                    <a:pt x="5305" y="10061"/>
                    <a:pt x="6108" y="9451"/>
                    <a:pt x="6783" y="8936"/>
                  </a:cubicBezTo>
                  <a:cubicBezTo>
                    <a:pt x="7321" y="8501"/>
                    <a:pt x="7797" y="8107"/>
                    <a:pt x="7969" y="7964"/>
                  </a:cubicBezTo>
                  <a:lnTo>
                    <a:pt x="7969" y="7964"/>
                  </a:lnTo>
                  <a:lnTo>
                    <a:pt x="12166" y="6814"/>
                  </a:lnTo>
                  <a:lnTo>
                    <a:pt x="12166" y="6814"/>
                  </a:lnTo>
                  <a:cubicBezTo>
                    <a:pt x="12395" y="6971"/>
                    <a:pt x="13109" y="7391"/>
                    <a:pt x="14080" y="7811"/>
                  </a:cubicBezTo>
                  <a:cubicBezTo>
                    <a:pt x="15270" y="8358"/>
                    <a:pt x="16812" y="8904"/>
                    <a:pt x="18323" y="9001"/>
                  </a:cubicBezTo>
                  <a:lnTo>
                    <a:pt x="18998" y="9001"/>
                  </a:lnTo>
                  <a:cubicBezTo>
                    <a:pt x="21312" y="9001"/>
                    <a:pt x="23057" y="8431"/>
                    <a:pt x="23448" y="8270"/>
                  </a:cubicBezTo>
                  <a:lnTo>
                    <a:pt x="23448" y="8270"/>
                  </a:lnTo>
                  <a:cubicBezTo>
                    <a:pt x="24396" y="8448"/>
                    <a:pt x="39837" y="11315"/>
                    <a:pt x="49150" y="11315"/>
                  </a:cubicBezTo>
                  <a:lnTo>
                    <a:pt x="49825" y="11315"/>
                  </a:lnTo>
                  <a:cubicBezTo>
                    <a:pt x="49857" y="11315"/>
                    <a:pt x="50693" y="11251"/>
                    <a:pt x="51593" y="10704"/>
                  </a:cubicBezTo>
                  <a:cubicBezTo>
                    <a:pt x="52461" y="10158"/>
                    <a:pt x="53425" y="9129"/>
                    <a:pt x="53554" y="7297"/>
                  </a:cubicBezTo>
                  <a:cubicBezTo>
                    <a:pt x="53586" y="7168"/>
                    <a:pt x="53586" y="7008"/>
                    <a:pt x="53586" y="6879"/>
                  </a:cubicBezTo>
                  <a:cubicBezTo>
                    <a:pt x="53586" y="5111"/>
                    <a:pt x="52621" y="3440"/>
                    <a:pt x="51368" y="2186"/>
                  </a:cubicBezTo>
                  <a:cubicBezTo>
                    <a:pt x="50114" y="932"/>
                    <a:pt x="48571" y="97"/>
                    <a:pt x="47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9"/>
            <p:cNvSpPr/>
            <p:nvPr/>
          </p:nvSpPr>
          <p:spPr>
            <a:xfrm>
              <a:off x="1274175" y="5363550"/>
              <a:ext cx="5102975" cy="12875"/>
            </a:xfrm>
            <a:custGeom>
              <a:avLst/>
              <a:gdLst/>
              <a:ahLst/>
              <a:cxnLst/>
              <a:rect l="l" t="t" r="r" b="b"/>
              <a:pathLst>
                <a:path w="204119" h="515" extrusionOk="0">
                  <a:moveTo>
                    <a:pt x="1" y="1"/>
                  </a:moveTo>
                  <a:lnTo>
                    <a:pt x="1" y="515"/>
                  </a:lnTo>
                  <a:lnTo>
                    <a:pt x="204118" y="515"/>
                  </a:lnTo>
                  <a:lnTo>
                    <a:pt x="204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9"/>
            <p:cNvSpPr/>
            <p:nvPr/>
          </p:nvSpPr>
          <p:spPr>
            <a:xfrm>
              <a:off x="2392800" y="5312125"/>
              <a:ext cx="1579925" cy="57875"/>
            </a:xfrm>
            <a:custGeom>
              <a:avLst/>
              <a:gdLst/>
              <a:ahLst/>
              <a:cxnLst/>
              <a:rect l="l" t="t" r="r" b="b"/>
              <a:pathLst>
                <a:path w="63197" h="2315" extrusionOk="0">
                  <a:moveTo>
                    <a:pt x="1" y="0"/>
                  </a:moveTo>
                  <a:lnTo>
                    <a:pt x="1" y="2315"/>
                  </a:lnTo>
                  <a:lnTo>
                    <a:pt x="63197" y="2315"/>
                  </a:lnTo>
                  <a:lnTo>
                    <a:pt x="631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9"/>
            <p:cNvSpPr/>
            <p:nvPr/>
          </p:nvSpPr>
          <p:spPr>
            <a:xfrm>
              <a:off x="2385575" y="5304900"/>
              <a:ext cx="1594400" cy="71525"/>
            </a:xfrm>
            <a:custGeom>
              <a:avLst/>
              <a:gdLst/>
              <a:ahLst/>
              <a:cxnLst/>
              <a:rect l="l" t="t" r="r" b="b"/>
              <a:pathLst>
                <a:path w="63776" h="2861" extrusionOk="0">
                  <a:moveTo>
                    <a:pt x="63229" y="547"/>
                  </a:moveTo>
                  <a:lnTo>
                    <a:pt x="63229" y="2347"/>
                  </a:lnTo>
                  <a:lnTo>
                    <a:pt x="547" y="2347"/>
                  </a:lnTo>
                  <a:lnTo>
                    <a:pt x="547" y="547"/>
                  </a:lnTo>
                  <a:close/>
                  <a:moveTo>
                    <a:pt x="290" y="0"/>
                  </a:moveTo>
                  <a:cubicBezTo>
                    <a:pt x="193" y="0"/>
                    <a:pt x="129" y="32"/>
                    <a:pt x="97" y="97"/>
                  </a:cubicBezTo>
                  <a:cubicBezTo>
                    <a:pt x="33" y="129"/>
                    <a:pt x="0" y="225"/>
                    <a:pt x="0" y="289"/>
                  </a:cubicBezTo>
                  <a:lnTo>
                    <a:pt x="0" y="2604"/>
                  </a:lnTo>
                  <a:cubicBezTo>
                    <a:pt x="0" y="2668"/>
                    <a:pt x="33" y="2732"/>
                    <a:pt x="97" y="2797"/>
                  </a:cubicBezTo>
                  <a:cubicBezTo>
                    <a:pt x="129" y="2829"/>
                    <a:pt x="193" y="2861"/>
                    <a:pt x="290" y="2861"/>
                  </a:cubicBezTo>
                  <a:lnTo>
                    <a:pt x="63486" y="2861"/>
                  </a:lnTo>
                  <a:cubicBezTo>
                    <a:pt x="63550" y="2861"/>
                    <a:pt x="63614" y="2829"/>
                    <a:pt x="63679" y="2797"/>
                  </a:cubicBezTo>
                  <a:cubicBezTo>
                    <a:pt x="63743" y="2732"/>
                    <a:pt x="63775" y="2668"/>
                    <a:pt x="63775" y="2604"/>
                  </a:cubicBezTo>
                  <a:lnTo>
                    <a:pt x="63775" y="289"/>
                  </a:lnTo>
                  <a:cubicBezTo>
                    <a:pt x="63775" y="225"/>
                    <a:pt x="63743" y="129"/>
                    <a:pt x="63679" y="97"/>
                  </a:cubicBezTo>
                  <a:cubicBezTo>
                    <a:pt x="63614" y="32"/>
                    <a:pt x="63550" y="0"/>
                    <a:pt x="63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9"/>
            <p:cNvSpPr/>
            <p:nvPr/>
          </p:nvSpPr>
          <p:spPr>
            <a:xfrm>
              <a:off x="3230175" y="5312125"/>
              <a:ext cx="742550" cy="57875"/>
            </a:xfrm>
            <a:custGeom>
              <a:avLst/>
              <a:gdLst/>
              <a:ahLst/>
              <a:cxnLst/>
              <a:rect l="l" t="t" r="r" b="b"/>
              <a:pathLst>
                <a:path w="29702" h="2315" extrusionOk="0">
                  <a:moveTo>
                    <a:pt x="0" y="0"/>
                  </a:moveTo>
                  <a:lnTo>
                    <a:pt x="0" y="2315"/>
                  </a:lnTo>
                  <a:lnTo>
                    <a:pt x="29702" y="2315"/>
                  </a:lnTo>
                  <a:lnTo>
                    <a:pt x="297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9"/>
            <p:cNvSpPr/>
            <p:nvPr/>
          </p:nvSpPr>
          <p:spPr>
            <a:xfrm>
              <a:off x="3223750" y="5304900"/>
              <a:ext cx="756225" cy="71525"/>
            </a:xfrm>
            <a:custGeom>
              <a:avLst/>
              <a:gdLst/>
              <a:ahLst/>
              <a:cxnLst/>
              <a:rect l="l" t="t" r="r" b="b"/>
              <a:pathLst>
                <a:path w="30249" h="2861" extrusionOk="0">
                  <a:moveTo>
                    <a:pt x="29702" y="547"/>
                  </a:moveTo>
                  <a:lnTo>
                    <a:pt x="29702" y="2347"/>
                  </a:lnTo>
                  <a:lnTo>
                    <a:pt x="547" y="2347"/>
                  </a:lnTo>
                  <a:lnTo>
                    <a:pt x="547" y="547"/>
                  </a:lnTo>
                  <a:close/>
                  <a:moveTo>
                    <a:pt x="257" y="0"/>
                  </a:moveTo>
                  <a:cubicBezTo>
                    <a:pt x="193" y="0"/>
                    <a:pt x="129" y="32"/>
                    <a:pt x="64" y="97"/>
                  </a:cubicBezTo>
                  <a:cubicBezTo>
                    <a:pt x="32" y="129"/>
                    <a:pt x="0" y="225"/>
                    <a:pt x="0" y="289"/>
                  </a:cubicBezTo>
                  <a:lnTo>
                    <a:pt x="0" y="2604"/>
                  </a:lnTo>
                  <a:cubicBezTo>
                    <a:pt x="0" y="2668"/>
                    <a:pt x="32" y="2732"/>
                    <a:pt x="64" y="2797"/>
                  </a:cubicBezTo>
                  <a:cubicBezTo>
                    <a:pt x="129" y="2829"/>
                    <a:pt x="193" y="2861"/>
                    <a:pt x="257" y="2861"/>
                  </a:cubicBezTo>
                  <a:lnTo>
                    <a:pt x="29959" y="2861"/>
                  </a:lnTo>
                  <a:cubicBezTo>
                    <a:pt x="30023" y="2861"/>
                    <a:pt x="30087" y="2829"/>
                    <a:pt x="30152" y="2797"/>
                  </a:cubicBezTo>
                  <a:cubicBezTo>
                    <a:pt x="30216" y="2732"/>
                    <a:pt x="30248" y="2668"/>
                    <a:pt x="30248" y="2604"/>
                  </a:cubicBezTo>
                  <a:lnTo>
                    <a:pt x="30248" y="289"/>
                  </a:lnTo>
                  <a:cubicBezTo>
                    <a:pt x="30248" y="225"/>
                    <a:pt x="30216" y="129"/>
                    <a:pt x="30152" y="97"/>
                  </a:cubicBezTo>
                  <a:cubicBezTo>
                    <a:pt x="30087" y="32"/>
                    <a:pt x="30023" y="0"/>
                    <a:pt x="29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9"/>
            <p:cNvSpPr/>
            <p:nvPr/>
          </p:nvSpPr>
          <p:spPr>
            <a:xfrm>
              <a:off x="2064125" y="4578425"/>
              <a:ext cx="1203025" cy="733725"/>
            </a:xfrm>
            <a:custGeom>
              <a:avLst/>
              <a:gdLst/>
              <a:ahLst/>
              <a:cxnLst/>
              <a:rect l="l" t="t" r="r" b="b"/>
              <a:pathLst>
                <a:path w="48121" h="29349" extrusionOk="0">
                  <a:moveTo>
                    <a:pt x="1" y="0"/>
                  </a:moveTo>
                  <a:lnTo>
                    <a:pt x="14594" y="29348"/>
                  </a:lnTo>
                  <a:lnTo>
                    <a:pt x="48121" y="29348"/>
                  </a:lnTo>
                  <a:lnTo>
                    <a:pt x="364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9"/>
            <p:cNvSpPr/>
            <p:nvPr/>
          </p:nvSpPr>
          <p:spPr>
            <a:xfrm>
              <a:off x="2056900" y="4572000"/>
              <a:ext cx="1217500" cy="746575"/>
            </a:xfrm>
            <a:custGeom>
              <a:avLst/>
              <a:gdLst/>
              <a:ahLst/>
              <a:cxnLst/>
              <a:rect l="l" t="t" r="r" b="b"/>
              <a:pathLst>
                <a:path w="48700" h="29863" extrusionOk="0">
                  <a:moveTo>
                    <a:pt x="36549" y="547"/>
                  </a:moveTo>
                  <a:lnTo>
                    <a:pt x="47999" y="29316"/>
                  </a:lnTo>
                  <a:lnTo>
                    <a:pt x="15076" y="29316"/>
                  </a:lnTo>
                  <a:lnTo>
                    <a:pt x="740" y="547"/>
                  </a:lnTo>
                  <a:close/>
                  <a:moveTo>
                    <a:pt x="290" y="0"/>
                  </a:moveTo>
                  <a:cubicBezTo>
                    <a:pt x="193" y="0"/>
                    <a:pt x="129" y="32"/>
                    <a:pt x="65" y="129"/>
                  </a:cubicBezTo>
                  <a:cubicBezTo>
                    <a:pt x="32" y="193"/>
                    <a:pt x="0" y="290"/>
                    <a:pt x="65" y="386"/>
                  </a:cubicBezTo>
                  <a:lnTo>
                    <a:pt x="14658" y="29702"/>
                  </a:lnTo>
                  <a:cubicBezTo>
                    <a:pt x="14690" y="29798"/>
                    <a:pt x="14787" y="29863"/>
                    <a:pt x="14883" y="29863"/>
                  </a:cubicBezTo>
                  <a:lnTo>
                    <a:pt x="48410" y="29863"/>
                  </a:lnTo>
                  <a:cubicBezTo>
                    <a:pt x="48506" y="29863"/>
                    <a:pt x="48571" y="29830"/>
                    <a:pt x="48635" y="29734"/>
                  </a:cubicBezTo>
                  <a:cubicBezTo>
                    <a:pt x="48667" y="29670"/>
                    <a:pt x="48699" y="29573"/>
                    <a:pt x="48667" y="29509"/>
                  </a:cubicBezTo>
                  <a:lnTo>
                    <a:pt x="36966" y="161"/>
                  </a:lnTo>
                  <a:cubicBezTo>
                    <a:pt x="36934" y="65"/>
                    <a:pt x="36838" y="0"/>
                    <a:pt x="36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9"/>
            <p:cNvSpPr/>
            <p:nvPr/>
          </p:nvSpPr>
          <p:spPr>
            <a:xfrm>
              <a:off x="2027175" y="4578425"/>
              <a:ext cx="1203025" cy="733725"/>
            </a:xfrm>
            <a:custGeom>
              <a:avLst/>
              <a:gdLst/>
              <a:ahLst/>
              <a:cxnLst/>
              <a:rect l="l" t="t" r="r" b="b"/>
              <a:pathLst>
                <a:path w="48121" h="29349" extrusionOk="0">
                  <a:moveTo>
                    <a:pt x="0" y="0"/>
                  </a:moveTo>
                  <a:lnTo>
                    <a:pt x="14626" y="29348"/>
                  </a:lnTo>
                  <a:lnTo>
                    <a:pt x="48120" y="29348"/>
                  </a:lnTo>
                  <a:lnTo>
                    <a:pt x="364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9"/>
            <p:cNvSpPr/>
            <p:nvPr/>
          </p:nvSpPr>
          <p:spPr>
            <a:xfrm>
              <a:off x="2020725" y="4572000"/>
              <a:ext cx="1216700" cy="746575"/>
            </a:xfrm>
            <a:custGeom>
              <a:avLst/>
              <a:gdLst/>
              <a:ahLst/>
              <a:cxnLst/>
              <a:rect l="l" t="t" r="r" b="b"/>
              <a:pathLst>
                <a:path w="48668" h="29863" extrusionOk="0">
                  <a:moveTo>
                    <a:pt x="36517" y="547"/>
                  </a:moveTo>
                  <a:lnTo>
                    <a:pt x="47968" y="29316"/>
                  </a:lnTo>
                  <a:lnTo>
                    <a:pt x="15044" y="29316"/>
                  </a:lnTo>
                  <a:lnTo>
                    <a:pt x="708" y="547"/>
                  </a:lnTo>
                  <a:close/>
                  <a:moveTo>
                    <a:pt x="258" y="0"/>
                  </a:moveTo>
                  <a:cubicBezTo>
                    <a:pt x="162" y="0"/>
                    <a:pt x="97" y="32"/>
                    <a:pt x="33" y="129"/>
                  </a:cubicBezTo>
                  <a:cubicBezTo>
                    <a:pt x="1" y="193"/>
                    <a:pt x="1" y="290"/>
                    <a:pt x="33" y="386"/>
                  </a:cubicBezTo>
                  <a:lnTo>
                    <a:pt x="14627" y="29702"/>
                  </a:lnTo>
                  <a:cubicBezTo>
                    <a:pt x="14659" y="29798"/>
                    <a:pt x="14755" y="29863"/>
                    <a:pt x="14884" y="29863"/>
                  </a:cubicBezTo>
                  <a:lnTo>
                    <a:pt x="48378" y="29863"/>
                  </a:lnTo>
                  <a:cubicBezTo>
                    <a:pt x="48475" y="29863"/>
                    <a:pt x="48571" y="29830"/>
                    <a:pt x="48603" y="29734"/>
                  </a:cubicBezTo>
                  <a:cubicBezTo>
                    <a:pt x="48668" y="29670"/>
                    <a:pt x="48668" y="29573"/>
                    <a:pt x="48635" y="29509"/>
                  </a:cubicBezTo>
                  <a:lnTo>
                    <a:pt x="36935" y="161"/>
                  </a:lnTo>
                  <a:cubicBezTo>
                    <a:pt x="36903" y="65"/>
                    <a:pt x="36806" y="0"/>
                    <a:pt x="36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4"/>
        <p:cNvGrpSpPr/>
        <p:nvPr/>
      </p:nvGrpSpPr>
      <p:grpSpPr>
        <a:xfrm>
          <a:off x="0" y="0"/>
          <a:ext cx="0" cy="0"/>
          <a:chOff x="0" y="0"/>
          <a:chExt cx="0" cy="0"/>
        </a:xfrm>
      </p:grpSpPr>
      <p:sp>
        <p:nvSpPr>
          <p:cNvPr id="2185" name="Google Shape;2185;p40"/>
          <p:cNvSpPr txBox="1">
            <a:spLocks noGrp="1"/>
          </p:cNvSpPr>
          <p:nvPr>
            <p:ph type="title"/>
          </p:nvPr>
        </p:nvSpPr>
        <p:spPr>
          <a:xfrm>
            <a:off x="1827000" y="1915725"/>
            <a:ext cx="5151300" cy="172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200"/>
              <a:t> </a:t>
            </a:r>
            <a:endParaRPr sz="5200"/>
          </a:p>
        </p:txBody>
      </p:sp>
      <p:sp>
        <p:nvSpPr>
          <p:cNvPr id="2186" name="Google Shape;2186;p40"/>
          <p:cNvSpPr txBox="1">
            <a:spLocks noGrp="1"/>
          </p:cNvSpPr>
          <p:nvPr>
            <p:ph type="title" idx="2"/>
          </p:nvPr>
        </p:nvSpPr>
        <p:spPr>
          <a:xfrm>
            <a:off x="943600" y="135750"/>
            <a:ext cx="73818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a:t>Formula of MC </a:t>
            </a:r>
            <a:endParaRPr sz="7200"/>
          </a:p>
        </p:txBody>
      </p:sp>
      <p:pic>
        <p:nvPicPr>
          <p:cNvPr id="2187" name="Google Shape;2187;p40"/>
          <p:cNvPicPr preferRelativeResize="0"/>
          <p:nvPr/>
        </p:nvPicPr>
        <p:blipFill>
          <a:blip r:embed="rId3">
            <a:alphaModFix/>
          </a:blip>
          <a:stretch>
            <a:fillRect/>
          </a:stretch>
        </p:blipFill>
        <p:spPr>
          <a:xfrm>
            <a:off x="2747963" y="1464738"/>
            <a:ext cx="3648075" cy="647700"/>
          </a:xfrm>
          <a:prstGeom prst="rect">
            <a:avLst/>
          </a:prstGeom>
          <a:noFill/>
          <a:ln>
            <a:noFill/>
          </a:ln>
        </p:spPr>
      </p:pic>
      <p:sp>
        <p:nvSpPr>
          <p:cNvPr id="2188" name="Google Shape;2188;p40"/>
          <p:cNvSpPr txBox="1"/>
          <p:nvPr/>
        </p:nvSpPr>
        <p:spPr>
          <a:xfrm>
            <a:off x="1175050" y="2371625"/>
            <a:ext cx="6918900" cy="18294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SzPts val="2100"/>
              <a:buFont typeface="Barlow Semi Condensed"/>
              <a:buChar char="●"/>
            </a:pPr>
            <a:r>
              <a:rPr lang="en" sz="2100">
                <a:latin typeface="Barlow Semi Condensed"/>
                <a:ea typeface="Barlow Semi Condensed"/>
                <a:cs typeface="Barlow Semi Condensed"/>
                <a:sym typeface="Barlow Semi Condensed"/>
              </a:rPr>
              <a:t>St​ is the stock price at time t</a:t>
            </a:r>
            <a:endParaRPr sz="2100">
              <a:latin typeface="Barlow Semi Condensed"/>
              <a:ea typeface="Barlow Semi Condensed"/>
              <a:cs typeface="Barlow Semi Condensed"/>
              <a:sym typeface="Barlow Semi Condensed"/>
            </a:endParaRPr>
          </a:p>
          <a:p>
            <a:pPr marL="457200" lvl="0" indent="-361950" algn="l" rtl="0">
              <a:spcBef>
                <a:spcPts val="0"/>
              </a:spcBef>
              <a:spcAft>
                <a:spcPts val="0"/>
              </a:spcAft>
              <a:buSzPts val="2100"/>
              <a:buFont typeface="Barlow Semi Condensed"/>
              <a:buChar char="●"/>
            </a:pPr>
            <a:r>
              <a:rPr lang="en" sz="2100">
                <a:latin typeface="Barlow Semi Condensed"/>
                <a:ea typeface="Barlow Semi Condensed"/>
                <a:cs typeface="Barlow Semi Condensed"/>
                <a:sym typeface="Barlow Semi Condensed"/>
              </a:rPr>
              <a:t>μ is the mean daily return</a:t>
            </a:r>
            <a:endParaRPr sz="2100">
              <a:latin typeface="Barlow Semi Condensed"/>
              <a:ea typeface="Barlow Semi Condensed"/>
              <a:cs typeface="Barlow Semi Condensed"/>
              <a:sym typeface="Barlow Semi Condensed"/>
            </a:endParaRPr>
          </a:p>
          <a:p>
            <a:pPr marL="457200" lvl="0" indent="-361950" algn="l" rtl="0">
              <a:spcBef>
                <a:spcPts val="0"/>
              </a:spcBef>
              <a:spcAft>
                <a:spcPts val="0"/>
              </a:spcAft>
              <a:buSzPts val="2100"/>
              <a:buFont typeface="Barlow Semi Condensed"/>
              <a:buChar char="●"/>
            </a:pPr>
            <a:r>
              <a:rPr lang="en" sz="2100">
                <a:latin typeface="Barlow Semi Condensed"/>
                <a:ea typeface="Barlow Semi Condensed"/>
                <a:cs typeface="Barlow Semi Condensed"/>
                <a:sym typeface="Barlow Semi Condensed"/>
              </a:rPr>
              <a:t>σ is the daily volatility </a:t>
            </a:r>
            <a:endParaRPr sz="2100">
              <a:latin typeface="Barlow Semi Condensed"/>
              <a:ea typeface="Barlow Semi Condensed"/>
              <a:cs typeface="Barlow Semi Condensed"/>
              <a:sym typeface="Barlow Semi Condensed"/>
            </a:endParaRPr>
          </a:p>
          <a:p>
            <a:pPr marL="457200" lvl="0" indent="-361950" algn="l" rtl="0">
              <a:spcBef>
                <a:spcPts val="0"/>
              </a:spcBef>
              <a:spcAft>
                <a:spcPts val="0"/>
              </a:spcAft>
              <a:buSzPts val="2100"/>
              <a:buFont typeface="Barlow Semi Condensed"/>
              <a:buChar char="●"/>
            </a:pPr>
            <a:r>
              <a:rPr lang="en" sz="2100">
                <a:latin typeface="Barlow Semi Condensed"/>
                <a:ea typeface="Barlow Semi Condensed"/>
                <a:cs typeface="Barlow Semi Condensed"/>
                <a:sym typeface="Barlow Semi Condensed"/>
              </a:rPr>
              <a:t>Z is a random variable sampled from a standard normal distribution N(0,1)</a:t>
            </a:r>
            <a:endParaRPr sz="2100">
              <a:latin typeface="Barlow Semi Condensed"/>
              <a:ea typeface="Barlow Semi Condensed"/>
              <a:cs typeface="Barlow Semi Condensed"/>
              <a:sym typeface="Barlow Semi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2"/>
        <p:cNvGrpSpPr/>
        <p:nvPr/>
      </p:nvGrpSpPr>
      <p:grpSpPr>
        <a:xfrm>
          <a:off x="0" y="0"/>
          <a:ext cx="0" cy="0"/>
          <a:chOff x="0" y="0"/>
          <a:chExt cx="0" cy="0"/>
        </a:xfrm>
      </p:grpSpPr>
      <p:sp>
        <p:nvSpPr>
          <p:cNvPr id="2193" name="Google Shape;2193;p41"/>
          <p:cNvSpPr txBox="1">
            <a:spLocks noGrp="1"/>
          </p:cNvSpPr>
          <p:nvPr>
            <p:ph type="title" idx="2"/>
          </p:nvPr>
        </p:nvSpPr>
        <p:spPr>
          <a:xfrm>
            <a:off x="881100" y="221850"/>
            <a:ext cx="73818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Monte Carlo Example  </a:t>
            </a:r>
            <a:endParaRPr sz="5000"/>
          </a:p>
        </p:txBody>
      </p:sp>
      <p:pic>
        <p:nvPicPr>
          <p:cNvPr id="2194" name="Google Shape;2194;p41"/>
          <p:cNvPicPr preferRelativeResize="0"/>
          <p:nvPr/>
        </p:nvPicPr>
        <p:blipFill>
          <a:blip r:embed="rId3">
            <a:alphaModFix/>
          </a:blip>
          <a:stretch>
            <a:fillRect/>
          </a:stretch>
        </p:blipFill>
        <p:spPr>
          <a:xfrm>
            <a:off x="1634700" y="1291650"/>
            <a:ext cx="5874595" cy="3547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pic>
        <p:nvPicPr>
          <p:cNvPr id="2199" name="Google Shape;2199;p42"/>
          <p:cNvPicPr preferRelativeResize="0"/>
          <p:nvPr/>
        </p:nvPicPr>
        <p:blipFill rotWithShape="1">
          <a:blip r:embed="rId3">
            <a:alphaModFix/>
          </a:blip>
          <a:srcRect l="1484" r="1494"/>
          <a:stretch/>
        </p:blipFill>
        <p:spPr>
          <a:xfrm>
            <a:off x="4696641" y="1580762"/>
            <a:ext cx="2741302" cy="1589316"/>
          </a:xfrm>
          <a:prstGeom prst="rect">
            <a:avLst/>
          </a:prstGeom>
          <a:noFill/>
          <a:ln>
            <a:noFill/>
          </a:ln>
        </p:spPr>
      </p:pic>
      <p:sp>
        <p:nvSpPr>
          <p:cNvPr id="2200" name="Google Shape;2200;p42"/>
          <p:cNvSpPr txBox="1">
            <a:spLocks noGrp="1"/>
          </p:cNvSpPr>
          <p:nvPr>
            <p:ph type="body" idx="1"/>
          </p:nvPr>
        </p:nvSpPr>
        <p:spPr>
          <a:xfrm>
            <a:off x="259000" y="1080900"/>
            <a:ext cx="3989700" cy="33492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SzPts val="1400"/>
              <a:buChar char="●"/>
            </a:pPr>
            <a:r>
              <a:rPr lang="en" sz="1400"/>
              <a:t>100000 Monte Carlo simulation for a stock portfolio over a 252-day period (approximately one trading year)</a:t>
            </a:r>
            <a:endParaRPr sz="1400"/>
          </a:p>
          <a:p>
            <a:pPr marL="0" lvl="0" indent="0" algn="l" rtl="0">
              <a:spcBef>
                <a:spcPts val="0"/>
              </a:spcBef>
              <a:spcAft>
                <a:spcPts val="0"/>
              </a:spcAft>
              <a:buClr>
                <a:schemeClr val="dk1"/>
              </a:buClr>
              <a:buSzPts val="1100"/>
              <a:buFont typeface="Arial"/>
              <a:buNone/>
            </a:pPr>
            <a:endParaRPr sz="1400"/>
          </a:p>
          <a:p>
            <a:pPr marL="457200" lvl="0" indent="-317500" algn="l" rtl="0">
              <a:spcBef>
                <a:spcPts val="0"/>
              </a:spcBef>
              <a:spcAft>
                <a:spcPts val="0"/>
              </a:spcAft>
              <a:buSzPts val="1400"/>
              <a:buChar char="●"/>
            </a:pPr>
            <a:r>
              <a:rPr lang="en" sz="1400"/>
              <a:t>Each colored line represents a different simulation, showing how the portfolio value evolves over time based on different random paths.</a:t>
            </a:r>
            <a:endParaRPr sz="1400"/>
          </a:p>
          <a:p>
            <a:pPr marL="0" lvl="0" indent="0" algn="l" rtl="0">
              <a:spcBef>
                <a:spcPts val="0"/>
              </a:spcBef>
              <a:spcAft>
                <a:spcPts val="0"/>
              </a:spcAft>
              <a:buClr>
                <a:schemeClr val="dk1"/>
              </a:buClr>
              <a:buSzPts val="1100"/>
              <a:buFont typeface="Arial"/>
              <a:buNone/>
            </a:pPr>
            <a:endParaRPr sz="1400"/>
          </a:p>
          <a:p>
            <a:pPr marL="457200" lvl="0" indent="-317500" algn="l" rtl="0">
              <a:spcBef>
                <a:spcPts val="0"/>
              </a:spcBef>
              <a:spcAft>
                <a:spcPts val="0"/>
              </a:spcAft>
              <a:buSzPts val="1400"/>
              <a:buChar char="●"/>
            </a:pPr>
            <a:r>
              <a:rPr lang="en" sz="1400"/>
              <a:t>The initial portfolio value is ₹10,000, and the simulation considers market volatility</a:t>
            </a:r>
            <a:endParaRPr sz="1400"/>
          </a:p>
          <a:p>
            <a:pPr marL="0" lvl="0" indent="0" algn="l" rtl="0">
              <a:spcBef>
                <a:spcPts val="0"/>
              </a:spcBef>
              <a:spcAft>
                <a:spcPts val="0"/>
              </a:spcAft>
              <a:buClr>
                <a:schemeClr val="dk1"/>
              </a:buClr>
              <a:buSzPts val="1100"/>
              <a:buFont typeface="Arial"/>
              <a:buNone/>
            </a:pPr>
            <a:endParaRPr sz="1400"/>
          </a:p>
          <a:p>
            <a:pPr marL="457200" lvl="0" indent="-317500" algn="l" rtl="0">
              <a:spcBef>
                <a:spcPts val="0"/>
              </a:spcBef>
              <a:spcAft>
                <a:spcPts val="0"/>
              </a:spcAft>
              <a:buSzPts val="1400"/>
              <a:buChar char="●"/>
            </a:pPr>
            <a:r>
              <a:rPr lang="en" sz="1400"/>
              <a:t>The portfolio values vary widely across different simulations, reflecting the inherent uncertainty in financial markets.</a:t>
            </a:r>
            <a:endParaRPr sz="1400"/>
          </a:p>
        </p:txBody>
      </p:sp>
      <p:sp>
        <p:nvSpPr>
          <p:cNvPr id="2201" name="Google Shape;2201;p42"/>
          <p:cNvSpPr txBox="1">
            <a:spLocks noGrp="1"/>
          </p:cNvSpPr>
          <p:nvPr>
            <p:ph type="title"/>
          </p:nvPr>
        </p:nvSpPr>
        <p:spPr>
          <a:xfrm>
            <a:off x="2098500" y="400997"/>
            <a:ext cx="4947000" cy="58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Monte Carlo Portfolio Generation</a:t>
            </a:r>
            <a:endParaRPr/>
          </a:p>
        </p:txBody>
      </p:sp>
      <p:grpSp>
        <p:nvGrpSpPr>
          <p:cNvPr id="2202" name="Google Shape;2202;p42"/>
          <p:cNvGrpSpPr/>
          <p:nvPr/>
        </p:nvGrpSpPr>
        <p:grpSpPr>
          <a:xfrm>
            <a:off x="4248599" y="850289"/>
            <a:ext cx="4711580" cy="4147840"/>
            <a:chOff x="1230400" y="410075"/>
            <a:chExt cx="5124625" cy="4728500"/>
          </a:xfrm>
        </p:grpSpPr>
        <p:sp>
          <p:nvSpPr>
            <p:cNvPr id="2203" name="Google Shape;2203;p42"/>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2"/>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2"/>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2"/>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2"/>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2"/>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2"/>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2"/>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2"/>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2"/>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2"/>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2"/>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2"/>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2"/>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2"/>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2"/>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2"/>
            <p:cNvSpPr/>
            <p:nvPr/>
          </p:nvSpPr>
          <p:spPr>
            <a:xfrm>
              <a:off x="2971000" y="4123575"/>
              <a:ext cx="423525" cy="440400"/>
            </a:xfrm>
            <a:custGeom>
              <a:avLst/>
              <a:gdLst/>
              <a:ahLst/>
              <a:cxnLst/>
              <a:rect l="l" t="t" r="r" b="b"/>
              <a:pathLst>
                <a:path w="16941" h="17616" extrusionOk="0">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2"/>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2"/>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2"/>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2"/>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2"/>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2"/>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2"/>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2"/>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2"/>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2"/>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2"/>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2"/>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2"/>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2"/>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2"/>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2"/>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2"/>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2"/>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2"/>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2"/>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2"/>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2"/>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2"/>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2"/>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2"/>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2"/>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2"/>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2"/>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2"/>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2"/>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2"/>
            <p:cNvSpPr/>
            <p:nvPr/>
          </p:nvSpPr>
          <p:spPr>
            <a:xfrm>
              <a:off x="1745499" y="2598326"/>
              <a:ext cx="634838"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2"/>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2"/>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2"/>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2"/>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2"/>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2"/>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2"/>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2"/>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2"/>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2"/>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2"/>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2"/>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2"/>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2"/>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2"/>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2"/>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2"/>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2"/>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2"/>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2"/>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2"/>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2"/>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2"/>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2"/>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2"/>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2"/>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2"/>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2"/>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2"/>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2"/>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2"/>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2"/>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2"/>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2"/>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2"/>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2"/>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87" name="Google Shape;2287;p42"/>
          <p:cNvPicPr preferRelativeResize="0"/>
          <p:nvPr/>
        </p:nvPicPr>
        <p:blipFill>
          <a:blip r:embed="rId4">
            <a:alphaModFix/>
          </a:blip>
          <a:stretch>
            <a:fillRect/>
          </a:stretch>
        </p:blipFill>
        <p:spPr>
          <a:xfrm>
            <a:off x="5178250" y="1677050"/>
            <a:ext cx="3278674" cy="2068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1"/>
        <p:cNvGrpSpPr/>
        <p:nvPr/>
      </p:nvGrpSpPr>
      <p:grpSpPr>
        <a:xfrm>
          <a:off x="0" y="0"/>
          <a:ext cx="0" cy="0"/>
          <a:chOff x="0" y="0"/>
          <a:chExt cx="0" cy="0"/>
        </a:xfrm>
      </p:grpSpPr>
      <p:grpSp>
        <p:nvGrpSpPr>
          <p:cNvPr id="2292" name="Google Shape;2292;p43"/>
          <p:cNvGrpSpPr/>
          <p:nvPr/>
        </p:nvGrpSpPr>
        <p:grpSpPr>
          <a:xfrm>
            <a:off x="5633001" y="2868290"/>
            <a:ext cx="2687439" cy="1998853"/>
            <a:chOff x="862950" y="825025"/>
            <a:chExt cx="5862650" cy="4111175"/>
          </a:xfrm>
        </p:grpSpPr>
        <p:sp>
          <p:nvSpPr>
            <p:cNvPr id="2293" name="Google Shape;2293;p43"/>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3"/>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3"/>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3"/>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3"/>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3"/>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3"/>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3"/>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3"/>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3"/>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3"/>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3"/>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3"/>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3"/>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3"/>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3"/>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3"/>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3"/>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3"/>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3"/>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3"/>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3"/>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3"/>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3"/>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3"/>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3"/>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3"/>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3"/>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3"/>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3"/>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3"/>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3"/>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3"/>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3"/>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3"/>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3"/>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3"/>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3"/>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3"/>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3"/>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3"/>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3"/>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3"/>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3"/>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3"/>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3"/>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3"/>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3"/>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3"/>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3"/>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3"/>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3"/>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3"/>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3"/>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3"/>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3"/>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3"/>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3"/>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3"/>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3"/>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3"/>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3"/>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3"/>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3"/>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3"/>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3"/>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3"/>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3"/>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3"/>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3"/>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3"/>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3"/>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3"/>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3"/>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3"/>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3"/>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3"/>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3"/>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3"/>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3"/>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3"/>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3"/>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3"/>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3"/>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3"/>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3"/>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3"/>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3"/>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3"/>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3"/>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3"/>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3"/>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3"/>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3"/>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3"/>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3"/>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3"/>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3"/>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3"/>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3"/>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3"/>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3"/>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3"/>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3"/>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3"/>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3"/>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3"/>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3"/>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3"/>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3"/>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3"/>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3"/>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3"/>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3"/>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3"/>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3"/>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3"/>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3"/>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3"/>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3"/>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3"/>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3"/>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3"/>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3"/>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3"/>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3"/>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3"/>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3"/>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3"/>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3"/>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3"/>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3"/>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3"/>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3"/>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3"/>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3"/>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3"/>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3"/>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3"/>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3"/>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3"/>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3"/>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3"/>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3"/>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3"/>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3"/>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3"/>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3"/>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3"/>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3"/>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3"/>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3"/>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3"/>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3"/>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3"/>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3"/>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3"/>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3"/>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3"/>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3"/>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3"/>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3"/>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3"/>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3"/>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3"/>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3"/>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3"/>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3"/>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3"/>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3"/>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3"/>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3"/>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3"/>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3"/>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3"/>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3"/>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3"/>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3"/>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3"/>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3"/>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3"/>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3"/>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3"/>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3"/>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3"/>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3"/>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3"/>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3"/>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3"/>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3"/>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3"/>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3"/>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3"/>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3"/>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3"/>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3"/>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3"/>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3"/>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3"/>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3"/>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3"/>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3"/>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3"/>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3"/>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3"/>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3"/>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3"/>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3"/>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3"/>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2" name="Google Shape;2502;p43"/>
          <p:cNvGrpSpPr/>
          <p:nvPr/>
        </p:nvGrpSpPr>
        <p:grpSpPr>
          <a:xfrm>
            <a:off x="162922" y="915998"/>
            <a:ext cx="635100" cy="734640"/>
            <a:chOff x="731647" y="573573"/>
            <a:chExt cx="635100" cy="734640"/>
          </a:xfrm>
        </p:grpSpPr>
        <p:grpSp>
          <p:nvGrpSpPr>
            <p:cNvPr id="2503" name="Google Shape;2503;p43"/>
            <p:cNvGrpSpPr/>
            <p:nvPr/>
          </p:nvGrpSpPr>
          <p:grpSpPr>
            <a:xfrm>
              <a:off x="731647" y="573573"/>
              <a:ext cx="635100" cy="635100"/>
              <a:chOff x="917231" y="750460"/>
              <a:chExt cx="635100" cy="635100"/>
            </a:xfrm>
          </p:grpSpPr>
          <p:sp>
            <p:nvSpPr>
              <p:cNvPr id="2504" name="Google Shape;2504;p43"/>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3"/>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6" name="Google Shape;2506;p43"/>
            <p:cNvGrpSpPr/>
            <p:nvPr/>
          </p:nvGrpSpPr>
          <p:grpSpPr>
            <a:xfrm>
              <a:off x="961679" y="1281213"/>
              <a:ext cx="175013" cy="27000"/>
              <a:chOff x="5662375" y="212375"/>
              <a:chExt cx="175013" cy="27000"/>
            </a:xfrm>
          </p:grpSpPr>
          <p:sp>
            <p:nvSpPr>
              <p:cNvPr id="2507" name="Google Shape;2507;p4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508" name="Google Shape;2508;p4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509" name="Google Shape;2509;p4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510" name="Google Shape;2510;p43"/>
          <p:cNvGrpSpPr/>
          <p:nvPr/>
        </p:nvGrpSpPr>
        <p:grpSpPr>
          <a:xfrm>
            <a:off x="129847" y="3106860"/>
            <a:ext cx="635100" cy="733490"/>
            <a:chOff x="731647" y="1650460"/>
            <a:chExt cx="635100" cy="733490"/>
          </a:xfrm>
        </p:grpSpPr>
        <p:grpSp>
          <p:nvGrpSpPr>
            <p:cNvPr id="2511" name="Google Shape;2511;p43"/>
            <p:cNvGrpSpPr/>
            <p:nvPr/>
          </p:nvGrpSpPr>
          <p:grpSpPr>
            <a:xfrm>
              <a:off x="731647" y="1650460"/>
              <a:ext cx="635100" cy="635100"/>
              <a:chOff x="917231" y="1827973"/>
              <a:chExt cx="635100" cy="635100"/>
            </a:xfrm>
          </p:grpSpPr>
          <p:sp>
            <p:nvSpPr>
              <p:cNvPr id="2512" name="Google Shape;2512;p43"/>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3"/>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4" name="Google Shape;2514;p43"/>
            <p:cNvGrpSpPr/>
            <p:nvPr/>
          </p:nvGrpSpPr>
          <p:grpSpPr>
            <a:xfrm>
              <a:off x="961679" y="2356951"/>
              <a:ext cx="175013" cy="27000"/>
              <a:chOff x="5662375" y="212375"/>
              <a:chExt cx="175013" cy="27000"/>
            </a:xfrm>
          </p:grpSpPr>
          <p:sp>
            <p:nvSpPr>
              <p:cNvPr id="2515" name="Google Shape;2515;p4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516" name="Google Shape;2516;p4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517" name="Google Shape;2517;p4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518" name="Google Shape;2518;p43"/>
          <p:cNvGrpSpPr/>
          <p:nvPr/>
        </p:nvGrpSpPr>
        <p:grpSpPr>
          <a:xfrm>
            <a:off x="4736609" y="912727"/>
            <a:ext cx="635100" cy="734984"/>
            <a:chOff x="731647" y="2728277"/>
            <a:chExt cx="635100" cy="734984"/>
          </a:xfrm>
        </p:grpSpPr>
        <p:grpSp>
          <p:nvGrpSpPr>
            <p:cNvPr id="2519" name="Google Shape;2519;p43"/>
            <p:cNvGrpSpPr/>
            <p:nvPr/>
          </p:nvGrpSpPr>
          <p:grpSpPr>
            <a:xfrm>
              <a:off x="731647" y="2728277"/>
              <a:ext cx="635100" cy="635100"/>
              <a:chOff x="917231" y="2905502"/>
              <a:chExt cx="635100" cy="635100"/>
            </a:xfrm>
          </p:grpSpPr>
          <p:sp>
            <p:nvSpPr>
              <p:cNvPr id="2520" name="Google Shape;2520;p43"/>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3"/>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2" name="Google Shape;2522;p43"/>
            <p:cNvGrpSpPr/>
            <p:nvPr/>
          </p:nvGrpSpPr>
          <p:grpSpPr>
            <a:xfrm>
              <a:off x="961679" y="3436260"/>
              <a:ext cx="175013" cy="27000"/>
              <a:chOff x="5662375" y="212375"/>
              <a:chExt cx="175013" cy="27000"/>
            </a:xfrm>
          </p:grpSpPr>
          <p:sp>
            <p:nvSpPr>
              <p:cNvPr id="2523" name="Google Shape;2523;p4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524" name="Google Shape;2524;p4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525" name="Google Shape;2525;p4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526" name="Google Shape;2526;p43"/>
          <p:cNvSpPr txBox="1">
            <a:spLocks noGrp="1"/>
          </p:cNvSpPr>
          <p:nvPr>
            <p:ph type="title"/>
          </p:nvPr>
        </p:nvSpPr>
        <p:spPr>
          <a:xfrm>
            <a:off x="858200" y="196200"/>
            <a:ext cx="72987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Understanding the Role of Monte Carlo Simulations</a:t>
            </a:r>
            <a:endParaRPr/>
          </a:p>
        </p:txBody>
      </p:sp>
      <p:sp>
        <p:nvSpPr>
          <p:cNvPr id="2527" name="Google Shape;2527;p43"/>
          <p:cNvSpPr txBox="1">
            <a:spLocks noGrp="1"/>
          </p:cNvSpPr>
          <p:nvPr>
            <p:ph type="subTitle" idx="2"/>
          </p:nvPr>
        </p:nvSpPr>
        <p:spPr>
          <a:xfrm>
            <a:off x="1095475" y="1055650"/>
            <a:ext cx="3481500" cy="18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000000"/>
                </a:solidFill>
                <a:latin typeface="Arial"/>
                <a:ea typeface="Arial"/>
                <a:cs typeface="Arial"/>
                <a:sym typeface="Arial"/>
              </a:rPr>
              <a:t>Problem:</a:t>
            </a:r>
            <a:r>
              <a:rPr lang="en" sz="1100">
                <a:solidFill>
                  <a:srgbClr val="000000"/>
                </a:solidFill>
                <a:latin typeface="Arial"/>
                <a:ea typeface="Arial"/>
                <a:cs typeface="Arial"/>
                <a:sym typeface="Arial"/>
              </a:rPr>
              <a:t> Real historical data might be limited, especially in finance, where only a few years' worth of data might be available.</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b="1">
                <a:solidFill>
                  <a:srgbClr val="000000"/>
                </a:solidFill>
                <a:latin typeface="Arial"/>
                <a:ea typeface="Arial"/>
                <a:cs typeface="Arial"/>
                <a:sym typeface="Arial"/>
              </a:rPr>
              <a:t>Monte Carlo Solution:</a:t>
            </a:r>
            <a:r>
              <a:rPr lang="en" sz="1100">
                <a:solidFill>
                  <a:srgbClr val="000000"/>
                </a:solidFill>
                <a:latin typeface="Arial"/>
                <a:ea typeface="Arial"/>
                <a:cs typeface="Arial"/>
                <a:sym typeface="Arial"/>
              </a:rPr>
              <a:t> Monte Carlo simulations generate synthetic data that mimic the statistical properties of real data (like mean returns and volatility)[1]. This augments your dataset, providing a vast amount of additional data points to train the LSTM.</a:t>
            </a:r>
            <a:endParaRPr sz="1100">
              <a:solidFill>
                <a:srgbClr val="000000"/>
              </a:solidFill>
              <a:latin typeface="Arial"/>
              <a:ea typeface="Arial"/>
              <a:cs typeface="Arial"/>
              <a:sym typeface="Arial"/>
            </a:endParaRPr>
          </a:p>
        </p:txBody>
      </p:sp>
      <p:sp>
        <p:nvSpPr>
          <p:cNvPr id="2528" name="Google Shape;2528;p43"/>
          <p:cNvSpPr txBox="1">
            <a:spLocks noGrp="1"/>
          </p:cNvSpPr>
          <p:nvPr>
            <p:ph type="subTitle" idx="1"/>
          </p:nvPr>
        </p:nvSpPr>
        <p:spPr>
          <a:xfrm>
            <a:off x="1095483" y="772193"/>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Data Augmentation:</a:t>
            </a:r>
            <a:endParaRPr/>
          </a:p>
        </p:txBody>
      </p:sp>
      <p:sp>
        <p:nvSpPr>
          <p:cNvPr id="2529" name="Google Shape;2529;p43"/>
          <p:cNvSpPr txBox="1">
            <a:spLocks noGrp="1"/>
          </p:cNvSpPr>
          <p:nvPr>
            <p:ph type="subTitle" idx="3"/>
          </p:nvPr>
        </p:nvSpPr>
        <p:spPr>
          <a:xfrm>
            <a:off x="1062408" y="2965160"/>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Scenario Generation:</a:t>
            </a:r>
            <a:endParaRPr/>
          </a:p>
        </p:txBody>
      </p:sp>
      <p:sp>
        <p:nvSpPr>
          <p:cNvPr id="2530" name="Google Shape;2530;p43"/>
          <p:cNvSpPr txBox="1">
            <a:spLocks noGrp="1"/>
          </p:cNvSpPr>
          <p:nvPr>
            <p:ph type="subTitle" idx="4"/>
          </p:nvPr>
        </p:nvSpPr>
        <p:spPr>
          <a:xfrm>
            <a:off x="1062400" y="3248625"/>
            <a:ext cx="3374100" cy="135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solidFill>
                  <a:srgbClr val="000000"/>
                </a:solidFill>
                <a:latin typeface="Arial"/>
                <a:ea typeface="Arial"/>
                <a:cs typeface="Arial"/>
                <a:sym typeface="Arial"/>
              </a:rPr>
              <a:t>Problem:</a:t>
            </a:r>
            <a:r>
              <a:rPr lang="en" sz="1100">
                <a:solidFill>
                  <a:srgbClr val="000000"/>
                </a:solidFill>
                <a:latin typeface="Arial"/>
                <a:ea typeface="Arial"/>
                <a:cs typeface="Arial"/>
                <a:sym typeface="Arial"/>
              </a:rPr>
              <a:t> Real market conditions may not cover all possible future scenarios, especially extreme events or rare occurrences.</a:t>
            </a: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100" b="1">
                <a:solidFill>
                  <a:srgbClr val="000000"/>
                </a:solidFill>
                <a:latin typeface="Arial"/>
                <a:ea typeface="Arial"/>
                <a:cs typeface="Arial"/>
                <a:sym typeface="Arial"/>
              </a:rPr>
              <a:t>Monte Carlo Solution:</a:t>
            </a:r>
            <a:r>
              <a:rPr lang="en" sz="1100">
                <a:solidFill>
                  <a:srgbClr val="000000"/>
                </a:solidFill>
                <a:latin typeface="Arial"/>
                <a:ea typeface="Arial"/>
                <a:cs typeface="Arial"/>
                <a:sym typeface="Arial"/>
              </a:rPr>
              <a:t> Simulations can generate a wide range of possible future paths, including rare or extreme market conditions[1].</a:t>
            </a:r>
            <a:endParaRPr sz="1100">
              <a:solidFill>
                <a:srgbClr val="000000"/>
              </a:solidFill>
              <a:latin typeface="Arial"/>
              <a:ea typeface="Arial"/>
              <a:cs typeface="Arial"/>
              <a:sym typeface="Arial"/>
            </a:endParaRPr>
          </a:p>
        </p:txBody>
      </p:sp>
      <p:sp>
        <p:nvSpPr>
          <p:cNvPr id="2531" name="Google Shape;2531;p43"/>
          <p:cNvSpPr txBox="1">
            <a:spLocks noGrp="1"/>
          </p:cNvSpPr>
          <p:nvPr>
            <p:ph type="subTitle" idx="5"/>
          </p:nvPr>
        </p:nvSpPr>
        <p:spPr>
          <a:xfrm>
            <a:off x="5669171" y="772202"/>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Risk Management:</a:t>
            </a:r>
            <a:endParaRPr/>
          </a:p>
        </p:txBody>
      </p:sp>
      <p:sp>
        <p:nvSpPr>
          <p:cNvPr id="2532" name="Google Shape;2532;p43"/>
          <p:cNvSpPr txBox="1">
            <a:spLocks noGrp="1"/>
          </p:cNvSpPr>
          <p:nvPr>
            <p:ph type="subTitle" idx="6"/>
          </p:nvPr>
        </p:nvSpPr>
        <p:spPr>
          <a:xfrm>
            <a:off x="5669150" y="1055675"/>
            <a:ext cx="3224700" cy="168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solidFill>
                  <a:srgbClr val="000000"/>
                </a:solidFill>
                <a:latin typeface="Arial"/>
                <a:ea typeface="Arial"/>
                <a:cs typeface="Arial"/>
                <a:sym typeface="Arial"/>
              </a:rPr>
              <a:t>Problem:</a:t>
            </a:r>
            <a:r>
              <a:rPr lang="en" sz="1100">
                <a:solidFill>
                  <a:srgbClr val="000000"/>
                </a:solidFill>
                <a:latin typeface="Arial"/>
                <a:ea typeface="Arial"/>
                <a:cs typeface="Arial"/>
                <a:sym typeface="Arial"/>
              </a:rPr>
              <a:t> Bidirectional LSTM and GRU models need to be aware of potential risks and market behavior under different conditions</a:t>
            </a: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100" b="1">
                <a:solidFill>
                  <a:srgbClr val="000000"/>
                </a:solidFill>
                <a:latin typeface="Arial"/>
                <a:ea typeface="Arial"/>
                <a:cs typeface="Arial"/>
                <a:sym typeface="Arial"/>
              </a:rPr>
              <a:t>Monte Carlo Solution:</a:t>
            </a:r>
            <a:r>
              <a:rPr lang="en" sz="1100">
                <a:solidFill>
                  <a:srgbClr val="000000"/>
                </a:solidFill>
                <a:latin typeface="Arial"/>
                <a:ea typeface="Arial"/>
                <a:cs typeface="Arial"/>
                <a:sym typeface="Arial"/>
              </a:rPr>
              <a:t> By training on a variety of simulated scenarios, the Bidirectional LSTM and GRU models we can better capture the risks associated with different market conditions, helping it to make more informed predictions[1].</a:t>
            </a:r>
            <a:endParaRPr/>
          </a:p>
        </p:txBody>
      </p:sp>
      <p:sp>
        <p:nvSpPr>
          <p:cNvPr id="2533" name="Google Shape;2533;p43"/>
          <p:cNvSpPr txBox="1">
            <a:spLocks noGrp="1"/>
          </p:cNvSpPr>
          <p:nvPr>
            <p:ph type="title" idx="9"/>
          </p:nvPr>
        </p:nvSpPr>
        <p:spPr>
          <a:xfrm>
            <a:off x="245091" y="1064801"/>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534" name="Google Shape;2534;p43"/>
          <p:cNvSpPr txBox="1">
            <a:spLocks noGrp="1"/>
          </p:cNvSpPr>
          <p:nvPr>
            <p:ph type="title" idx="13"/>
          </p:nvPr>
        </p:nvSpPr>
        <p:spPr>
          <a:xfrm>
            <a:off x="212016" y="32577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535" name="Google Shape;2535;p43"/>
          <p:cNvSpPr txBox="1">
            <a:spLocks noGrp="1"/>
          </p:cNvSpPr>
          <p:nvPr>
            <p:ph type="title" idx="14"/>
          </p:nvPr>
        </p:nvSpPr>
        <p:spPr>
          <a:xfrm>
            <a:off x="4818779" y="106481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9"/>
        <p:cNvGrpSpPr/>
        <p:nvPr/>
      </p:nvGrpSpPr>
      <p:grpSpPr>
        <a:xfrm>
          <a:off x="0" y="0"/>
          <a:ext cx="0" cy="0"/>
          <a:chOff x="0" y="0"/>
          <a:chExt cx="0" cy="0"/>
        </a:xfrm>
      </p:grpSpPr>
      <p:sp>
        <p:nvSpPr>
          <p:cNvPr id="2540" name="Google Shape;2540;p44"/>
          <p:cNvSpPr txBox="1">
            <a:spLocks noGrp="1"/>
          </p:cNvSpPr>
          <p:nvPr>
            <p:ph type="title"/>
          </p:nvPr>
        </p:nvSpPr>
        <p:spPr>
          <a:xfrm>
            <a:off x="2089350" y="1828750"/>
            <a:ext cx="4965300" cy="192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a:t>VARIANCE REDUCTION TECHNIQUES</a:t>
            </a:r>
            <a:endParaRPr sz="4500"/>
          </a:p>
        </p:txBody>
      </p:sp>
      <p:sp>
        <p:nvSpPr>
          <p:cNvPr id="2541" name="Google Shape;2541;p44"/>
          <p:cNvSpPr txBox="1">
            <a:spLocks noGrp="1"/>
          </p:cNvSpPr>
          <p:nvPr>
            <p:ph type="title" idx="2"/>
          </p:nvPr>
        </p:nvSpPr>
        <p:spPr>
          <a:xfrm>
            <a:off x="2906550" y="867663"/>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a:t>03</a:t>
            </a:r>
            <a:endParaRPr sz="7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5"/>
        <p:cNvGrpSpPr/>
        <p:nvPr/>
      </p:nvGrpSpPr>
      <p:grpSpPr>
        <a:xfrm>
          <a:off x="0" y="0"/>
          <a:ext cx="0" cy="0"/>
          <a:chOff x="0" y="0"/>
          <a:chExt cx="0" cy="0"/>
        </a:xfrm>
      </p:grpSpPr>
      <p:sp>
        <p:nvSpPr>
          <p:cNvPr id="2546" name="Google Shape;2546;p45"/>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are Antithetic Variates?</a:t>
            </a:r>
            <a:endParaRPr/>
          </a:p>
        </p:txBody>
      </p:sp>
      <p:sp>
        <p:nvSpPr>
          <p:cNvPr id="2547" name="Google Shape;2547;p45"/>
          <p:cNvSpPr txBox="1"/>
          <p:nvPr/>
        </p:nvSpPr>
        <p:spPr>
          <a:xfrm>
            <a:off x="949075" y="1072525"/>
            <a:ext cx="7392300" cy="471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a:latin typeface="Barlow Semi Condensed"/>
                <a:ea typeface="Barlow Semi Condensed"/>
                <a:cs typeface="Barlow Semi Condensed"/>
                <a:sym typeface="Barlow Semi Condensed"/>
              </a:rPr>
              <a:t>Antithetic variates are used to reduce the variance of Monte Carlo simulations by pairing each random variable with its antithetic counterpart (i.e., its negative). This technique helps in obtaining a more stable and accurate estimate. It refers to simulated values that are not independent but are negatively correlated.[2]</a:t>
            </a:r>
            <a:endParaRPr>
              <a:latin typeface="Barlow Semi Condensed"/>
              <a:ea typeface="Barlow Semi Condensed"/>
              <a:cs typeface="Barlow Semi Condensed"/>
              <a:sym typeface="Barlow Semi Condensed"/>
            </a:endParaRPr>
          </a:p>
          <a:p>
            <a:pPr marL="0" lvl="0" indent="0" algn="l" rtl="0">
              <a:lnSpc>
                <a:spcPct val="115000"/>
              </a:lnSpc>
              <a:spcBef>
                <a:spcPts val="1200"/>
              </a:spcBef>
              <a:spcAft>
                <a:spcPts val="0"/>
              </a:spcAft>
              <a:buNone/>
            </a:pPr>
            <a:r>
              <a:rPr lang="en">
                <a:latin typeface="Barlow Semi Condensed"/>
                <a:ea typeface="Barlow Semi Condensed"/>
                <a:cs typeface="Barlow Semi Condensed"/>
                <a:sym typeface="Barlow Semi Condensed"/>
              </a:rPr>
              <a:t>The basic idea is to introduce negative correlation between pairs of simulated paths to counterbalance the errors in one path with those in its "antithetic" pair.</a:t>
            </a:r>
            <a:endParaRPr>
              <a:latin typeface="Barlow Semi Condensed"/>
              <a:ea typeface="Barlow Semi Condensed"/>
              <a:cs typeface="Barlow Semi Condensed"/>
              <a:sym typeface="Barlow Semi Condensed"/>
            </a:endParaRPr>
          </a:p>
          <a:p>
            <a:pPr marL="0" lvl="0" indent="0" algn="l" rtl="0">
              <a:lnSpc>
                <a:spcPct val="115000"/>
              </a:lnSpc>
              <a:spcBef>
                <a:spcPts val="1200"/>
              </a:spcBef>
              <a:spcAft>
                <a:spcPts val="0"/>
              </a:spcAft>
              <a:buNone/>
            </a:pPr>
            <a:r>
              <a:rPr lang="en" sz="1600" b="1">
                <a:latin typeface="Barlow Semi Condensed"/>
                <a:ea typeface="Barlow Semi Condensed"/>
                <a:cs typeface="Barlow Semi Condensed"/>
                <a:sym typeface="Barlow Semi Condensed"/>
              </a:rPr>
              <a:t>How It Reduces Variance</a:t>
            </a:r>
            <a:endParaRPr sz="1600" b="1">
              <a:latin typeface="Barlow Semi Condensed"/>
              <a:ea typeface="Barlow Semi Condensed"/>
              <a:cs typeface="Barlow Semi Condensed"/>
              <a:sym typeface="Barlow Semi Condensed"/>
            </a:endParaRPr>
          </a:p>
          <a:p>
            <a:pPr marL="457200" lvl="0" indent="-311150" algn="l" rtl="0">
              <a:lnSpc>
                <a:spcPct val="115000"/>
              </a:lnSpc>
              <a:spcBef>
                <a:spcPts val="1200"/>
              </a:spcBef>
              <a:spcAft>
                <a:spcPts val="0"/>
              </a:spcAft>
              <a:buSzPts val="1300"/>
              <a:buFont typeface="Barlow Semi Condensed"/>
              <a:buAutoNum type="arabicPeriod"/>
            </a:pPr>
            <a:r>
              <a:rPr lang="en" sz="1300" b="1">
                <a:latin typeface="Barlow Semi Condensed"/>
                <a:ea typeface="Barlow Semi Condensed"/>
                <a:cs typeface="Barlow Semi Condensed"/>
                <a:sym typeface="Barlow Semi Condensed"/>
              </a:rPr>
              <a:t>Balancing Effects</a:t>
            </a:r>
            <a:r>
              <a:rPr lang="en" sz="1300">
                <a:latin typeface="Barlow Semi Condensed"/>
                <a:ea typeface="Barlow Semi Condensed"/>
                <a:cs typeface="Barlow Semi Condensed"/>
                <a:sym typeface="Barlow Semi Condensed"/>
              </a:rPr>
              <a:t>: Positive errors in one path are offset by negative errors in its antithetic pair, leading to a more stable estimate.</a:t>
            </a:r>
            <a:endParaRPr sz="1300">
              <a:latin typeface="Barlow Semi Condensed"/>
              <a:ea typeface="Barlow Semi Condensed"/>
              <a:cs typeface="Barlow Semi Condensed"/>
              <a:sym typeface="Barlow Semi Condensed"/>
            </a:endParaRPr>
          </a:p>
          <a:p>
            <a:pPr marL="457200" lvl="0" indent="-311150" algn="l" rtl="0">
              <a:lnSpc>
                <a:spcPct val="115000"/>
              </a:lnSpc>
              <a:spcBef>
                <a:spcPts val="0"/>
              </a:spcBef>
              <a:spcAft>
                <a:spcPts val="0"/>
              </a:spcAft>
              <a:buSzPts val="1300"/>
              <a:buFont typeface="Barlow Semi Condensed"/>
              <a:buAutoNum type="arabicPeriod"/>
            </a:pPr>
            <a:r>
              <a:rPr lang="en" sz="1300" b="1">
                <a:latin typeface="Barlow Semi Condensed"/>
                <a:ea typeface="Barlow Semi Condensed"/>
                <a:cs typeface="Barlow Semi Condensed"/>
                <a:sym typeface="Barlow Semi Condensed"/>
              </a:rPr>
              <a:t>Negative Correlation</a:t>
            </a:r>
            <a:r>
              <a:rPr lang="en" sz="1300">
                <a:latin typeface="Barlow Semi Condensed"/>
                <a:ea typeface="Barlow Semi Condensed"/>
                <a:cs typeface="Barlow Semi Condensed"/>
                <a:sym typeface="Barlow Semi Condensed"/>
              </a:rPr>
              <a:t>: The original and antithetic paths are negatively correlated. This negative correlation tends to cancel out the fluctuations in the estimators, leading to a reduction in the overall variance</a:t>
            </a:r>
            <a:endParaRPr sz="1300">
              <a:latin typeface="Barlow Semi Condensed"/>
              <a:ea typeface="Barlow Semi Condensed"/>
              <a:cs typeface="Barlow Semi Condensed"/>
              <a:sym typeface="Barlow Semi Condensed"/>
            </a:endParaRPr>
          </a:p>
          <a:p>
            <a:pPr marL="457200" lvl="0" indent="-311150" algn="l" rtl="0">
              <a:lnSpc>
                <a:spcPct val="115000"/>
              </a:lnSpc>
              <a:spcBef>
                <a:spcPts val="0"/>
              </a:spcBef>
              <a:spcAft>
                <a:spcPts val="0"/>
              </a:spcAft>
              <a:buSzPts val="1300"/>
              <a:buFont typeface="Barlow Semi Condensed"/>
              <a:buAutoNum type="arabicPeriod"/>
            </a:pPr>
            <a:r>
              <a:rPr lang="en" sz="1300" b="1">
                <a:latin typeface="Barlow Semi Condensed"/>
                <a:ea typeface="Barlow Semi Condensed"/>
                <a:cs typeface="Barlow Semi Condensed"/>
                <a:sym typeface="Barlow Semi Condensed"/>
              </a:rPr>
              <a:t>Faster Convergence</a:t>
            </a:r>
            <a:r>
              <a:rPr lang="en" sz="1300">
                <a:latin typeface="Barlow Semi Condensed"/>
                <a:ea typeface="Barlow Semi Condensed"/>
                <a:cs typeface="Barlow Semi Condensed"/>
                <a:sym typeface="Barlow Semi Condensed"/>
              </a:rPr>
              <a:t>: Because the variance is reduced, the estimate converges more quickly to the true value with fewer simulations. This allows for more efficient computation</a:t>
            </a:r>
            <a:endParaRPr sz="1300">
              <a:latin typeface="Barlow Semi Condensed"/>
              <a:ea typeface="Barlow Semi Condensed"/>
              <a:cs typeface="Barlow Semi Condensed"/>
              <a:sym typeface="Barlow Semi Condensed"/>
            </a:endParaRPr>
          </a:p>
          <a:p>
            <a:pPr marL="0" lvl="0" indent="0" algn="l" rtl="0">
              <a:spcBef>
                <a:spcPts val="1200"/>
              </a:spcBef>
              <a:spcAft>
                <a:spcPts val="0"/>
              </a:spcAft>
              <a:buNone/>
            </a:pPr>
            <a:endParaRPr/>
          </a:p>
          <a:p>
            <a:pPr marL="0" lvl="0" indent="0" algn="l" rtl="0">
              <a:lnSpc>
                <a:spcPct val="115000"/>
              </a:lnSpc>
              <a:spcBef>
                <a:spcPts val="1200"/>
              </a:spcBef>
              <a:spcAft>
                <a:spcPts val="1200"/>
              </a:spcAft>
              <a:buNone/>
            </a:pPr>
            <a:endParaRPr sz="11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51"/>
        <p:cNvGrpSpPr/>
        <p:nvPr/>
      </p:nvGrpSpPr>
      <p:grpSpPr>
        <a:xfrm>
          <a:off x="0" y="0"/>
          <a:ext cx="0" cy="0"/>
          <a:chOff x="0" y="0"/>
          <a:chExt cx="0" cy="0"/>
        </a:xfrm>
      </p:grpSpPr>
      <p:sp>
        <p:nvSpPr>
          <p:cNvPr id="2552" name="Google Shape;2552;p46"/>
          <p:cNvSpPr txBox="1">
            <a:spLocks noGrp="1"/>
          </p:cNvSpPr>
          <p:nvPr>
            <p:ph type="title" idx="2"/>
          </p:nvPr>
        </p:nvSpPr>
        <p:spPr>
          <a:xfrm>
            <a:off x="881100" y="221850"/>
            <a:ext cx="73818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Antithetic Variate Example  </a:t>
            </a:r>
            <a:endParaRPr sz="5000"/>
          </a:p>
        </p:txBody>
      </p:sp>
      <p:pic>
        <p:nvPicPr>
          <p:cNvPr id="2553" name="Google Shape;2553;p46"/>
          <p:cNvPicPr preferRelativeResize="0"/>
          <p:nvPr/>
        </p:nvPicPr>
        <p:blipFill>
          <a:blip r:embed="rId3">
            <a:alphaModFix/>
          </a:blip>
          <a:stretch>
            <a:fillRect/>
          </a:stretch>
        </p:blipFill>
        <p:spPr>
          <a:xfrm>
            <a:off x="1217849" y="1453025"/>
            <a:ext cx="6708325" cy="324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7"/>
        <p:cNvGrpSpPr/>
        <p:nvPr/>
      </p:nvGrpSpPr>
      <p:grpSpPr>
        <a:xfrm>
          <a:off x="0" y="0"/>
          <a:ext cx="0" cy="0"/>
          <a:chOff x="0" y="0"/>
          <a:chExt cx="0" cy="0"/>
        </a:xfrm>
      </p:grpSpPr>
      <p:sp>
        <p:nvSpPr>
          <p:cNvPr id="2558" name="Google Shape;2558;p47"/>
          <p:cNvSpPr txBox="1">
            <a:spLocks noGrp="1"/>
          </p:cNvSpPr>
          <p:nvPr>
            <p:ph type="title" idx="4294967295"/>
          </p:nvPr>
        </p:nvSpPr>
        <p:spPr>
          <a:xfrm>
            <a:off x="809550" y="276650"/>
            <a:ext cx="7524900" cy="59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Antithetic variates helps in variance reduction </a:t>
            </a:r>
            <a:endParaRPr/>
          </a:p>
          <a:p>
            <a:pPr marL="0" lvl="0" indent="0" algn="l" rtl="0">
              <a:spcBef>
                <a:spcPts val="0"/>
              </a:spcBef>
              <a:spcAft>
                <a:spcPts val="0"/>
              </a:spcAft>
              <a:buNone/>
            </a:pPr>
            <a:endParaRPr/>
          </a:p>
        </p:txBody>
      </p:sp>
      <p:pic>
        <p:nvPicPr>
          <p:cNvPr id="2559" name="Google Shape;2559;p47"/>
          <p:cNvPicPr preferRelativeResize="0"/>
          <p:nvPr/>
        </p:nvPicPr>
        <p:blipFill>
          <a:blip r:embed="rId3">
            <a:alphaModFix/>
          </a:blip>
          <a:stretch>
            <a:fillRect/>
          </a:stretch>
        </p:blipFill>
        <p:spPr>
          <a:xfrm>
            <a:off x="1523363" y="1038025"/>
            <a:ext cx="6097270" cy="3942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3"/>
        <p:cNvGrpSpPr/>
        <p:nvPr/>
      </p:nvGrpSpPr>
      <p:grpSpPr>
        <a:xfrm>
          <a:off x="0" y="0"/>
          <a:ext cx="0" cy="0"/>
          <a:chOff x="0" y="0"/>
          <a:chExt cx="0" cy="0"/>
        </a:xfrm>
      </p:grpSpPr>
      <p:sp>
        <p:nvSpPr>
          <p:cNvPr id="2564" name="Google Shape;2564;p48"/>
          <p:cNvSpPr txBox="1">
            <a:spLocks noGrp="1"/>
          </p:cNvSpPr>
          <p:nvPr>
            <p:ph type="title"/>
          </p:nvPr>
        </p:nvSpPr>
        <p:spPr>
          <a:xfrm>
            <a:off x="1797125" y="431475"/>
            <a:ext cx="6006300" cy="75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a:t>Our Process and Solutions</a:t>
            </a:r>
            <a:endParaRPr sz="4000"/>
          </a:p>
        </p:txBody>
      </p:sp>
      <p:sp>
        <p:nvSpPr>
          <p:cNvPr id="2565" name="Google Shape;2565;p48"/>
          <p:cNvSpPr txBox="1">
            <a:spLocks noGrp="1"/>
          </p:cNvSpPr>
          <p:nvPr>
            <p:ph type="subTitle" idx="1"/>
          </p:nvPr>
        </p:nvSpPr>
        <p:spPr>
          <a:xfrm>
            <a:off x="1709928" y="1545336"/>
            <a:ext cx="19452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Data Collection</a:t>
            </a:r>
            <a:endParaRPr/>
          </a:p>
        </p:txBody>
      </p:sp>
      <p:sp>
        <p:nvSpPr>
          <p:cNvPr id="2566" name="Google Shape;2566;p48"/>
          <p:cNvSpPr txBox="1">
            <a:spLocks noGrp="1"/>
          </p:cNvSpPr>
          <p:nvPr>
            <p:ph type="subTitle" idx="2"/>
          </p:nvPr>
        </p:nvSpPr>
        <p:spPr>
          <a:xfrm>
            <a:off x="1709925" y="1938525"/>
            <a:ext cx="2391900" cy="223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Using y finance to scrape data from national stock exchange (nse) majorly stocks from nifty 50.</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Calculating daily returns, mean returns, and covariance matrix.</a:t>
            </a:r>
            <a:endParaRPr sz="1500"/>
          </a:p>
        </p:txBody>
      </p:sp>
      <p:sp>
        <p:nvSpPr>
          <p:cNvPr id="2567" name="Google Shape;2567;p48"/>
          <p:cNvSpPr txBox="1">
            <a:spLocks noGrp="1"/>
          </p:cNvSpPr>
          <p:nvPr>
            <p:ph type="subTitle" idx="3"/>
          </p:nvPr>
        </p:nvSpPr>
        <p:spPr>
          <a:xfrm>
            <a:off x="5468095" y="2305175"/>
            <a:ext cx="28089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Monte Carlo Simulation</a:t>
            </a:r>
            <a:endParaRPr/>
          </a:p>
        </p:txBody>
      </p:sp>
      <p:sp>
        <p:nvSpPr>
          <p:cNvPr id="2568" name="Google Shape;2568;p48"/>
          <p:cNvSpPr txBox="1">
            <a:spLocks noGrp="1"/>
          </p:cNvSpPr>
          <p:nvPr>
            <p:ph type="subTitle" idx="4"/>
          </p:nvPr>
        </p:nvSpPr>
        <p:spPr>
          <a:xfrm>
            <a:off x="5468100" y="2698375"/>
            <a:ext cx="2916600" cy="217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Generating synthetic portfolio values by running multiple Monte Carlo simulations.</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Incorporating variance reduction techniques (Antithetic Variates) to reduce computation.</a:t>
            </a:r>
            <a:endParaRPr sz="1600"/>
          </a:p>
        </p:txBody>
      </p:sp>
      <p:sp>
        <p:nvSpPr>
          <p:cNvPr id="2569" name="Google Shape;2569;p48"/>
          <p:cNvSpPr txBox="1"/>
          <p:nvPr/>
        </p:nvSpPr>
        <p:spPr>
          <a:xfrm>
            <a:off x="512064"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01</a:t>
            </a:r>
            <a:endParaRPr sz="7200">
              <a:solidFill>
                <a:schemeClr val="accent1"/>
              </a:solidFill>
              <a:latin typeface="Fjalla One"/>
              <a:ea typeface="Fjalla One"/>
              <a:cs typeface="Fjalla One"/>
              <a:sym typeface="Fjalla One"/>
            </a:endParaRPr>
          </a:p>
        </p:txBody>
      </p:sp>
      <p:sp>
        <p:nvSpPr>
          <p:cNvPr id="2570" name="Google Shape;2570;p48"/>
          <p:cNvSpPr txBox="1"/>
          <p:nvPr/>
        </p:nvSpPr>
        <p:spPr>
          <a:xfrm>
            <a:off x="4268116" y="246063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02</a:t>
            </a:r>
            <a:endParaRPr sz="7200">
              <a:solidFill>
                <a:schemeClr val="accent1"/>
              </a:solidFill>
              <a:latin typeface="Fjalla One"/>
              <a:ea typeface="Fjalla One"/>
              <a:cs typeface="Fjalla One"/>
              <a:sym typeface="Fjalla On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4"/>
        <p:cNvGrpSpPr/>
        <p:nvPr/>
      </p:nvGrpSpPr>
      <p:grpSpPr>
        <a:xfrm>
          <a:off x="0" y="0"/>
          <a:ext cx="0" cy="0"/>
          <a:chOff x="0" y="0"/>
          <a:chExt cx="0" cy="0"/>
        </a:xfrm>
      </p:grpSpPr>
      <p:sp>
        <p:nvSpPr>
          <p:cNvPr id="2575" name="Google Shape;2575;p49"/>
          <p:cNvSpPr txBox="1">
            <a:spLocks noGrp="1"/>
          </p:cNvSpPr>
          <p:nvPr>
            <p:ph type="title"/>
          </p:nvPr>
        </p:nvSpPr>
        <p:spPr>
          <a:xfrm>
            <a:off x="1568850" y="280325"/>
            <a:ext cx="6006300" cy="5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Process and Solutions</a:t>
            </a:r>
            <a:endParaRPr/>
          </a:p>
          <a:p>
            <a:pPr marL="0" lvl="0" indent="0" algn="ctr" rtl="0">
              <a:spcBef>
                <a:spcPts val="0"/>
              </a:spcBef>
              <a:spcAft>
                <a:spcPts val="0"/>
              </a:spcAft>
              <a:buNone/>
            </a:pPr>
            <a:endParaRPr/>
          </a:p>
        </p:txBody>
      </p:sp>
      <p:sp>
        <p:nvSpPr>
          <p:cNvPr id="2576" name="Google Shape;2576;p49"/>
          <p:cNvSpPr txBox="1">
            <a:spLocks noGrp="1"/>
          </p:cNvSpPr>
          <p:nvPr>
            <p:ph type="subTitle" idx="7"/>
          </p:nvPr>
        </p:nvSpPr>
        <p:spPr>
          <a:xfrm>
            <a:off x="1805297" y="3678300"/>
            <a:ext cx="26868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Prediction and Evaluation</a:t>
            </a:r>
            <a:endParaRPr/>
          </a:p>
        </p:txBody>
      </p:sp>
      <p:sp>
        <p:nvSpPr>
          <p:cNvPr id="2577" name="Google Shape;2577;p49"/>
          <p:cNvSpPr txBox="1">
            <a:spLocks noGrp="1"/>
          </p:cNvSpPr>
          <p:nvPr>
            <p:ph type="subTitle" idx="8"/>
          </p:nvPr>
        </p:nvSpPr>
        <p:spPr>
          <a:xfrm>
            <a:off x="1805300" y="4071475"/>
            <a:ext cx="3078000" cy="9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Use the trained model to predict portfolio values and Day 1 stock allocation over the desired time horizon.</a:t>
            </a:r>
            <a:endParaRPr>
              <a:latin typeface="Barlow Semi Condensed"/>
              <a:ea typeface="Barlow Semi Condensed"/>
              <a:cs typeface="Barlow Semi Condensed"/>
              <a:sym typeface="Barlow Semi Condensed"/>
            </a:endParaRPr>
          </a:p>
        </p:txBody>
      </p:sp>
      <p:sp>
        <p:nvSpPr>
          <p:cNvPr id="2578" name="Google Shape;2578;p49"/>
          <p:cNvSpPr txBox="1"/>
          <p:nvPr/>
        </p:nvSpPr>
        <p:spPr>
          <a:xfrm>
            <a:off x="603798" y="3833736"/>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05</a:t>
            </a:r>
            <a:endParaRPr sz="7200">
              <a:solidFill>
                <a:schemeClr val="accent1"/>
              </a:solidFill>
              <a:latin typeface="Fjalla One"/>
              <a:ea typeface="Fjalla One"/>
              <a:cs typeface="Fjalla One"/>
              <a:sym typeface="Fjalla One"/>
            </a:endParaRPr>
          </a:p>
        </p:txBody>
      </p:sp>
      <p:sp>
        <p:nvSpPr>
          <p:cNvPr id="2579" name="Google Shape;2579;p49"/>
          <p:cNvSpPr txBox="1">
            <a:spLocks noGrp="1"/>
          </p:cNvSpPr>
          <p:nvPr>
            <p:ph type="subTitle" idx="5"/>
          </p:nvPr>
        </p:nvSpPr>
        <p:spPr>
          <a:xfrm>
            <a:off x="1770946" y="1223350"/>
            <a:ext cx="19452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Data Preprocessing</a:t>
            </a:r>
            <a:endParaRPr/>
          </a:p>
        </p:txBody>
      </p:sp>
      <p:sp>
        <p:nvSpPr>
          <p:cNvPr id="2580" name="Google Shape;2580;p49"/>
          <p:cNvSpPr txBox="1">
            <a:spLocks noGrp="1"/>
          </p:cNvSpPr>
          <p:nvPr>
            <p:ph type="subTitle" idx="6"/>
          </p:nvPr>
        </p:nvSpPr>
        <p:spPr>
          <a:xfrm>
            <a:off x="1770950" y="1616550"/>
            <a:ext cx="2389200" cy="171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Normalize and structure the simulated data for input into the LSTM model.</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Split the data into training and testing sets.</a:t>
            </a:r>
            <a:endParaRPr sz="1600"/>
          </a:p>
        </p:txBody>
      </p:sp>
      <p:sp>
        <p:nvSpPr>
          <p:cNvPr id="2581" name="Google Shape;2581;p49"/>
          <p:cNvSpPr txBox="1"/>
          <p:nvPr/>
        </p:nvSpPr>
        <p:spPr>
          <a:xfrm>
            <a:off x="568819" y="1378798"/>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03</a:t>
            </a:r>
            <a:endParaRPr sz="7200">
              <a:solidFill>
                <a:schemeClr val="accent1"/>
              </a:solidFill>
              <a:latin typeface="Fjalla One"/>
              <a:ea typeface="Fjalla One"/>
              <a:cs typeface="Fjalla One"/>
              <a:sym typeface="Fjalla One"/>
            </a:endParaRPr>
          </a:p>
        </p:txBody>
      </p:sp>
      <p:sp>
        <p:nvSpPr>
          <p:cNvPr id="2582" name="Google Shape;2582;p49"/>
          <p:cNvSpPr txBox="1">
            <a:spLocks noGrp="1"/>
          </p:cNvSpPr>
          <p:nvPr>
            <p:ph type="subTitle" idx="7"/>
          </p:nvPr>
        </p:nvSpPr>
        <p:spPr>
          <a:xfrm>
            <a:off x="5693608" y="1223350"/>
            <a:ext cx="1993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Model Training</a:t>
            </a:r>
            <a:endParaRPr/>
          </a:p>
        </p:txBody>
      </p:sp>
      <p:sp>
        <p:nvSpPr>
          <p:cNvPr id="2583" name="Google Shape;2583;p49"/>
          <p:cNvSpPr txBox="1">
            <a:spLocks noGrp="1"/>
          </p:cNvSpPr>
          <p:nvPr>
            <p:ph type="subTitle" idx="8"/>
          </p:nvPr>
        </p:nvSpPr>
        <p:spPr>
          <a:xfrm>
            <a:off x="5693600" y="1616550"/>
            <a:ext cx="2389200" cy="186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Feed the processed data into the Bidirectional LSTM and GRU model.</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Train the model to predict future portfolio values and Day 1 stock allocations to get those future portfolio values based on the input sequence.</a:t>
            </a:r>
            <a:endParaRPr sz="1600"/>
          </a:p>
        </p:txBody>
      </p:sp>
      <p:sp>
        <p:nvSpPr>
          <p:cNvPr id="2584" name="Google Shape;2584;p49"/>
          <p:cNvSpPr txBox="1"/>
          <p:nvPr/>
        </p:nvSpPr>
        <p:spPr>
          <a:xfrm>
            <a:off x="4492098" y="1378798"/>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04</a:t>
            </a:r>
            <a:endParaRPr sz="7200">
              <a:solidFill>
                <a:schemeClr val="accent1"/>
              </a:solidFill>
              <a:latin typeface="Fjalla One"/>
              <a:ea typeface="Fjalla One"/>
              <a:cs typeface="Fjalla One"/>
              <a:sym typeface="Fjalla On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8"/>
        <p:cNvGrpSpPr/>
        <p:nvPr/>
      </p:nvGrpSpPr>
      <p:grpSpPr>
        <a:xfrm>
          <a:off x="0" y="0"/>
          <a:ext cx="0" cy="0"/>
          <a:chOff x="0" y="0"/>
          <a:chExt cx="0" cy="0"/>
        </a:xfrm>
      </p:grpSpPr>
      <p:sp>
        <p:nvSpPr>
          <p:cNvPr id="2589" name="Google Shape;2589;p50"/>
          <p:cNvSpPr txBox="1">
            <a:spLocks noGrp="1"/>
          </p:cNvSpPr>
          <p:nvPr>
            <p:ph type="title"/>
          </p:nvPr>
        </p:nvSpPr>
        <p:spPr>
          <a:xfrm>
            <a:off x="1688100" y="1894000"/>
            <a:ext cx="5767800" cy="192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Real-Time Portfolio Pricing (LSTM AND GRU)</a:t>
            </a:r>
            <a:endParaRPr sz="4700"/>
          </a:p>
        </p:txBody>
      </p:sp>
      <p:sp>
        <p:nvSpPr>
          <p:cNvPr id="2590" name="Google Shape;2590;p50"/>
          <p:cNvSpPr txBox="1">
            <a:spLocks noGrp="1"/>
          </p:cNvSpPr>
          <p:nvPr>
            <p:ph type="title" idx="2"/>
          </p:nvPr>
        </p:nvSpPr>
        <p:spPr>
          <a:xfrm>
            <a:off x="2982675" y="900313"/>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a:t>04</a:t>
            </a:r>
            <a:endParaRPr sz="7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94"/>
        <p:cNvGrpSpPr/>
        <p:nvPr/>
      </p:nvGrpSpPr>
      <p:grpSpPr>
        <a:xfrm>
          <a:off x="0" y="0"/>
          <a:ext cx="0" cy="0"/>
          <a:chOff x="0" y="0"/>
          <a:chExt cx="0" cy="0"/>
        </a:xfrm>
      </p:grpSpPr>
      <p:pic>
        <p:nvPicPr>
          <p:cNvPr id="2595" name="Google Shape;2595;p51"/>
          <p:cNvPicPr preferRelativeResize="0"/>
          <p:nvPr/>
        </p:nvPicPr>
        <p:blipFill>
          <a:blip r:embed="rId3">
            <a:alphaModFix/>
          </a:blip>
          <a:stretch>
            <a:fillRect/>
          </a:stretch>
        </p:blipFill>
        <p:spPr>
          <a:xfrm>
            <a:off x="3666775" y="1363625"/>
            <a:ext cx="5188774" cy="3892975"/>
          </a:xfrm>
          <a:prstGeom prst="rect">
            <a:avLst/>
          </a:prstGeom>
          <a:noFill/>
          <a:ln>
            <a:noFill/>
          </a:ln>
        </p:spPr>
      </p:pic>
      <p:sp>
        <p:nvSpPr>
          <p:cNvPr id="2596" name="Google Shape;2596;p51"/>
          <p:cNvSpPr txBox="1">
            <a:spLocks noGrp="1"/>
          </p:cNvSpPr>
          <p:nvPr>
            <p:ph type="title" idx="4294967295"/>
          </p:nvPr>
        </p:nvSpPr>
        <p:spPr>
          <a:xfrm>
            <a:off x="592241" y="156378"/>
            <a:ext cx="66111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is Bidirectional LSTM?</a:t>
            </a:r>
            <a:endParaRPr/>
          </a:p>
          <a:p>
            <a:pPr marL="0" lvl="0" indent="0" algn="l" rtl="0">
              <a:spcBef>
                <a:spcPts val="0"/>
              </a:spcBef>
              <a:spcAft>
                <a:spcPts val="0"/>
              </a:spcAft>
              <a:buNone/>
            </a:pPr>
            <a:endParaRPr/>
          </a:p>
        </p:txBody>
      </p:sp>
      <p:sp>
        <p:nvSpPr>
          <p:cNvPr id="2597" name="Google Shape;2597;p51"/>
          <p:cNvSpPr txBox="1">
            <a:spLocks noGrp="1"/>
          </p:cNvSpPr>
          <p:nvPr>
            <p:ph type="subTitle" idx="1"/>
          </p:nvPr>
        </p:nvSpPr>
        <p:spPr>
          <a:xfrm>
            <a:off x="184850" y="705075"/>
            <a:ext cx="7938000" cy="83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700">
                <a:solidFill>
                  <a:srgbClr val="3977A2"/>
                </a:solidFill>
                <a:latin typeface="Barlow Semi Condensed"/>
                <a:ea typeface="Barlow Semi Condensed"/>
                <a:cs typeface="Barlow Semi Condensed"/>
                <a:sym typeface="Barlow Semi Condensed"/>
              </a:rPr>
              <a:t>LSTMs i.e. Long Short-Term Memory is a type of RNNs Recurrent Neural Network that can detain long-term dependencies in sequential data. LSTMs are best suited to process and analyze sequential data, such as time series, text, and speech.[3] </a:t>
            </a:r>
            <a:endParaRPr sz="1700">
              <a:solidFill>
                <a:srgbClr val="3977A2"/>
              </a:solidFill>
              <a:latin typeface="Barlow Semi Condensed"/>
              <a:ea typeface="Barlow Semi Condensed"/>
              <a:cs typeface="Barlow Semi Condensed"/>
              <a:sym typeface="Barlow Semi Condensed"/>
            </a:endParaRPr>
          </a:p>
        </p:txBody>
      </p:sp>
      <p:sp>
        <p:nvSpPr>
          <p:cNvPr id="2598" name="Google Shape;2598;p51"/>
          <p:cNvSpPr txBox="1"/>
          <p:nvPr/>
        </p:nvSpPr>
        <p:spPr>
          <a:xfrm>
            <a:off x="836950" y="2863350"/>
            <a:ext cx="3167700" cy="14202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1700">
                <a:solidFill>
                  <a:srgbClr val="40566D"/>
                </a:solidFill>
                <a:latin typeface="Barlow Semi Condensed"/>
                <a:ea typeface="Barlow Semi Condensed"/>
                <a:cs typeface="Barlow Semi Condensed"/>
                <a:sym typeface="Barlow Semi Condensed"/>
              </a:rPr>
              <a:t>As Stock market analysis is a type of Time series analysis,hence LSTM is selected.[4] (for comparatively long term context)</a:t>
            </a:r>
            <a:endParaRPr sz="1700">
              <a:solidFill>
                <a:srgbClr val="40566D"/>
              </a:solidFill>
              <a:latin typeface="Barlow Semi Condensed"/>
              <a:ea typeface="Barlow Semi Condensed"/>
              <a:cs typeface="Barlow Semi Condensed"/>
              <a:sym typeface="Barlow Semi Condensed"/>
            </a:endParaRPr>
          </a:p>
          <a:p>
            <a:pPr marL="0" lvl="0" indent="0" algn="l" rtl="0">
              <a:lnSpc>
                <a:spcPct val="90000"/>
              </a:lnSpc>
              <a:spcBef>
                <a:spcPts val="0"/>
              </a:spcBef>
              <a:spcAft>
                <a:spcPts val="0"/>
              </a:spcAft>
              <a:buNone/>
            </a:pPr>
            <a:endParaRPr/>
          </a:p>
        </p:txBody>
      </p:sp>
      <p:sp>
        <p:nvSpPr>
          <p:cNvPr id="2599" name="Google Shape;2599;p51"/>
          <p:cNvSpPr txBox="1">
            <a:spLocks noGrp="1"/>
          </p:cNvSpPr>
          <p:nvPr>
            <p:ph type="title" idx="4294967295"/>
          </p:nvPr>
        </p:nvSpPr>
        <p:spPr>
          <a:xfrm>
            <a:off x="285850" y="1926113"/>
            <a:ext cx="2854500" cy="548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Why Bidirectional LSTM?</a:t>
            </a:r>
            <a:endParaRPr/>
          </a:p>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3"/>
        <p:cNvGrpSpPr/>
        <p:nvPr/>
      </p:nvGrpSpPr>
      <p:grpSpPr>
        <a:xfrm>
          <a:off x="0" y="0"/>
          <a:ext cx="0" cy="0"/>
          <a:chOff x="0" y="0"/>
          <a:chExt cx="0" cy="0"/>
        </a:xfrm>
      </p:grpSpPr>
      <p:sp>
        <p:nvSpPr>
          <p:cNvPr id="2604" name="Google Shape;2604;p52"/>
          <p:cNvSpPr txBox="1">
            <a:spLocks noGrp="1"/>
          </p:cNvSpPr>
          <p:nvPr>
            <p:ph type="title" idx="4294967295"/>
          </p:nvPr>
        </p:nvSpPr>
        <p:spPr>
          <a:xfrm>
            <a:off x="592241" y="156378"/>
            <a:ext cx="66111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is Bidirectional GRU?</a:t>
            </a:r>
            <a:endParaRPr/>
          </a:p>
          <a:p>
            <a:pPr marL="0" lvl="0" indent="0" algn="l" rtl="0">
              <a:spcBef>
                <a:spcPts val="0"/>
              </a:spcBef>
              <a:spcAft>
                <a:spcPts val="0"/>
              </a:spcAft>
              <a:buNone/>
            </a:pPr>
            <a:endParaRPr/>
          </a:p>
        </p:txBody>
      </p:sp>
      <p:sp>
        <p:nvSpPr>
          <p:cNvPr id="2605" name="Google Shape;2605;p52"/>
          <p:cNvSpPr txBox="1">
            <a:spLocks noGrp="1"/>
          </p:cNvSpPr>
          <p:nvPr>
            <p:ph type="subTitle" idx="1"/>
          </p:nvPr>
        </p:nvSpPr>
        <p:spPr>
          <a:xfrm>
            <a:off x="184850" y="705075"/>
            <a:ext cx="7989600" cy="108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700">
                <a:solidFill>
                  <a:srgbClr val="3977A2"/>
                </a:solidFill>
                <a:latin typeface="Barlow Semi Condensed"/>
                <a:ea typeface="Barlow Semi Condensed"/>
                <a:cs typeface="Barlow Semi Condensed"/>
                <a:sym typeface="Barlow Semi Condensed"/>
              </a:rPr>
              <a:t>The Bi-directional GRU (Gated Recurrent Unit) is similar to the Bi-directional LSTM but uses the GRU architecture instead of LSTM. GRUs are a simplified version of LSTMs, combining the forget and input gates into a single "update" gate and removing the output gate.They are generally faster and less computationally intensive than LSTMs. </a:t>
            </a:r>
            <a:endParaRPr sz="1700">
              <a:solidFill>
                <a:srgbClr val="3977A2"/>
              </a:solidFill>
              <a:latin typeface="Barlow Semi Condensed"/>
              <a:ea typeface="Barlow Semi Condensed"/>
              <a:cs typeface="Barlow Semi Condensed"/>
              <a:sym typeface="Barlow Semi Condensed"/>
            </a:endParaRPr>
          </a:p>
        </p:txBody>
      </p:sp>
      <p:sp>
        <p:nvSpPr>
          <p:cNvPr id="2606" name="Google Shape;2606;p52"/>
          <p:cNvSpPr txBox="1"/>
          <p:nvPr/>
        </p:nvSpPr>
        <p:spPr>
          <a:xfrm>
            <a:off x="836950" y="2863350"/>
            <a:ext cx="2748000" cy="16464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1700">
                <a:solidFill>
                  <a:srgbClr val="40566D"/>
                </a:solidFill>
                <a:latin typeface="Barlow Semi Condensed"/>
                <a:ea typeface="Barlow Semi Condensed"/>
                <a:cs typeface="Barlow Semi Condensed"/>
                <a:sym typeface="Barlow Semi Condensed"/>
              </a:rPr>
              <a:t>As Stock market analysis is a type of Time series analysis,hence GRU is selected. (for short term context)</a:t>
            </a:r>
            <a:endParaRPr sz="1700">
              <a:solidFill>
                <a:srgbClr val="40566D"/>
              </a:solidFill>
              <a:latin typeface="Barlow Semi Condensed"/>
              <a:ea typeface="Barlow Semi Condensed"/>
              <a:cs typeface="Barlow Semi Condensed"/>
              <a:sym typeface="Barlow Semi Condensed"/>
            </a:endParaRPr>
          </a:p>
          <a:p>
            <a:pPr marL="0" lvl="0" indent="0" algn="l" rtl="0">
              <a:lnSpc>
                <a:spcPct val="90000"/>
              </a:lnSpc>
              <a:spcBef>
                <a:spcPts val="0"/>
              </a:spcBef>
              <a:spcAft>
                <a:spcPts val="0"/>
              </a:spcAft>
              <a:buNone/>
            </a:pPr>
            <a:endParaRPr/>
          </a:p>
        </p:txBody>
      </p:sp>
      <p:sp>
        <p:nvSpPr>
          <p:cNvPr id="2607" name="Google Shape;2607;p52"/>
          <p:cNvSpPr txBox="1">
            <a:spLocks noGrp="1"/>
          </p:cNvSpPr>
          <p:nvPr>
            <p:ph type="title" idx="4294967295"/>
          </p:nvPr>
        </p:nvSpPr>
        <p:spPr>
          <a:xfrm>
            <a:off x="506275" y="2052875"/>
            <a:ext cx="3342300" cy="1477500"/>
          </a:xfrm>
          <a:prstGeom prst="rect">
            <a:avLst/>
          </a:prstGeom>
        </p:spPr>
        <p:txBody>
          <a:bodyPr spcFirstLastPara="1" wrap="square" lIns="91425" tIns="91425" rIns="91425" bIns="91425" anchor="t" anchorCtr="0">
            <a:spAutoFit/>
          </a:bodyPr>
          <a:lstStyle/>
          <a:p>
            <a:pPr marL="0" lvl="0" indent="0" algn="r" rtl="0">
              <a:spcBef>
                <a:spcPts val="0"/>
              </a:spcBef>
              <a:spcAft>
                <a:spcPts val="0"/>
              </a:spcAft>
              <a:buClr>
                <a:schemeClr val="dk1"/>
              </a:buClr>
              <a:buSzPts val="1100"/>
              <a:buFont typeface="Arial"/>
              <a:buNone/>
            </a:pPr>
            <a:r>
              <a:rPr lang="en"/>
              <a:t>Why Bidirectional GRU?</a:t>
            </a:r>
            <a:endParaRPr/>
          </a:p>
          <a:p>
            <a:pPr marL="0" lvl="0" indent="0" algn="l" rtl="0">
              <a:spcBef>
                <a:spcPts val="0"/>
              </a:spcBef>
              <a:spcAft>
                <a:spcPts val="0"/>
              </a:spcAft>
              <a:buNone/>
            </a:pPr>
            <a:endParaRPr/>
          </a:p>
        </p:txBody>
      </p:sp>
      <p:pic>
        <p:nvPicPr>
          <p:cNvPr id="2608" name="Google Shape;2608;p52"/>
          <p:cNvPicPr preferRelativeResize="0"/>
          <p:nvPr/>
        </p:nvPicPr>
        <p:blipFill>
          <a:blip r:embed="rId3">
            <a:alphaModFix/>
          </a:blip>
          <a:stretch>
            <a:fillRect/>
          </a:stretch>
        </p:blipFill>
        <p:spPr>
          <a:xfrm>
            <a:off x="4104750" y="1926125"/>
            <a:ext cx="4002100" cy="3047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2"/>
        <p:cNvGrpSpPr/>
        <p:nvPr/>
      </p:nvGrpSpPr>
      <p:grpSpPr>
        <a:xfrm>
          <a:off x="0" y="0"/>
          <a:ext cx="0" cy="0"/>
          <a:chOff x="0" y="0"/>
          <a:chExt cx="0" cy="0"/>
        </a:xfrm>
      </p:grpSpPr>
      <p:sp>
        <p:nvSpPr>
          <p:cNvPr id="2613" name="Google Shape;2613;p53"/>
          <p:cNvSpPr txBox="1">
            <a:spLocks noGrp="1"/>
          </p:cNvSpPr>
          <p:nvPr>
            <p:ph type="title" idx="4294967295"/>
          </p:nvPr>
        </p:nvSpPr>
        <p:spPr>
          <a:xfrm>
            <a:off x="592241" y="156378"/>
            <a:ext cx="66111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Code Snippets</a:t>
            </a:r>
            <a:endParaRPr/>
          </a:p>
          <a:p>
            <a:pPr marL="0" lvl="0" indent="0" algn="l" rtl="0">
              <a:spcBef>
                <a:spcPts val="0"/>
              </a:spcBef>
              <a:spcAft>
                <a:spcPts val="0"/>
              </a:spcAft>
              <a:buNone/>
            </a:pPr>
            <a:endParaRPr/>
          </a:p>
        </p:txBody>
      </p:sp>
      <p:pic>
        <p:nvPicPr>
          <p:cNvPr id="2614" name="Google Shape;2614;p53"/>
          <p:cNvPicPr preferRelativeResize="0"/>
          <p:nvPr/>
        </p:nvPicPr>
        <p:blipFill>
          <a:blip r:embed="rId3">
            <a:alphaModFix/>
          </a:blip>
          <a:stretch>
            <a:fillRect/>
          </a:stretch>
        </p:blipFill>
        <p:spPr>
          <a:xfrm>
            <a:off x="957100" y="792228"/>
            <a:ext cx="6987589" cy="413362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18"/>
        <p:cNvGrpSpPr/>
        <p:nvPr/>
      </p:nvGrpSpPr>
      <p:grpSpPr>
        <a:xfrm>
          <a:off x="0" y="0"/>
          <a:ext cx="0" cy="0"/>
          <a:chOff x="0" y="0"/>
          <a:chExt cx="0" cy="0"/>
        </a:xfrm>
      </p:grpSpPr>
      <p:sp>
        <p:nvSpPr>
          <p:cNvPr id="2619" name="Google Shape;2619;p54"/>
          <p:cNvSpPr txBox="1">
            <a:spLocks noGrp="1"/>
          </p:cNvSpPr>
          <p:nvPr>
            <p:ph type="title" idx="4294967295"/>
          </p:nvPr>
        </p:nvSpPr>
        <p:spPr>
          <a:xfrm>
            <a:off x="592241" y="156378"/>
            <a:ext cx="66111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Code Snippets</a:t>
            </a:r>
            <a:endParaRPr/>
          </a:p>
          <a:p>
            <a:pPr marL="0" lvl="0" indent="0" algn="l" rtl="0">
              <a:spcBef>
                <a:spcPts val="0"/>
              </a:spcBef>
              <a:spcAft>
                <a:spcPts val="0"/>
              </a:spcAft>
              <a:buNone/>
            </a:pPr>
            <a:endParaRPr/>
          </a:p>
        </p:txBody>
      </p:sp>
      <p:pic>
        <p:nvPicPr>
          <p:cNvPr id="2620" name="Google Shape;2620;p54"/>
          <p:cNvPicPr preferRelativeResize="0"/>
          <p:nvPr/>
        </p:nvPicPr>
        <p:blipFill>
          <a:blip r:embed="rId3">
            <a:alphaModFix/>
          </a:blip>
          <a:stretch>
            <a:fillRect/>
          </a:stretch>
        </p:blipFill>
        <p:spPr>
          <a:xfrm>
            <a:off x="3088450" y="504940"/>
            <a:ext cx="3396235" cy="41336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4"/>
        <p:cNvGrpSpPr/>
        <p:nvPr/>
      </p:nvGrpSpPr>
      <p:grpSpPr>
        <a:xfrm>
          <a:off x="0" y="0"/>
          <a:ext cx="0" cy="0"/>
          <a:chOff x="0" y="0"/>
          <a:chExt cx="0" cy="0"/>
        </a:xfrm>
      </p:grpSpPr>
      <p:sp>
        <p:nvSpPr>
          <p:cNvPr id="2625" name="Google Shape;2625;p55"/>
          <p:cNvSpPr txBox="1">
            <a:spLocks noGrp="1"/>
          </p:cNvSpPr>
          <p:nvPr>
            <p:ph type="title" idx="4294967295"/>
          </p:nvPr>
        </p:nvSpPr>
        <p:spPr>
          <a:xfrm>
            <a:off x="592241" y="156378"/>
            <a:ext cx="66111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Code Snippets</a:t>
            </a:r>
            <a:endParaRPr/>
          </a:p>
          <a:p>
            <a:pPr marL="0" lvl="0" indent="0" algn="l" rtl="0">
              <a:spcBef>
                <a:spcPts val="0"/>
              </a:spcBef>
              <a:spcAft>
                <a:spcPts val="0"/>
              </a:spcAft>
              <a:buNone/>
            </a:pPr>
            <a:endParaRPr/>
          </a:p>
        </p:txBody>
      </p:sp>
      <p:pic>
        <p:nvPicPr>
          <p:cNvPr id="2626" name="Google Shape;2626;p55"/>
          <p:cNvPicPr preferRelativeResize="0"/>
          <p:nvPr/>
        </p:nvPicPr>
        <p:blipFill>
          <a:blip r:embed="rId3">
            <a:alphaModFix/>
          </a:blip>
          <a:stretch>
            <a:fillRect/>
          </a:stretch>
        </p:blipFill>
        <p:spPr>
          <a:xfrm>
            <a:off x="592251" y="813974"/>
            <a:ext cx="7619299" cy="4078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0"/>
        <p:cNvGrpSpPr/>
        <p:nvPr/>
      </p:nvGrpSpPr>
      <p:grpSpPr>
        <a:xfrm>
          <a:off x="0" y="0"/>
          <a:ext cx="0" cy="0"/>
          <a:chOff x="0" y="0"/>
          <a:chExt cx="0" cy="0"/>
        </a:xfrm>
      </p:grpSpPr>
      <p:sp>
        <p:nvSpPr>
          <p:cNvPr id="2631" name="Google Shape;2631;p56"/>
          <p:cNvSpPr txBox="1"/>
          <p:nvPr/>
        </p:nvSpPr>
        <p:spPr>
          <a:xfrm>
            <a:off x="404150" y="1873700"/>
            <a:ext cx="2241000" cy="10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chemeClr val="dk2"/>
                </a:solidFill>
                <a:latin typeface="Fjalla One"/>
                <a:ea typeface="Fjalla One"/>
                <a:cs typeface="Fjalla One"/>
                <a:sym typeface="Fjalla One"/>
              </a:rPr>
              <a:t>Methodology of the project</a:t>
            </a:r>
            <a:endParaRPr/>
          </a:p>
        </p:txBody>
      </p:sp>
      <p:pic>
        <p:nvPicPr>
          <p:cNvPr id="2632" name="Google Shape;2632;p56"/>
          <p:cNvPicPr preferRelativeResize="0"/>
          <p:nvPr/>
        </p:nvPicPr>
        <p:blipFill rotWithShape="1">
          <a:blip r:embed="rId3">
            <a:alphaModFix/>
          </a:blip>
          <a:srcRect l="29724" t="6828" r="29993" b="6621"/>
          <a:stretch/>
        </p:blipFill>
        <p:spPr>
          <a:xfrm>
            <a:off x="2645150" y="73475"/>
            <a:ext cx="4023024" cy="5070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6"/>
        <p:cNvGrpSpPr/>
        <p:nvPr/>
      </p:nvGrpSpPr>
      <p:grpSpPr>
        <a:xfrm>
          <a:off x="0" y="0"/>
          <a:ext cx="0" cy="0"/>
          <a:chOff x="0" y="0"/>
          <a:chExt cx="0" cy="0"/>
        </a:xfrm>
      </p:grpSpPr>
      <p:grpSp>
        <p:nvGrpSpPr>
          <p:cNvPr id="2637" name="Google Shape;2637;p57"/>
          <p:cNvGrpSpPr/>
          <p:nvPr/>
        </p:nvGrpSpPr>
        <p:grpSpPr>
          <a:xfrm>
            <a:off x="6355460" y="244235"/>
            <a:ext cx="1369774" cy="1337019"/>
            <a:chOff x="3614228" y="234880"/>
            <a:chExt cx="1915500" cy="1915500"/>
          </a:xfrm>
        </p:grpSpPr>
        <p:sp>
          <p:nvSpPr>
            <p:cNvPr id="2638" name="Google Shape;2638;p57"/>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57"/>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0" name="Google Shape;2640;p57"/>
          <p:cNvSpPr txBox="1"/>
          <p:nvPr/>
        </p:nvSpPr>
        <p:spPr>
          <a:xfrm>
            <a:off x="6605637" y="997982"/>
            <a:ext cx="869400" cy="25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2"/>
                </a:solidFill>
                <a:latin typeface="Abel"/>
                <a:ea typeface="Abel"/>
                <a:cs typeface="Abel"/>
                <a:sym typeface="Abel"/>
              </a:rPr>
              <a:t> </a:t>
            </a:r>
            <a:endParaRPr>
              <a:solidFill>
                <a:schemeClr val="dk2"/>
              </a:solidFill>
              <a:latin typeface="Abel"/>
              <a:ea typeface="Abel"/>
              <a:cs typeface="Abel"/>
              <a:sym typeface="Abel"/>
            </a:endParaRPr>
          </a:p>
        </p:txBody>
      </p:sp>
      <p:grpSp>
        <p:nvGrpSpPr>
          <p:cNvPr id="2641" name="Google Shape;2641;p57"/>
          <p:cNvGrpSpPr/>
          <p:nvPr/>
        </p:nvGrpSpPr>
        <p:grpSpPr>
          <a:xfrm>
            <a:off x="6799047" y="677564"/>
            <a:ext cx="482489" cy="470314"/>
            <a:chOff x="1190625" y="238125"/>
            <a:chExt cx="5238750" cy="5231525"/>
          </a:xfrm>
        </p:grpSpPr>
        <p:sp>
          <p:nvSpPr>
            <p:cNvPr id="2642" name="Google Shape;2642;p57"/>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3" name="Google Shape;2643;p57"/>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4" name="Google Shape;2644;p57"/>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5" name="Google Shape;2645;p57"/>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6" name="Google Shape;2646;p57"/>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7" name="Google Shape;2647;p57"/>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8" name="Google Shape;2648;p57"/>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9" name="Google Shape;2649;p57"/>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50" name="Google Shape;2650;p57"/>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51" name="Google Shape;2651;p57"/>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652" name="Google Shape;2652;p57"/>
          <p:cNvSpPr txBox="1">
            <a:spLocks noGrp="1"/>
          </p:cNvSpPr>
          <p:nvPr>
            <p:ph type="title"/>
          </p:nvPr>
        </p:nvSpPr>
        <p:spPr>
          <a:xfrm>
            <a:off x="1275450" y="401976"/>
            <a:ext cx="4809600" cy="10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600"/>
              <a:t>Output Calculation</a:t>
            </a:r>
            <a:endParaRPr sz="4600"/>
          </a:p>
        </p:txBody>
      </p:sp>
      <p:sp>
        <p:nvSpPr>
          <p:cNvPr id="2653" name="Google Shape;2653;p57"/>
          <p:cNvSpPr txBox="1">
            <a:spLocks noGrp="1"/>
          </p:cNvSpPr>
          <p:nvPr>
            <p:ph type="subTitle" idx="1"/>
          </p:nvPr>
        </p:nvSpPr>
        <p:spPr>
          <a:xfrm>
            <a:off x="968225" y="1423475"/>
            <a:ext cx="6832800" cy="335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5"/>
                </a:solidFill>
              </a:rPr>
              <a:t>We collected 200 days of real historical data from Yahoo Finance for your selected stocks. This buffer data represents the actual performance of your portfolio over the 200 days.</a:t>
            </a:r>
            <a:endParaRPr sz="1800">
              <a:solidFill>
                <a:schemeClr val="accent5"/>
              </a:solidFill>
            </a:endParaRPr>
          </a:p>
          <a:p>
            <a:pPr marL="0" lvl="0" indent="0" algn="l" rtl="0">
              <a:spcBef>
                <a:spcPts val="0"/>
              </a:spcBef>
              <a:spcAft>
                <a:spcPts val="0"/>
              </a:spcAft>
              <a:buNone/>
            </a:pPr>
            <a:endParaRPr sz="1800">
              <a:solidFill>
                <a:schemeClr val="accent5"/>
              </a:solidFill>
            </a:endParaRPr>
          </a:p>
          <a:p>
            <a:pPr marL="0" lvl="0" indent="0" algn="l" rtl="0">
              <a:spcBef>
                <a:spcPts val="0"/>
              </a:spcBef>
              <a:spcAft>
                <a:spcPts val="0"/>
              </a:spcAft>
              <a:buNone/>
            </a:pPr>
            <a:r>
              <a:rPr lang="en" sz="1800">
                <a:solidFill>
                  <a:schemeClr val="accent5"/>
                </a:solidFill>
              </a:rPr>
              <a:t>The model, which was trained using past sequences and stock allocations, makes predictions for the future portfolio values and stock allocations. Specifically, the model tries to forecast how the portfolio value and allocations will evolve over the prediction horizon (e.g., days 253 to 365).</a:t>
            </a:r>
            <a:endParaRPr sz="1800">
              <a:solidFill>
                <a:schemeClr val="accent5"/>
              </a:solidFill>
            </a:endParaRPr>
          </a:p>
          <a:p>
            <a:pPr marL="0" lvl="0" indent="0" algn="l" rtl="0">
              <a:spcBef>
                <a:spcPts val="0"/>
              </a:spcBef>
              <a:spcAft>
                <a:spcPts val="0"/>
              </a:spcAft>
              <a:buNone/>
            </a:pPr>
            <a:endParaRPr sz="1800">
              <a:solidFill>
                <a:schemeClr val="accent5"/>
              </a:solidFill>
            </a:endParaRPr>
          </a:p>
          <a:p>
            <a:pPr marL="0" lvl="0" indent="0" algn="l" rtl="0">
              <a:spcBef>
                <a:spcPts val="0"/>
              </a:spcBef>
              <a:spcAft>
                <a:spcPts val="0"/>
              </a:spcAft>
              <a:buNone/>
            </a:pPr>
            <a:r>
              <a:rPr lang="en" sz="1800">
                <a:solidFill>
                  <a:schemeClr val="accent5"/>
                </a:solidFill>
              </a:rPr>
              <a:t>To evaluate the accuracy of these predictions, we compare them with the 200 days of real market data.</a:t>
            </a:r>
            <a:endParaRPr sz="2100">
              <a:solidFill>
                <a:schemeClr val="accent5"/>
              </a:solidFill>
            </a:endParaRPr>
          </a:p>
          <a:p>
            <a:pPr marL="0" lvl="0" indent="0" algn="l" rtl="0">
              <a:spcBef>
                <a:spcPts val="0"/>
              </a:spcBef>
              <a:spcAft>
                <a:spcPts val="0"/>
              </a:spcAft>
              <a:buNone/>
            </a:pPr>
            <a:endParaRPr sz="2600">
              <a:solidFill>
                <a:schemeClr val="accent5"/>
              </a:solidFill>
            </a:endParaRPr>
          </a:p>
          <a:p>
            <a:pPr marL="0" lvl="0" indent="0" algn="l" rtl="0">
              <a:spcBef>
                <a:spcPts val="0"/>
              </a:spcBef>
              <a:spcAft>
                <a:spcPts val="0"/>
              </a:spcAft>
              <a:buNone/>
            </a:pPr>
            <a:endParaRPr sz="2600">
              <a:solidFill>
                <a:schemeClr val="accent5"/>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57"/>
        <p:cNvGrpSpPr/>
        <p:nvPr/>
      </p:nvGrpSpPr>
      <p:grpSpPr>
        <a:xfrm>
          <a:off x="0" y="0"/>
          <a:ext cx="0" cy="0"/>
          <a:chOff x="0" y="0"/>
          <a:chExt cx="0" cy="0"/>
        </a:xfrm>
      </p:grpSpPr>
      <p:grpSp>
        <p:nvGrpSpPr>
          <p:cNvPr id="2658" name="Google Shape;2658;p58"/>
          <p:cNvGrpSpPr/>
          <p:nvPr/>
        </p:nvGrpSpPr>
        <p:grpSpPr>
          <a:xfrm>
            <a:off x="6355460" y="244235"/>
            <a:ext cx="1369774" cy="1337019"/>
            <a:chOff x="3614228" y="234880"/>
            <a:chExt cx="1915500" cy="1915500"/>
          </a:xfrm>
        </p:grpSpPr>
        <p:sp>
          <p:nvSpPr>
            <p:cNvPr id="2659" name="Google Shape;2659;p58"/>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8"/>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1" name="Google Shape;2661;p58"/>
          <p:cNvSpPr txBox="1"/>
          <p:nvPr/>
        </p:nvSpPr>
        <p:spPr>
          <a:xfrm>
            <a:off x="6605637" y="997982"/>
            <a:ext cx="869400" cy="25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2"/>
                </a:solidFill>
                <a:latin typeface="Abel"/>
                <a:ea typeface="Abel"/>
                <a:cs typeface="Abel"/>
                <a:sym typeface="Abel"/>
              </a:rPr>
              <a:t> </a:t>
            </a:r>
            <a:endParaRPr>
              <a:solidFill>
                <a:schemeClr val="dk2"/>
              </a:solidFill>
              <a:latin typeface="Abel"/>
              <a:ea typeface="Abel"/>
              <a:cs typeface="Abel"/>
              <a:sym typeface="Abel"/>
            </a:endParaRPr>
          </a:p>
        </p:txBody>
      </p:sp>
      <p:grpSp>
        <p:nvGrpSpPr>
          <p:cNvPr id="2662" name="Google Shape;2662;p58"/>
          <p:cNvGrpSpPr/>
          <p:nvPr/>
        </p:nvGrpSpPr>
        <p:grpSpPr>
          <a:xfrm>
            <a:off x="6799047" y="677564"/>
            <a:ext cx="482489" cy="470314"/>
            <a:chOff x="1190625" y="238125"/>
            <a:chExt cx="5238750" cy="5231525"/>
          </a:xfrm>
        </p:grpSpPr>
        <p:sp>
          <p:nvSpPr>
            <p:cNvPr id="2663" name="Google Shape;2663;p58"/>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4" name="Google Shape;2664;p58"/>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5" name="Google Shape;2665;p58"/>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6" name="Google Shape;2666;p58"/>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7" name="Google Shape;2667;p58"/>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8" name="Google Shape;2668;p58"/>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9" name="Google Shape;2669;p58"/>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70" name="Google Shape;2670;p58"/>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71" name="Google Shape;2671;p58"/>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72" name="Google Shape;2672;p58"/>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673" name="Google Shape;2673;p58"/>
          <p:cNvSpPr txBox="1">
            <a:spLocks noGrp="1"/>
          </p:cNvSpPr>
          <p:nvPr>
            <p:ph type="title"/>
          </p:nvPr>
        </p:nvSpPr>
        <p:spPr>
          <a:xfrm>
            <a:off x="1275450" y="401976"/>
            <a:ext cx="4809600" cy="10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600"/>
              <a:t>Output Calculation</a:t>
            </a:r>
            <a:endParaRPr sz="4600"/>
          </a:p>
        </p:txBody>
      </p:sp>
      <p:sp>
        <p:nvSpPr>
          <p:cNvPr id="2674" name="Google Shape;2674;p58"/>
          <p:cNvSpPr txBox="1">
            <a:spLocks noGrp="1"/>
          </p:cNvSpPr>
          <p:nvPr>
            <p:ph type="subTitle" idx="1"/>
          </p:nvPr>
        </p:nvSpPr>
        <p:spPr>
          <a:xfrm>
            <a:off x="968225" y="1423475"/>
            <a:ext cx="6832800" cy="3358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accent5"/>
              </a:buClr>
              <a:buSzPts val="1800"/>
              <a:buChar char="●"/>
            </a:pPr>
            <a:r>
              <a:rPr lang="en" sz="1800">
                <a:solidFill>
                  <a:schemeClr val="accent5"/>
                </a:solidFill>
              </a:rPr>
              <a:t>The output shape from the model predictions was from day 252 to day 366, providing predictions over a 114-day period.</a:t>
            </a:r>
            <a:endParaRPr sz="1800">
              <a:solidFill>
                <a:schemeClr val="accent5"/>
              </a:solidFill>
            </a:endParaRPr>
          </a:p>
          <a:p>
            <a:pPr marL="457200" lvl="0" indent="0" algn="l" rtl="0">
              <a:spcBef>
                <a:spcPts val="0"/>
              </a:spcBef>
              <a:spcAft>
                <a:spcPts val="0"/>
              </a:spcAft>
              <a:buNone/>
            </a:pPr>
            <a:endParaRPr sz="1800">
              <a:solidFill>
                <a:schemeClr val="accent5"/>
              </a:solidFill>
            </a:endParaRPr>
          </a:p>
          <a:p>
            <a:pPr marL="457200" lvl="0" indent="-342900" algn="l" rtl="0">
              <a:spcBef>
                <a:spcPts val="0"/>
              </a:spcBef>
              <a:spcAft>
                <a:spcPts val="0"/>
              </a:spcAft>
              <a:buClr>
                <a:schemeClr val="accent5"/>
              </a:buClr>
              <a:buSzPts val="1800"/>
              <a:buChar char="●"/>
            </a:pPr>
            <a:r>
              <a:rPr lang="en" sz="1800">
                <a:solidFill>
                  <a:schemeClr val="accent5"/>
                </a:solidFill>
              </a:rPr>
              <a:t>The input buffer data retrieved from Yahoo Finance also covered days 252 to 366.</a:t>
            </a:r>
            <a:endParaRPr sz="1800">
              <a:solidFill>
                <a:schemeClr val="accent5"/>
              </a:solidFill>
            </a:endParaRPr>
          </a:p>
          <a:p>
            <a:pPr marL="457200" lvl="0" indent="0" algn="l" rtl="0">
              <a:spcBef>
                <a:spcPts val="0"/>
              </a:spcBef>
              <a:spcAft>
                <a:spcPts val="0"/>
              </a:spcAft>
              <a:buNone/>
            </a:pPr>
            <a:endParaRPr sz="1800">
              <a:solidFill>
                <a:schemeClr val="accent5"/>
              </a:solidFill>
            </a:endParaRPr>
          </a:p>
          <a:p>
            <a:pPr marL="457200" lvl="0" indent="-342900" algn="l" rtl="0">
              <a:spcBef>
                <a:spcPts val="0"/>
              </a:spcBef>
              <a:spcAft>
                <a:spcPts val="0"/>
              </a:spcAft>
              <a:buClr>
                <a:schemeClr val="accent5"/>
              </a:buClr>
              <a:buSzPts val="1800"/>
              <a:buChar char="●"/>
            </a:pPr>
            <a:r>
              <a:rPr lang="en" sz="1800">
                <a:solidFill>
                  <a:schemeClr val="accent5"/>
                </a:solidFill>
              </a:rPr>
              <a:t>This alignment ensured that your predictions and the real market data over this period could be directly compared to calculate performance metrics like RMSE, NRMSE, MAPE, and R².</a:t>
            </a:r>
            <a:endParaRPr sz="1800">
              <a:solidFill>
                <a:schemeClr val="accent5"/>
              </a:solidFill>
            </a:endParaRPr>
          </a:p>
          <a:p>
            <a:pPr marL="0" lvl="0" indent="0" algn="l" rtl="0">
              <a:spcBef>
                <a:spcPts val="0"/>
              </a:spcBef>
              <a:spcAft>
                <a:spcPts val="0"/>
              </a:spcAft>
              <a:buNone/>
            </a:pPr>
            <a:endParaRPr sz="2600">
              <a:solidFill>
                <a:schemeClr val="accent5"/>
              </a:solidFill>
            </a:endParaRPr>
          </a:p>
          <a:p>
            <a:pPr marL="0" lvl="0" indent="0" algn="l" rtl="0">
              <a:spcBef>
                <a:spcPts val="0"/>
              </a:spcBef>
              <a:spcAft>
                <a:spcPts val="0"/>
              </a:spcAft>
              <a:buNone/>
            </a:pPr>
            <a:endParaRPr sz="2600">
              <a:solidFill>
                <a:schemeClr val="accent5"/>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78"/>
        <p:cNvGrpSpPr/>
        <p:nvPr/>
      </p:nvGrpSpPr>
      <p:grpSpPr>
        <a:xfrm>
          <a:off x="0" y="0"/>
          <a:ext cx="0" cy="0"/>
          <a:chOff x="0" y="0"/>
          <a:chExt cx="0" cy="0"/>
        </a:xfrm>
      </p:grpSpPr>
      <p:grpSp>
        <p:nvGrpSpPr>
          <p:cNvPr id="2679" name="Google Shape;2679;p59"/>
          <p:cNvGrpSpPr/>
          <p:nvPr/>
        </p:nvGrpSpPr>
        <p:grpSpPr>
          <a:xfrm>
            <a:off x="6605635" y="190422"/>
            <a:ext cx="1369774" cy="1337019"/>
            <a:chOff x="3614228" y="234880"/>
            <a:chExt cx="1915500" cy="1915500"/>
          </a:xfrm>
        </p:grpSpPr>
        <p:sp>
          <p:nvSpPr>
            <p:cNvPr id="2680" name="Google Shape;2680;p5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82" name="Google Shape;2682;p59"/>
          <p:cNvSpPr txBox="1"/>
          <p:nvPr/>
        </p:nvSpPr>
        <p:spPr>
          <a:xfrm>
            <a:off x="6605637" y="997982"/>
            <a:ext cx="869400" cy="25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2"/>
                </a:solidFill>
                <a:latin typeface="Abel"/>
                <a:ea typeface="Abel"/>
                <a:cs typeface="Abel"/>
                <a:sym typeface="Abel"/>
              </a:rPr>
              <a:t> </a:t>
            </a:r>
            <a:endParaRPr>
              <a:solidFill>
                <a:schemeClr val="dk2"/>
              </a:solidFill>
              <a:latin typeface="Abel"/>
              <a:ea typeface="Abel"/>
              <a:cs typeface="Abel"/>
              <a:sym typeface="Abel"/>
            </a:endParaRPr>
          </a:p>
        </p:txBody>
      </p:sp>
      <p:grpSp>
        <p:nvGrpSpPr>
          <p:cNvPr id="2683" name="Google Shape;2683;p59"/>
          <p:cNvGrpSpPr/>
          <p:nvPr/>
        </p:nvGrpSpPr>
        <p:grpSpPr>
          <a:xfrm>
            <a:off x="6799047" y="677564"/>
            <a:ext cx="482489" cy="470314"/>
            <a:chOff x="1190625" y="238125"/>
            <a:chExt cx="5238750" cy="5231525"/>
          </a:xfrm>
        </p:grpSpPr>
        <p:sp>
          <p:nvSpPr>
            <p:cNvPr id="2684" name="Google Shape;2684;p5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85" name="Google Shape;2685;p5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86" name="Google Shape;2686;p5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87" name="Google Shape;2687;p5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88" name="Google Shape;2688;p5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89" name="Google Shape;2689;p5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90" name="Google Shape;2690;p5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91" name="Google Shape;2691;p5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92" name="Google Shape;2692;p5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93" name="Google Shape;2693;p5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694" name="Google Shape;2694;p59"/>
          <p:cNvSpPr txBox="1">
            <a:spLocks noGrp="1"/>
          </p:cNvSpPr>
          <p:nvPr>
            <p:ph type="title"/>
          </p:nvPr>
        </p:nvSpPr>
        <p:spPr>
          <a:xfrm>
            <a:off x="1275450" y="348176"/>
            <a:ext cx="4809600" cy="10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t>Output Results / Performance Metrics </a:t>
            </a:r>
            <a:endParaRPr sz="3200"/>
          </a:p>
        </p:txBody>
      </p:sp>
      <p:sp>
        <p:nvSpPr>
          <p:cNvPr id="2695" name="Google Shape;2695;p59"/>
          <p:cNvSpPr txBox="1">
            <a:spLocks noGrp="1"/>
          </p:cNvSpPr>
          <p:nvPr>
            <p:ph type="subTitle" idx="1"/>
          </p:nvPr>
        </p:nvSpPr>
        <p:spPr>
          <a:xfrm>
            <a:off x="968225" y="1423475"/>
            <a:ext cx="6832800" cy="335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000000"/>
                </a:solidFill>
                <a:latin typeface="Arial"/>
                <a:ea typeface="Arial"/>
                <a:cs typeface="Arial"/>
                <a:sym typeface="Arial"/>
              </a:rPr>
              <a:t>RMSE (Root Mean Squared Error):</a:t>
            </a:r>
            <a:r>
              <a:rPr lang="en" sz="1100">
                <a:solidFill>
                  <a:srgbClr val="000000"/>
                </a:solidFill>
                <a:latin typeface="Arial"/>
                <a:ea typeface="Arial"/>
                <a:cs typeface="Arial"/>
                <a:sym typeface="Arial"/>
              </a:rPr>
              <a:t> Measures the average magnitude of errors. </a:t>
            </a:r>
            <a:r>
              <a:rPr lang="en" sz="1100" b="1">
                <a:solidFill>
                  <a:schemeClr val="accent1"/>
                </a:solidFill>
                <a:latin typeface="Arial"/>
                <a:ea typeface="Arial"/>
                <a:cs typeface="Arial"/>
                <a:sym typeface="Arial"/>
              </a:rPr>
              <a:t>Result</a:t>
            </a:r>
            <a:r>
              <a:rPr lang="en" sz="1100">
                <a:solidFill>
                  <a:schemeClr val="accent1"/>
                </a:solidFill>
                <a:latin typeface="Arial"/>
                <a:ea typeface="Arial"/>
                <a:cs typeface="Arial"/>
                <a:sym typeface="Arial"/>
              </a:rPr>
              <a:t>: 0.0944</a:t>
            </a:r>
            <a:endParaRPr sz="1100">
              <a:solidFill>
                <a:schemeClr val="accent1"/>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b="1">
                <a:solidFill>
                  <a:srgbClr val="000000"/>
                </a:solidFill>
                <a:latin typeface="Arial"/>
                <a:ea typeface="Arial"/>
                <a:cs typeface="Arial"/>
                <a:sym typeface="Arial"/>
              </a:rPr>
              <a:t>NRMSE (Normalized Root Mean Squared Error)</a:t>
            </a:r>
            <a:r>
              <a:rPr lang="en" sz="1100">
                <a:solidFill>
                  <a:srgbClr val="000000"/>
                </a:solidFill>
                <a:latin typeface="Arial"/>
                <a:ea typeface="Arial"/>
                <a:cs typeface="Arial"/>
                <a:sym typeface="Arial"/>
              </a:rPr>
              <a:t>: RMSE normalized by the range or mean of actual values.  </a:t>
            </a:r>
            <a:r>
              <a:rPr lang="en" sz="1100" b="1">
                <a:solidFill>
                  <a:schemeClr val="accent1"/>
                </a:solidFill>
                <a:latin typeface="Arial"/>
                <a:ea typeface="Arial"/>
                <a:cs typeface="Arial"/>
                <a:sym typeface="Arial"/>
              </a:rPr>
              <a:t>Result</a:t>
            </a:r>
            <a:r>
              <a:rPr lang="en" sz="1100">
                <a:solidFill>
                  <a:schemeClr val="accent1"/>
                </a:solidFill>
                <a:latin typeface="Arial"/>
                <a:ea typeface="Arial"/>
                <a:cs typeface="Arial"/>
                <a:sym typeface="Arial"/>
              </a:rPr>
              <a:t>: 0.1218</a:t>
            </a:r>
            <a:endParaRPr sz="1100">
              <a:solidFill>
                <a:schemeClr val="accent1"/>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b="1">
                <a:solidFill>
                  <a:srgbClr val="000000"/>
                </a:solidFill>
                <a:latin typeface="Arial"/>
                <a:ea typeface="Arial"/>
                <a:cs typeface="Arial"/>
                <a:sym typeface="Arial"/>
              </a:rPr>
              <a:t>MAPE (Mean Absolute Percentage Error)</a:t>
            </a:r>
            <a:r>
              <a:rPr lang="en" sz="1100">
                <a:solidFill>
                  <a:srgbClr val="000000"/>
                </a:solidFill>
                <a:latin typeface="Arial"/>
                <a:ea typeface="Arial"/>
                <a:cs typeface="Arial"/>
                <a:sym typeface="Arial"/>
              </a:rPr>
              <a:t>: Measures the average percentage errors. </a:t>
            </a:r>
            <a:r>
              <a:rPr lang="en" sz="1100" b="1">
                <a:solidFill>
                  <a:schemeClr val="accent1"/>
                </a:solidFill>
                <a:latin typeface="Arial"/>
                <a:ea typeface="Arial"/>
                <a:cs typeface="Arial"/>
                <a:sym typeface="Arial"/>
              </a:rPr>
              <a:t>Result</a:t>
            </a:r>
            <a:r>
              <a:rPr lang="en" sz="1100">
                <a:solidFill>
                  <a:schemeClr val="accent1"/>
                </a:solidFill>
                <a:latin typeface="Arial"/>
                <a:ea typeface="Arial"/>
                <a:cs typeface="Arial"/>
                <a:sym typeface="Arial"/>
              </a:rPr>
              <a:t>: 17.85%</a:t>
            </a:r>
            <a:endParaRPr sz="1100">
              <a:solidFill>
                <a:schemeClr val="accent1"/>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b="1">
                <a:solidFill>
                  <a:srgbClr val="000000"/>
                </a:solidFill>
                <a:latin typeface="Arial"/>
                <a:ea typeface="Arial"/>
                <a:cs typeface="Arial"/>
                <a:sym typeface="Arial"/>
              </a:rPr>
              <a:t>R² Score (Coefficient of Determination)</a:t>
            </a:r>
            <a:r>
              <a:rPr lang="en" sz="1100">
                <a:solidFill>
                  <a:srgbClr val="000000"/>
                </a:solidFill>
                <a:latin typeface="Arial"/>
                <a:ea typeface="Arial"/>
                <a:cs typeface="Arial"/>
                <a:sym typeface="Arial"/>
              </a:rPr>
              <a:t>: Indicates the proportion of the variance in the dependent variable that is predictable. </a:t>
            </a:r>
            <a:r>
              <a:rPr lang="en" sz="1100" b="1">
                <a:solidFill>
                  <a:schemeClr val="accent1"/>
                </a:solidFill>
                <a:latin typeface="Arial"/>
                <a:ea typeface="Arial"/>
                <a:cs typeface="Arial"/>
                <a:sym typeface="Arial"/>
              </a:rPr>
              <a:t>Result</a:t>
            </a:r>
            <a:r>
              <a:rPr lang="en" sz="1100">
                <a:solidFill>
                  <a:schemeClr val="accent1"/>
                </a:solidFill>
                <a:latin typeface="Arial"/>
                <a:ea typeface="Arial"/>
                <a:cs typeface="Arial"/>
                <a:sym typeface="Arial"/>
              </a:rPr>
              <a:t>: 0.4721</a:t>
            </a:r>
            <a:endParaRPr sz="1100">
              <a:solidFill>
                <a:schemeClr val="accent1"/>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p:txBody>
      </p:sp>
      <p:pic>
        <p:nvPicPr>
          <p:cNvPr id="2696" name="Google Shape;2696;p59"/>
          <p:cNvPicPr preferRelativeResize="0"/>
          <p:nvPr/>
        </p:nvPicPr>
        <p:blipFill>
          <a:blip r:embed="rId3">
            <a:alphaModFix/>
          </a:blip>
          <a:stretch>
            <a:fillRect/>
          </a:stretch>
        </p:blipFill>
        <p:spPr>
          <a:xfrm>
            <a:off x="1033420" y="1829470"/>
            <a:ext cx="3509625" cy="819500"/>
          </a:xfrm>
          <a:prstGeom prst="rect">
            <a:avLst/>
          </a:prstGeom>
          <a:noFill/>
          <a:ln>
            <a:noFill/>
          </a:ln>
        </p:spPr>
      </p:pic>
      <p:pic>
        <p:nvPicPr>
          <p:cNvPr id="2697" name="Google Shape;2697;p59"/>
          <p:cNvPicPr preferRelativeResize="0"/>
          <p:nvPr/>
        </p:nvPicPr>
        <p:blipFill>
          <a:blip r:embed="rId4">
            <a:alphaModFix/>
          </a:blip>
          <a:stretch>
            <a:fillRect/>
          </a:stretch>
        </p:blipFill>
        <p:spPr>
          <a:xfrm>
            <a:off x="1033425" y="3691050"/>
            <a:ext cx="3509625" cy="819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1"/>
        <p:cNvGrpSpPr/>
        <p:nvPr/>
      </p:nvGrpSpPr>
      <p:grpSpPr>
        <a:xfrm>
          <a:off x="0" y="0"/>
          <a:ext cx="0" cy="0"/>
          <a:chOff x="0" y="0"/>
          <a:chExt cx="0" cy="0"/>
        </a:xfrm>
      </p:grpSpPr>
      <p:sp>
        <p:nvSpPr>
          <p:cNvPr id="2702" name="Google Shape;2702;p60"/>
          <p:cNvSpPr txBox="1">
            <a:spLocks noGrp="1"/>
          </p:cNvSpPr>
          <p:nvPr>
            <p:ph type="body" idx="2"/>
          </p:nvPr>
        </p:nvSpPr>
        <p:spPr>
          <a:xfrm>
            <a:off x="904725" y="863400"/>
            <a:ext cx="7449000" cy="400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latin typeface="Barlow Semi Condensed Medium"/>
                <a:ea typeface="Barlow Semi Condensed Medium"/>
                <a:cs typeface="Barlow Semi Condensed Medium"/>
                <a:sym typeface="Barlow Semi Condensed Medium"/>
              </a:rPr>
              <a:t>[1] </a:t>
            </a:r>
            <a:r>
              <a:rPr lang="en" sz="1400" u="sng">
                <a:solidFill>
                  <a:schemeClr val="hlink"/>
                </a:solidFill>
                <a:latin typeface="Barlow Semi Condensed Medium"/>
                <a:ea typeface="Barlow Semi Condensed Medium"/>
                <a:cs typeface="Barlow Semi Condensed Medium"/>
                <a:sym typeface="Barlow Semi Condensed Medium"/>
                <a:hlinkClick r:id="rId3"/>
              </a:rPr>
              <a:t>https://www.ibm.com/topics/monte-carlo-simulation</a:t>
            </a:r>
            <a:r>
              <a:rPr lang="en" sz="1400">
                <a:latin typeface="Barlow Semi Condensed Medium"/>
                <a:ea typeface="Barlow Semi Condensed Medium"/>
                <a:cs typeface="Barlow Semi Condensed Medium"/>
                <a:sym typeface="Barlow Semi Condensed Medium"/>
              </a:rPr>
              <a:t> </a:t>
            </a:r>
            <a:endParaRPr sz="1400">
              <a:latin typeface="Barlow Semi Condensed Medium"/>
              <a:ea typeface="Barlow Semi Condensed Medium"/>
              <a:cs typeface="Barlow Semi Condensed Medium"/>
              <a:sym typeface="Barlow Semi Condensed Medium"/>
            </a:endParaRPr>
          </a:p>
          <a:p>
            <a:pPr marL="0" lvl="0" indent="0" algn="l" rtl="0">
              <a:spcBef>
                <a:spcPts val="0"/>
              </a:spcBef>
              <a:spcAft>
                <a:spcPts val="0"/>
              </a:spcAft>
              <a:buNone/>
            </a:pPr>
            <a:r>
              <a:rPr lang="en" sz="1400">
                <a:latin typeface="Barlow Semi Condensed Medium"/>
                <a:ea typeface="Barlow Semi Condensed Medium"/>
                <a:cs typeface="Barlow Semi Condensed Medium"/>
                <a:sym typeface="Barlow Semi Condensed Medium"/>
              </a:rPr>
              <a:t>[2] </a:t>
            </a:r>
            <a:r>
              <a:rPr lang="en" sz="1400" u="sng">
                <a:solidFill>
                  <a:schemeClr val="hlink"/>
                </a:solidFill>
                <a:latin typeface="Barlow Semi Condensed Medium"/>
                <a:ea typeface="Barlow Semi Condensed Medium"/>
                <a:cs typeface="Barlow Semi Condensed Medium"/>
                <a:sym typeface="Barlow Semi Condensed Medium"/>
                <a:hlinkClick r:id="rId4"/>
              </a:rPr>
              <a:t>https://www.oxfordreference.com/display/10.1093/oi/authority.20110803095417605</a:t>
            </a:r>
            <a:r>
              <a:rPr lang="en" sz="1400">
                <a:latin typeface="Barlow Semi Condensed Medium"/>
                <a:ea typeface="Barlow Semi Condensed Medium"/>
                <a:cs typeface="Barlow Semi Condensed Medium"/>
                <a:sym typeface="Barlow Semi Condensed Medium"/>
              </a:rPr>
              <a:t> </a:t>
            </a:r>
            <a:endParaRPr sz="1400">
              <a:latin typeface="Barlow Semi Condensed Medium"/>
              <a:ea typeface="Barlow Semi Condensed Medium"/>
              <a:cs typeface="Barlow Semi Condensed Medium"/>
              <a:sym typeface="Barlow Semi Condensed Medium"/>
            </a:endParaRPr>
          </a:p>
          <a:p>
            <a:pPr marL="0" lvl="0" indent="0" algn="l" rtl="0">
              <a:spcBef>
                <a:spcPts val="0"/>
              </a:spcBef>
              <a:spcAft>
                <a:spcPts val="0"/>
              </a:spcAft>
              <a:buNone/>
            </a:pPr>
            <a:r>
              <a:rPr lang="en" sz="1400">
                <a:latin typeface="Barlow Semi Condensed Medium"/>
                <a:ea typeface="Barlow Semi Condensed Medium"/>
                <a:cs typeface="Barlow Semi Condensed Medium"/>
                <a:sym typeface="Barlow Semi Condensed Medium"/>
              </a:rPr>
              <a:t>[3] </a:t>
            </a:r>
            <a:r>
              <a:rPr lang="en" sz="1400" u="sng">
                <a:solidFill>
                  <a:schemeClr val="hlink"/>
                </a:solidFill>
                <a:latin typeface="Barlow Semi Condensed Medium"/>
                <a:ea typeface="Barlow Semi Condensed Medium"/>
                <a:cs typeface="Barlow Semi Condensed Medium"/>
                <a:sym typeface="Barlow Semi Condensed Medium"/>
                <a:hlinkClick r:id="rId5"/>
              </a:rPr>
              <a:t>https://www.simplilearn.com/tutorials/artificial-intelligence-tutorial/lstm#:~:text=LSTMs%20Long%20Short%2DTerm%20Memory,series%2C%20text%2C%20and%20speech</a:t>
            </a:r>
            <a:r>
              <a:rPr lang="en" sz="1400">
                <a:latin typeface="Barlow Semi Condensed Medium"/>
                <a:ea typeface="Barlow Semi Condensed Medium"/>
                <a:cs typeface="Barlow Semi Condensed Medium"/>
                <a:sym typeface="Barlow Semi Condensed Medium"/>
              </a:rPr>
              <a:t>. </a:t>
            </a:r>
            <a:endParaRPr sz="1400">
              <a:latin typeface="Barlow Semi Condensed Medium"/>
              <a:ea typeface="Barlow Semi Condensed Medium"/>
              <a:cs typeface="Barlow Semi Condensed Medium"/>
              <a:sym typeface="Barlow Semi Condensed Medium"/>
            </a:endParaRPr>
          </a:p>
          <a:p>
            <a:pPr marL="0" lvl="0" indent="0" algn="l" rtl="0">
              <a:spcBef>
                <a:spcPts val="0"/>
              </a:spcBef>
              <a:spcAft>
                <a:spcPts val="0"/>
              </a:spcAft>
              <a:buNone/>
            </a:pPr>
            <a:r>
              <a:rPr lang="en" sz="1400">
                <a:latin typeface="Barlow Semi Condensed Medium"/>
                <a:ea typeface="Barlow Semi Condensed Medium"/>
                <a:cs typeface="Barlow Semi Condensed Medium"/>
                <a:sym typeface="Barlow Semi Condensed Medium"/>
              </a:rPr>
              <a:t>[4] </a:t>
            </a:r>
            <a:r>
              <a:rPr lang="en" sz="1400" u="sng">
                <a:solidFill>
                  <a:schemeClr val="hlink"/>
                </a:solidFill>
                <a:latin typeface="Barlow Semi Condensed Medium"/>
                <a:ea typeface="Barlow Semi Condensed Medium"/>
                <a:cs typeface="Barlow Semi Condensed Medium"/>
                <a:sym typeface="Barlow Semi Condensed Medium"/>
                <a:hlinkClick r:id="rId6"/>
              </a:rPr>
              <a:t>https://www.analyticsvidhya.com/blog/2021/10/machine-learning-for-stock-market-prediction-with-step-by-step-implementation/</a:t>
            </a:r>
            <a:r>
              <a:rPr lang="en" sz="1400">
                <a:latin typeface="Barlow Semi Condensed Medium"/>
                <a:ea typeface="Barlow Semi Condensed Medium"/>
                <a:cs typeface="Barlow Semi Condensed Medium"/>
                <a:sym typeface="Barlow Semi Condensed Medium"/>
              </a:rPr>
              <a:t> </a:t>
            </a:r>
            <a:endParaRPr sz="1400">
              <a:latin typeface="Barlow Semi Condensed Medium"/>
              <a:ea typeface="Barlow Semi Condensed Medium"/>
              <a:cs typeface="Barlow Semi Condensed Medium"/>
              <a:sym typeface="Barlow Semi Condensed Medium"/>
            </a:endParaRPr>
          </a:p>
        </p:txBody>
      </p:sp>
      <p:sp>
        <p:nvSpPr>
          <p:cNvPr id="2703" name="Google Shape;2703;p60"/>
          <p:cNvSpPr txBox="1">
            <a:spLocks noGrp="1"/>
          </p:cNvSpPr>
          <p:nvPr>
            <p:ph type="title"/>
          </p:nvPr>
        </p:nvSpPr>
        <p:spPr>
          <a:xfrm>
            <a:off x="2528238" y="175203"/>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References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07"/>
        <p:cNvGrpSpPr/>
        <p:nvPr/>
      </p:nvGrpSpPr>
      <p:grpSpPr>
        <a:xfrm>
          <a:off x="0" y="0"/>
          <a:ext cx="0" cy="0"/>
          <a:chOff x="0" y="0"/>
          <a:chExt cx="0" cy="0"/>
        </a:xfrm>
      </p:grpSpPr>
      <p:sp>
        <p:nvSpPr>
          <p:cNvPr id="2708" name="Google Shape;2708;p61"/>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ThankYou</a:t>
            </a:r>
            <a:endParaRPr/>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1572</Words>
  <Application>Microsoft Office PowerPoint</Application>
  <PresentationFormat>On-screen Show (16:9)</PresentationFormat>
  <Paragraphs>166</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Abel</vt:lpstr>
      <vt:lpstr>Arial</vt:lpstr>
      <vt:lpstr>Barlow Semi Condensed</vt:lpstr>
      <vt:lpstr>Barlow Semi Condensed Medium</vt:lpstr>
      <vt:lpstr>Fjalla One</vt:lpstr>
      <vt:lpstr>Roboto Condensed Light</vt:lpstr>
      <vt:lpstr>Technology Consulting by Slidesgo</vt:lpstr>
      <vt:lpstr>PowerPoint Presentation</vt:lpstr>
      <vt:lpstr>Problem &amp; Solution</vt:lpstr>
      <vt:lpstr>Problem Statement</vt:lpstr>
      <vt:lpstr>Objectives</vt:lpstr>
      <vt:lpstr>Software Requirements</vt:lpstr>
      <vt:lpstr>Monte Carlo Simulation</vt:lpstr>
      <vt:lpstr>What is Monte Carlo Simulation? </vt:lpstr>
      <vt:lpstr> </vt:lpstr>
      <vt:lpstr>Monte Carlo Example  </vt:lpstr>
      <vt:lpstr>Monte Carlo Portfolio Generation</vt:lpstr>
      <vt:lpstr>Understanding the Role of Monte Carlo Simulations</vt:lpstr>
      <vt:lpstr>VARIANCE REDUCTION TECHNIQUES</vt:lpstr>
      <vt:lpstr>What are Antithetic Variates?</vt:lpstr>
      <vt:lpstr>Antithetic Variate Example  </vt:lpstr>
      <vt:lpstr>Antithetic variates helps in variance reduction  </vt:lpstr>
      <vt:lpstr>Our Process and Solutions</vt:lpstr>
      <vt:lpstr>Our Process and Solutions </vt:lpstr>
      <vt:lpstr>Real-Time Portfolio Pricing (LSTM AND GRU)</vt:lpstr>
      <vt:lpstr>What is Bidirectional LSTM? </vt:lpstr>
      <vt:lpstr>What is Bidirectional GRU? </vt:lpstr>
      <vt:lpstr>Code Snippets </vt:lpstr>
      <vt:lpstr>Code Snippets </vt:lpstr>
      <vt:lpstr>Code Snippets </vt:lpstr>
      <vt:lpstr>PowerPoint Presentation</vt:lpstr>
      <vt:lpstr>Output Calculation</vt:lpstr>
      <vt:lpstr>Output Calculation</vt:lpstr>
      <vt:lpstr>Output Results / Performance Metrics </vt:lpstr>
      <vt:lpstr>References</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Abhishek Sinha</cp:lastModifiedBy>
  <cp:revision>2</cp:revision>
  <dcterms:modified xsi:type="dcterms:W3CDTF">2025-07-04T09:18:37Z</dcterms:modified>
</cp:coreProperties>
</file>